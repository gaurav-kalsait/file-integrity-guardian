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32"/>
  </p:notesMasterIdLst>
  <p:sldIdLst>
    <p:sldId id="256" r:id="rId2"/>
    <p:sldId id="714" r:id="rId3"/>
    <p:sldId id="723" r:id="rId4"/>
    <p:sldId id="715" r:id="rId5"/>
    <p:sldId id="674" r:id="rId6"/>
    <p:sldId id="724" r:id="rId7"/>
    <p:sldId id="717" r:id="rId8"/>
    <p:sldId id="725" r:id="rId9"/>
    <p:sldId id="726" r:id="rId10"/>
    <p:sldId id="712" r:id="rId11"/>
    <p:sldId id="676" r:id="rId12"/>
    <p:sldId id="727" r:id="rId13"/>
    <p:sldId id="729" r:id="rId14"/>
    <p:sldId id="728" r:id="rId15"/>
    <p:sldId id="730" r:id="rId16"/>
    <p:sldId id="731" r:id="rId17"/>
    <p:sldId id="732" r:id="rId18"/>
    <p:sldId id="733" r:id="rId19"/>
    <p:sldId id="734" r:id="rId20"/>
    <p:sldId id="735" r:id="rId21"/>
    <p:sldId id="713" r:id="rId22"/>
    <p:sldId id="736" r:id="rId23"/>
    <p:sldId id="737" r:id="rId24"/>
    <p:sldId id="738" r:id="rId25"/>
    <p:sldId id="739" r:id="rId26"/>
    <p:sldId id="740" r:id="rId27"/>
    <p:sldId id="741" r:id="rId28"/>
    <p:sldId id="742" r:id="rId29"/>
    <p:sldId id="743" r:id="rId30"/>
    <p:sldId id="30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1B58"/>
    <a:srgbClr val="333F50"/>
    <a:srgbClr val="8497B0"/>
    <a:srgbClr val="8FAADC"/>
    <a:srgbClr val="2F5597"/>
    <a:srgbClr val="626CC7"/>
    <a:srgbClr val="323B8D"/>
    <a:srgbClr val="21275D"/>
    <a:srgbClr val="161A3E"/>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105" d="100"/>
          <a:sy n="105" d="100"/>
        </p:scale>
        <p:origin x="696" y="114"/>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25-03-2026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26604-1110-F713-6C19-E2A3E61AA2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8911B9-E73E-0CBE-95D3-00C1C47D86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995A0B-C83F-CE6A-8353-1E168A57EB8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F31CB4B-C605-3F93-69CB-B4FAA9E1A4B5}"/>
              </a:ext>
            </a:extLst>
          </p:cNvPr>
          <p:cNvSpPr>
            <a:spLocks noGrp="1"/>
          </p:cNvSpPr>
          <p:nvPr>
            <p:ph type="sldNum" sz="quarter" idx="5"/>
          </p:nvPr>
        </p:nvSpPr>
        <p:spPr/>
        <p:txBody>
          <a:bodyPr/>
          <a:lstStyle/>
          <a:p>
            <a:fld id="{47FFB008-8E38-46F5-BCB9-8CFEF233CF3A}" type="slidenum">
              <a:rPr lang="en-IN" smtClean="0"/>
              <a:t>12</a:t>
            </a:fld>
            <a:endParaRPr lang="en-IN" dirty="0"/>
          </a:p>
        </p:txBody>
      </p:sp>
    </p:spTree>
    <p:extLst>
      <p:ext uri="{BB962C8B-B14F-4D97-AF65-F5344CB8AC3E}">
        <p14:creationId xmlns:p14="http://schemas.microsoft.com/office/powerpoint/2010/main" val="84905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E6757-DA9B-8E1C-EFA0-978D4959C6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F4213-42ED-030F-EED9-66C1AACCFE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602431-8413-4207-503E-646491CE914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77EA631-3358-C412-9DBF-580E1D4AD1D6}"/>
              </a:ext>
            </a:extLst>
          </p:cNvPr>
          <p:cNvSpPr>
            <a:spLocks noGrp="1"/>
          </p:cNvSpPr>
          <p:nvPr>
            <p:ph type="sldNum" sz="quarter" idx="5"/>
          </p:nvPr>
        </p:nvSpPr>
        <p:spPr/>
        <p:txBody>
          <a:bodyPr/>
          <a:lstStyle/>
          <a:p>
            <a:fld id="{47FFB008-8E38-46F5-BCB9-8CFEF233CF3A}" type="slidenum">
              <a:rPr lang="en-IN" smtClean="0"/>
              <a:t>13</a:t>
            </a:fld>
            <a:endParaRPr lang="en-IN" dirty="0"/>
          </a:p>
        </p:txBody>
      </p:sp>
    </p:spTree>
    <p:extLst>
      <p:ext uri="{BB962C8B-B14F-4D97-AF65-F5344CB8AC3E}">
        <p14:creationId xmlns:p14="http://schemas.microsoft.com/office/powerpoint/2010/main" val="2515991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10808-6DAC-4573-6F1B-0C78EB9E9C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43DD2-BE07-617A-7046-957DF1CA55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35B947-5540-13D3-561D-B317AA90C88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FB99183-3CCB-2D58-F0B6-4B5BA06BAAC7}"/>
              </a:ext>
            </a:extLst>
          </p:cNvPr>
          <p:cNvSpPr>
            <a:spLocks noGrp="1"/>
          </p:cNvSpPr>
          <p:nvPr>
            <p:ph type="sldNum" sz="quarter" idx="5"/>
          </p:nvPr>
        </p:nvSpPr>
        <p:spPr/>
        <p:txBody>
          <a:bodyPr/>
          <a:lstStyle/>
          <a:p>
            <a:fld id="{47FFB008-8E38-46F5-BCB9-8CFEF233CF3A}" type="slidenum">
              <a:rPr lang="en-IN" smtClean="0"/>
              <a:t>14</a:t>
            </a:fld>
            <a:endParaRPr lang="en-IN" dirty="0"/>
          </a:p>
        </p:txBody>
      </p:sp>
    </p:spTree>
    <p:extLst>
      <p:ext uri="{BB962C8B-B14F-4D97-AF65-F5344CB8AC3E}">
        <p14:creationId xmlns:p14="http://schemas.microsoft.com/office/powerpoint/2010/main" val="1333417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7CEB3-D4AD-9B38-F943-018AF28527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11416-8B9E-BED5-3F29-E44F345B54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1C41AC-27F2-7CDD-0181-FBC43BAF0AA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2FABA82-062C-25B2-F708-E9264491C12B}"/>
              </a:ext>
            </a:extLst>
          </p:cNvPr>
          <p:cNvSpPr>
            <a:spLocks noGrp="1"/>
          </p:cNvSpPr>
          <p:nvPr>
            <p:ph type="sldNum" sz="quarter" idx="5"/>
          </p:nvPr>
        </p:nvSpPr>
        <p:spPr/>
        <p:txBody>
          <a:bodyPr/>
          <a:lstStyle/>
          <a:p>
            <a:fld id="{47FFB008-8E38-46F5-BCB9-8CFEF233CF3A}" type="slidenum">
              <a:rPr lang="en-IN" smtClean="0"/>
              <a:t>15</a:t>
            </a:fld>
            <a:endParaRPr lang="en-IN" dirty="0"/>
          </a:p>
        </p:txBody>
      </p:sp>
    </p:spTree>
    <p:extLst>
      <p:ext uri="{BB962C8B-B14F-4D97-AF65-F5344CB8AC3E}">
        <p14:creationId xmlns:p14="http://schemas.microsoft.com/office/powerpoint/2010/main" val="1177196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79441-1916-A121-999E-4FC772892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E78D3D-6F53-FE12-AD6D-8EF307DDF4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16434-5DDE-94F8-C1D1-CED09F65D35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FB907C5-87A2-8A9E-9665-AD8F29B33984}"/>
              </a:ext>
            </a:extLst>
          </p:cNvPr>
          <p:cNvSpPr>
            <a:spLocks noGrp="1"/>
          </p:cNvSpPr>
          <p:nvPr>
            <p:ph type="sldNum" sz="quarter" idx="5"/>
          </p:nvPr>
        </p:nvSpPr>
        <p:spPr/>
        <p:txBody>
          <a:bodyPr/>
          <a:lstStyle/>
          <a:p>
            <a:fld id="{47FFB008-8E38-46F5-BCB9-8CFEF233CF3A}" type="slidenum">
              <a:rPr lang="en-IN" smtClean="0"/>
              <a:t>16</a:t>
            </a:fld>
            <a:endParaRPr lang="en-IN" dirty="0"/>
          </a:p>
        </p:txBody>
      </p:sp>
    </p:spTree>
    <p:extLst>
      <p:ext uri="{BB962C8B-B14F-4D97-AF65-F5344CB8AC3E}">
        <p14:creationId xmlns:p14="http://schemas.microsoft.com/office/powerpoint/2010/main" val="639890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DAB72-428D-72AF-DD8D-264C64DABB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884BC2-D5ED-6AB8-BFE9-4863A3A531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D9A20F-AB69-F1A7-D0AD-A080EBE001D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3A940B-2BDC-F477-773A-2DCA8AEB6E2C}"/>
              </a:ext>
            </a:extLst>
          </p:cNvPr>
          <p:cNvSpPr>
            <a:spLocks noGrp="1"/>
          </p:cNvSpPr>
          <p:nvPr>
            <p:ph type="sldNum" sz="quarter" idx="5"/>
          </p:nvPr>
        </p:nvSpPr>
        <p:spPr/>
        <p:txBody>
          <a:bodyPr/>
          <a:lstStyle/>
          <a:p>
            <a:fld id="{47FFB008-8E38-46F5-BCB9-8CFEF233CF3A}" type="slidenum">
              <a:rPr lang="en-IN" smtClean="0"/>
              <a:t>17</a:t>
            </a:fld>
            <a:endParaRPr lang="en-IN" dirty="0"/>
          </a:p>
        </p:txBody>
      </p:sp>
    </p:spTree>
    <p:extLst>
      <p:ext uri="{BB962C8B-B14F-4D97-AF65-F5344CB8AC3E}">
        <p14:creationId xmlns:p14="http://schemas.microsoft.com/office/powerpoint/2010/main" val="3063335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FAB78-33DB-6062-D978-09CFA5752E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668B26-8534-11A1-8325-EEB8E8146B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8033D-938D-28B3-BD3A-7AC3342C147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5459A9B-D6B8-5232-9662-0B5BF4C22DC8}"/>
              </a:ext>
            </a:extLst>
          </p:cNvPr>
          <p:cNvSpPr>
            <a:spLocks noGrp="1"/>
          </p:cNvSpPr>
          <p:nvPr>
            <p:ph type="sldNum" sz="quarter" idx="5"/>
          </p:nvPr>
        </p:nvSpPr>
        <p:spPr/>
        <p:txBody>
          <a:bodyPr/>
          <a:lstStyle/>
          <a:p>
            <a:fld id="{47FFB008-8E38-46F5-BCB9-8CFEF233CF3A}" type="slidenum">
              <a:rPr lang="en-IN" smtClean="0"/>
              <a:t>18</a:t>
            </a:fld>
            <a:endParaRPr lang="en-IN" dirty="0"/>
          </a:p>
        </p:txBody>
      </p:sp>
    </p:spTree>
    <p:extLst>
      <p:ext uri="{BB962C8B-B14F-4D97-AF65-F5344CB8AC3E}">
        <p14:creationId xmlns:p14="http://schemas.microsoft.com/office/powerpoint/2010/main" val="139875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FBCF0-511C-EA90-9349-417469BFE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9FCDD-D068-EE53-D621-B2F0FE094F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C568F-5E13-E34F-C11E-77087EFDC68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AF24628-048E-C708-FEAF-5DB500B59F81}"/>
              </a:ext>
            </a:extLst>
          </p:cNvPr>
          <p:cNvSpPr>
            <a:spLocks noGrp="1"/>
          </p:cNvSpPr>
          <p:nvPr>
            <p:ph type="sldNum" sz="quarter" idx="5"/>
          </p:nvPr>
        </p:nvSpPr>
        <p:spPr/>
        <p:txBody>
          <a:bodyPr/>
          <a:lstStyle/>
          <a:p>
            <a:fld id="{47FFB008-8E38-46F5-BCB9-8CFEF233CF3A}" type="slidenum">
              <a:rPr lang="en-IN" smtClean="0"/>
              <a:t>19</a:t>
            </a:fld>
            <a:endParaRPr lang="en-IN" dirty="0"/>
          </a:p>
        </p:txBody>
      </p:sp>
    </p:spTree>
    <p:extLst>
      <p:ext uri="{BB962C8B-B14F-4D97-AF65-F5344CB8AC3E}">
        <p14:creationId xmlns:p14="http://schemas.microsoft.com/office/powerpoint/2010/main" val="815687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A3799-C16B-2A05-E832-B1A4B845A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0501B1-B6CA-F8C5-276E-4F7FA3E1AA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01003-2B7F-573B-F21E-0836E088CF8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DACF71-827F-FEC7-2123-30C2066C72B1}"/>
              </a:ext>
            </a:extLst>
          </p:cNvPr>
          <p:cNvSpPr>
            <a:spLocks noGrp="1"/>
          </p:cNvSpPr>
          <p:nvPr>
            <p:ph type="sldNum" sz="quarter" idx="5"/>
          </p:nvPr>
        </p:nvSpPr>
        <p:spPr/>
        <p:txBody>
          <a:bodyPr/>
          <a:lstStyle/>
          <a:p>
            <a:fld id="{47FFB008-8E38-46F5-BCB9-8CFEF233CF3A}" type="slidenum">
              <a:rPr lang="en-IN" smtClean="0"/>
              <a:t>20</a:t>
            </a:fld>
            <a:endParaRPr lang="en-IN" dirty="0"/>
          </a:p>
        </p:txBody>
      </p:sp>
    </p:spTree>
    <p:extLst>
      <p:ext uri="{BB962C8B-B14F-4D97-AF65-F5344CB8AC3E}">
        <p14:creationId xmlns:p14="http://schemas.microsoft.com/office/powerpoint/2010/main" val="51496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C55CD-7ACC-B021-F587-0409E3C093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B9932-7986-6B04-8DDB-4FE3662547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2F3606-AE73-8E4F-DDAB-BFA6159478F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8D92B19-41C5-0D9A-BCB8-5585953CCFD1}"/>
              </a:ext>
            </a:extLst>
          </p:cNvPr>
          <p:cNvSpPr>
            <a:spLocks noGrp="1"/>
          </p:cNvSpPr>
          <p:nvPr>
            <p:ph type="sldNum" sz="quarter" idx="5"/>
          </p:nvPr>
        </p:nvSpPr>
        <p:spPr/>
        <p:txBody>
          <a:bodyPr/>
          <a:lstStyle/>
          <a:p>
            <a:fld id="{47FFB008-8E38-46F5-BCB9-8CFEF233CF3A}" type="slidenum">
              <a:rPr lang="en-IN" smtClean="0"/>
              <a:t>23</a:t>
            </a:fld>
            <a:endParaRPr lang="en-IN" dirty="0"/>
          </a:p>
        </p:txBody>
      </p:sp>
    </p:spTree>
    <p:extLst>
      <p:ext uri="{BB962C8B-B14F-4D97-AF65-F5344CB8AC3E}">
        <p14:creationId xmlns:p14="http://schemas.microsoft.com/office/powerpoint/2010/main" val="2837749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7CBC4-FE24-1C94-841C-A5E58FACE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B3B05-5012-EBB5-E46C-7E538C4412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BE2583-E2FC-6AAA-C783-5A1E039982F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FA22DFC-4DF2-A1EA-B210-1CE2FB58C772}"/>
              </a:ext>
            </a:extLst>
          </p:cNvPr>
          <p:cNvSpPr>
            <a:spLocks noGrp="1"/>
          </p:cNvSpPr>
          <p:nvPr>
            <p:ph type="sldNum" sz="quarter" idx="5"/>
          </p:nvPr>
        </p:nvSpPr>
        <p:spPr/>
        <p:txBody>
          <a:bodyPr/>
          <a:lstStyle/>
          <a:p>
            <a:fld id="{47FFB008-8E38-46F5-BCB9-8CFEF233CF3A}" type="slidenum">
              <a:rPr lang="en-IN" smtClean="0"/>
              <a:t>26</a:t>
            </a:fld>
            <a:endParaRPr lang="en-IN" dirty="0"/>
          </a:p>
        </p:txBody>
      </p:sp>
    </p:spTree>
    <p:extLst>
      <p:ext uri="{BB962C8B-B14F-4D97-AF65-F5344CB8AC3E}">
        <p14:creationId xmlns:p14="http://schemas.microsoft.com/office/powerpoint/2010/main" val="2819584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A89D9-7861-B7CE-85BD-46E17DA78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ABC43-055A-A68F-C10E-A34D70AE70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EAF683-06A6-E1D5-7E2A-61DA8B78BD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22B1D33-DB66-2DB2-C2FC-8D95BBBA6926}"/>
              </a:ext>
            </a:extLst>
          </p:cNvPr>
          <p:cNvSpPr>
            <a:spLocks noGrp="1"/>
          </p:cNvSpPr>
          <p:nvPr>
            <p:ph type="sldNum" sz="quarter" idx="5"/>
          </p:nvPr>
        </p:nvSpPr>
        <p:spPr/>
        <p:txBody>
          <a:bodyPr/>
          <a:lstStyle/>
          <a:p>
            <a:fld id="{47FFB008-8E38-46F5-BCB9-8CFEF233CF3A}" type="slidenum">
              <a:rPr lang="en-IN" smtClean="0"/>
              <a:t>27</a:t>
            </a:fld>
            <a:endParaRPr lang="en-IN" dirty="0"/>
          </a:p>
        </p:txBody>
      </p:sp>
    </p:spTree>
    <p:extLst>
      <p:ext uri="{BB962C8B-B14F-4D97-AF65-F5344CB8AC3E}">
        <p14:creationId xmlns:p14="http://schemas.microsoft.com/office/powerpoint/2010/main" val="13149395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A5861-D7B6-00F8-A025-8D9B4F47C4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A2ABE-2155-BA15-46BD-23B44E940A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1DC39-CA15-9FE6-F425-4A57465DFD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33EA261-44CC-E9D8-BA9D-3BF0FC75C82D}"/>
              </a:ext>
            </a:extLst>
          </p:cNvPr>
          <p:cNvSpPr>
            <a:spLocks noGrp="1"/>
          </p:cNvSpPr>
          <p:nvPr>
            <p:ph type="sldNum" sz="quarter" idx="5"/>
          </p:nvPr>
        </p:nvSpPr>
        <p:spPr/>
        <p:txBody>
          <a:bodyPr/>
          <a:lstStyle/>
          <a:p>
            <a:fld id="{47FFB008-8E38-46F5-BCB9-8CFEF233CF3A}" type="slidenum">
              <a:rPr lang="en-IN" smtClean="0"/>
              <a:t>28</a:t>
            </a:fld>
            <a:endParaRPr lang="en-IN" dirty="0"/>
          </a:p>
        </p:txBody>
      </p:sp>
    </p:spTree>
    <p:extLst>
      <p:ext uri="{BB962C8B-B14F-4D97-AF65-F5344CB8AC3E}">
        <p14:creationId xmlns:p14="http://schemas.microsoft.com/office/powerpoint/2010/main" val="37898691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B6643-7888-8136-9227-4F03FADEB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FC8DA-F18B-573D-6966-3E9EA3DF44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D28AD8-9469-1F32-FF41-FDF2C8FC97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166F27E-8BDE-3B7F-9639-A58E9C348FD1}"/>
              </a:ext>
            </a:extLst>
          </p:cNvPr>
          <p:cNvSpPr>
            <a:spLocks noGrp="1"/>
          </p:cNvSpPr>
          <p:nvPr>
            <p:ph type="sldNum" sz="quarter" idx="5"/>
          </p:nvPr>
        </p:nvSpPr>
        <p:spPr/>
        <p:txBody>
          <a:bodyPr/>
          <a:lstStyle/>
          <a:p>
            <a:fld id="{47FFB008-8E38-46F5-BCB9-8CFEF233CF3A}" type="slidenum">
              <a:rPr lang="en-IN" smtClean="0"/>
              <a:t>29</a:t>
            </a:fld>
            <a:endParaRPr lang="en-IN" dirty="0"/>
          </a:p>
        </p:txBody>
      </p:sp>
    </p:spTree>
    <p:extLst>
      <p:ext uri="{BB962C8B-B14F-4D97-AF65-F5344CB8AC3E}">
        <p14:creationId xmlns:p14="http://schemas.microsoft.com/office/powerpoint/2010/main" val="22095247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File Integrity Guardian</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914400" y="260414"/>
            <a:ext cx="10834234" cy="612775"/>
          </a:xfrm>
        </p:spPr>
        <p:txBody>
          <a:bodyPr/>
          <a:lstStyle/>
          <a:p>
            <a:r>
              <a:rPr lang="en-US" dirty="0">
                <a:solidFill>
                  <a:schemeClr val="accent1">
                    <a:lumMod val="75000"/>
                  </a:schemeClr>
                </a:solidFill>
                <a:latin typeface="Segoe UI" panose="020B0502040204020203" pitchFamily="34" charset="0"/>
                <a:cs typeface="Segoe UI" panose="020B0502040204020203" pitchFamily="34" charset="0"/>
              </a:rPr>
              <a:t>Agenda</a:t>
            </a:r>
            <a:endParaRPr lang="en-IN" dirty="0">
              <a:solidFill>
                <a:schemeClr val="accent1">
                  <a:lumMod val="75000"/>
                </a:schemeClr>
              </a:solidFill>
              <a:latin typeface="Segoe UI" panose="020B0502040204020203" pitchFamily="34" charset="0"/>
              <a:cs typeface="Segoe UI" panose="020B0502040204020203" pitchFamily="34" charset="0"/>
            </a:endParaRPr>
          </a:p>
        </p:txBody>
      </p:sp>
      <p:sp>
        <p:nvSpPr>
          <p:cNvPr id="6" name="TextBox 5">
            <a:extLst>
              <a:ext uri="{FF2B5EF4-FFF2-40B4-BE49-F238E27FC236}">
                <a16:creationId xmlns:a16="http://schemas.microsoft.com/office/drawing/2014/main" id="{30629B00-7D07-7449-A46A-C32D49DE9F8C}"/>
              </a:ext>
            </a:extLst>
          </p:cNvPr>
          <p:cNvSpPr txBox="1"/>
          <p:nvPr/>
        </p:nvSpPr>
        <p:spPr>
          <a:xfrm>
            <a:off x="914400" y="1188720"/>
            <a:ext cx="4572000" cy="365760"/>
          </a:xfrm>
          <a:prstGeom prst="rect">
            <a:avLst/>
          </a:prstGeom>
          <a:noFill/>
        </p:spPr>
        <p:txBody>
          <a:bodyPr wrap="square">
            <a:spAutoFit/>
          </a:bodyPr>
          <a:lstStyle/>
          <a:p>
            <a:pPr algn="l">
              <a:defRPr sz="1400" b="0">
                <a:solidFill>
                  <a:srgbClr val="1A1A2E"/>
                </a:solidFill>
                <a:latin typeface="Segoe UI"/>
              </a:defRPr>
            </a:pPr>
            <a:r>
              <a:t>01  Introduction &amp; Abstract</a:t>
            </a:r>
          </a:p>
        </p:txBody>
      </p:sp>
      <p:sp>
        <p:nvSpPr>
          <p:cNvPr id="7" name="TextBox 6">
            <a:extLst>
              <a:ext uri="{FF2B5EF4-FFF2-40B4-BE49-F238E27FC236}">
                <a16:creationId xmlns:a16="http://schemas.microsoft.com/office/drawing/2014/main" id="{56C34151-3694-9DEA-C144-378E2823BCEF}"/>
              </a:ext>
            </a:extLst>
          </p:cNvPr>
          <p:cNvSpPr txBox="1"/>
          <p:nvPr/>
        </p:nvSpPr>
        <p:spPr>
          <a:xfrm>
            <a:off x="914400" y="1572768"/>
            <a:ext cx="4572000" cy="365760"/>
          </a:xfrm>
          <a:prstGeom prst="rect">
            <a:avLst/>
          </a:prstGeom>
          <a:noFill/>
        </p:spPr>
        <p:txBody>
          <a:bodyPr wrap="square">
            <a:spAutoFit/>
          </a:bodyPr>
          <a:lstStyle/>
          <a:p>
            <a:pPr algn="l">
              <a:defRPr sz="1400" b="0">
                <a:solidFill>
                  <a:srgbClr val="555E70"/>
                </a:solidFill>
                <a:latin typeface="Segoe UI"/>
              </a:defRPr>
            </a:pPr>
            <a:r>
              <a:t>02  Problem Statement</a:t>
            </a:r>
          </a:p>
        </p:txBody>
      </p:sp>
      <p:sp>
        <p:nvSpPr>
          <p:cNvPr id="8" name="TextBox 7">
            <a:extLst>
              <a:ext uri="{FF2B5EF4-FFF2-40B4-BE49-F238E27FC236}">
                <a16:creationId xmlns:a16="http://schemas.microsoft.com/office/drawing/2014/main" id="{C63F960B-1657-CE3A-09E9-B5E896A6739C}"/>
              </a:ext>
            </a:extLst>
          </p:cNvPr>
          <p:cNvSpPr txBox="1"/>
          <p:nvPr/>
        </p:nvSpPr>
        <p:spPr>
          <a:xfrm>
            <a:off x="914400" y="1956816"/>
            <a:ext cx="4572000" cy="365760"/>
          </a:xfrm>
          <a:prstGeom prst="rect">
            <a:avLst/>
          </a:prstGeom>
          <a:noFill/>
        </p:spPr>
        <p:txBody>
          <a:bodyPr wrap="square">
            <a:spAutoFit/>
          </a:bodyPr>
          <a:lstStyle/>
          <a:p>
            <a:pPr algn="l">
              <a:defRPr sz="1400" b="0">
                <a:solidFill>
                  <a:srgbClr val="1A1A2E"/>
                </a:solidFill>
                <a:latin typeface="Segoe UI"/>
              </a:defRPr>
            </a:pPr>
            <a:r>
              <a:t>03  What is FIM?</a:t>
            </a:r>
          </a:p>
        </p:txBody>
      </p:sp>
      <p:sp>
        <p:nvSpPr>
          <p:cNvPr id="9" name="TextBox 8">
            <a:extLst>
              <a:ext uri="{FF2B5EF4-FFF2-40B4-BE49-F238E27FC236}">
                <a16:creationId xmlns:a16="http://schemas.microsoft.com/office/drawing/2014/main" id="{9173005A-909D-3EA2-5A02-3383419A15E7}"/>
              </a:ext>
            </a:extLst>
          </p:cNvPr>
          <p:cNvSpPr txBox="1"/>
          <p:nvPr/>
        </p:nvSpPr>
        <p:spPr>
          <a:xfrm>
            <a:off x="914400" y="2340864"/>
            <a:ext cx="4572000" cy="365760"/>
          </a:xfrm>
          <a:prstGeom prst="rect">
            <a:avLst/>
          </a:prstGeom>
          <a:noFill/>
        </p:spPr>
        <p:txBody>
          <a:bodyPr wrap="square">
            <a:spAutoFit/>
          </a:bodyPr>
          <a:lstStyle/>
          <a:p>
            <a:pPr algn="l">
              <a:defRPr sz="1400" b="0">
                <a:solidFill>
                  <a:srgbClr val="555E70"/>
                </a:solidFill>
                <a:latin typeface="Segoe UI"/>
              </a:defRPr>
            </a:pPr>
            <a:r>
              <a:t>04  Why FIM Matters</a:t>
            </a:r>
          </a:p>
        </p:txBody>
      </p:sp>
      <p:sp>
        <p:nvSpPr>
          <p:cNvPr id="10" name="TextBox 9">
            <a:extLst>
              <a:ext uri="{FF2B5EF4-FFF2-40B4-BE49-F238E27FC236}">
                <a16:creationId xmlns:a16="http://schemas.microsoft.com/office/drawing/2014/main" id="{062CF1B1-81EE-1B52-7E27-9CCCAE3821E2}"/>
              </a:ext>
            </a:extLst>
          </p:cNvPr>
          <p:cNvSpPr txBox="1"/>
          <p:nvPr/>
        </p:nvSpPr>
        <p:spPr>
          <a:xfrm>
            <a:off x="914400" y="2724912"/>
            <a:ext cx="4572000" cy="365760"/>
          </a:xfrm>
          <a:prstGeom prst="rect">
            <a:avLst/>
          </a:prstGeom>
          <a:noFill/>
        </p:spPr>
        <p:txBody>
          <a:bodyPr wrap="square">
            <a:spAutoFit/>
          </a:bodyPr>
          <a:lstStyle/>
          <a:p>
            <a:pPr algn="l">
              <a:defRPr sz="1400" b="0">
                <a:solidFill>
                  <a:srgbClr val="1A1A2E"/>
                </a:solidFill>
                <a:latin typeface="Segoe UI"/>
              </a:defRPr>
            </a:pPr>
            <a:r>
              <a:t>05  Research — Industry Tools</a:t>
            </a:r>
          </a:p>
        </p:txBody>
      </p:sp>
      <p:sp>
        <p:nvSpPr>
          <p:cNvPr id="11" name="TextBox 10">
            <a:extLst>
              <a:ext uri="{FF2B5EF4-FFF2-40B4-BE49-F238E27FC236}">
                <a16:creationId xmlns:a16="http://schemas.microsoft.com/office/drawing/2014/main" id="{C768B9D3-4155-6245-4089-C25202ECC309}"/>
              </a:ext>
            </a:extLst>
          </p:cNvPr>
          <p:cNvSpPr txBox="1"/>
          <p:nvPr/>
        </p:nvSpPr>
        <p:spPr>
          <a:xfrm>
            <a:off x="914400" y="3108960"/>
            <a:ext cx="4572000" cy="365760"/>
          </a:xfrm>
          <a:prstGeom prst="rect">
            <a:avLst/>
          </a:prstGeom>
          <a:noFill/>
        </p:spPr>
        <p:txBody>
          <a:bodyPr wrap="square">
            <a:spAutoFit/>
          </a:bodyPr>
          <a:lstStyle/>
          <a:p>
            <a:pPr algn="l">
              <a:defRPr sz="1400" b="0">
                <a:solidFill>
                  <a:srgbClr val="555E70"/>
                </a:solidFill>
                <a:latin typeface="Segoe UI"/>
              </a:defRPr>
            </a:pPr>
            <a:r>
              <a:t>06  Technology Stack</a:t>
            </a:r>
          </a:p>
        </p:txBody>
      </p:sp>
      <p:sp>
        <p:nvSpPr>
          <p:cNvPr id="12" name="TextBox 11">
            <a:extLst>
              <a:ext uri="{FF2B5EF4-FFF2-40B4-BE49-F238E27FC236}">
                <a16:creationId xmlns:a16="http://schemas.microsoft.com/office/drawing/2014/main" id="{4C18D426-A03B-7EB4-1B76-F26AABBAAA51}"/>
              </a:ext>
            </a:extLst>
          </p:cNvPr>
          <p:cNvSpPr txBox="1"/>
          <p:nvPr/>
        </p:nvSpPr>
        <p:spPr>
          <a:xfrm>
            <a:off x="914400" y="3493008"/>
            <a:ext cx="4572000" cy="365760"/>
          </a:xfrm>
          <a:prstGeom prst="rect">
            <a:avLst/>
          </a:prstGeom>
          <a:noFill/>
        </p:spPr>
        <p:txBody>
          <a:bodyPr wrap="square">
            <a:spAutoFit/>
          </a:bodyPr>
          <a:lstStyle/>
          <a:p>
            <a:pPr algn="l">
              <a:defRPr sz="1400" b="0">
                <a:solidFill>
                  <a:srgbClr val="1A1A2E"/>
                </a:solidFill>
                <a:latin typeface="Segoe UI"/>
              </a:defRPr>
            </a:pPr>
            <a:r>
              <a:t>07  Hashing Algorithms</a:t>
            </a:r>
          </a:p>
        </p:txBody>
      </p:sp>
      <p:sp>
        <p:nvSpPr>
          <p:cNvPr id="13" name="TextBox 12">
            <a:extLst>
              <a:ext uri="{FF2B5EF4-FFF2-40B4-BE49-F238E27FC236}">
                <a16:creationId xmlns:a16="http://schemas.microsoft.com/office/drawing/2014/main" id="{8C812A3D-6854-4F61-FD6E-E5B68063559B}"/>
              </a:ext>
            </a:extLst>
          </p:cNvPr>
          <p:cNvSpPr txBox="1"/>
          <p:nvPr/>
        </p:nvSpPr>
        <p:spPr>
          <a:xfrm>
            <a:off x="914400" y="3877056"/>
            <a:ext cx="4572000" cy="365760"/>
          </a:xfrm>
          <a:prstGeom prst="rect">
            <a:avLst/>
          </a:prstGeom>
          <a:noFill/>
        </p:spPr>
        <p:txBody>
          <a:bodyPr wrap="square">
            <a:spAutoFit/>
          </a:bodyPr>
          <a:lstStyle/>
          <a:p>
            <a:pPr algn="l">
              <a:defRPr sz="1400" b="0">
                <a:solidFill>
                  <a:srgbClr val="555E70"/>
                </a:solidFill>
                <a:latin typeface="Segoe UI"/>
              </a:defRPr>
            </a:pPr>
            <a:r>
              <a:t>08  SHA-256 vs MD5</a:t>
            </a:r>
          </a:p>
        </p:txBody>
      </p:sp>
      <p:sp>
        <p:nvSpPr>
          <p:cNvPr id="14" name="TextBox 13">
            <a:extLst>
              <a:ext uri="{FF2B5EF4-FFF2-40B4-BE49-F238E27FC236}">
                <a16:creationId xmlns:a16="http://schemas.microsoft.com/office/drawing/2014/main" id="{3E3946AB-247F-0A9C-1588-600EE1EFC269}"/>
              </a:ext>
            </a:extLst>
          </p:cNvPr>
          <p:cNvSpPr txBox="1"/>
          <p:nvPr/>
        </p:nvSpPr>
        <p:spPr>
          <a:xfrm>
            <a:off x="914400" y="4261104"/>
            <a:ext cx="4572000" cy="365760"/>
          </a:xfrm>
          <a:prstGeom prst="rect">
            <a:avLst/>
          </a:prstGeom>
          <a:noFill/>
        </p:spPr>
        <p:txBody>
          <a:bodyPr wrap="square">
            <a:spAutoFit/>
          </a:bodyPr>
          <a:lstStyle/>
          <a:p>
            <a:pPr algn="l">
              <a:defRPr sz="1400" b="0">
                <a:solidFill>
                  <a:srgbClr val="1A1A2E"/>
                </a:solidFill>
                <a:latin typeface="Segoe UI"/>
              </a:defRPr>
            </a:pPr>
            <a:r>
              <a:t>09  Impact Analysis</a:t>
            </a:r>
          </a:p>
        </p:txBody>
      </p:sp>
      <p:sp>
        <p:nvSpPr>
          <p:cNvPr id="15" name="TextBox 14">
            <a:extLst>
              <a:ext uri="{FF2B5EF4-FFF2-40B4-BE49-F238E27FC236}">
                <a16:creationId xmlns:a16="http://schemas.microsoft.com/office/drawing/2014/main" id="{E8AC2097-187C-7B2F-F534-13B289750746}"/>
              </a:ext>
            </a:extLst>
          </p:cNvPr>
          <p:cNvSpPr txBox="1"/>
          <p:nvPr/>
        </p:nvSpPr>
        <p:spPr>
          <a:xfrm>
            <a:off x="914400" y="4645152"/>
            <a:ext cx="4572000" cy="365760"/>
          </a:xfrm>
          <a:prstGeom prst="rect">
            <a:avLst/>
          </a:prstGeom>
          <a:noFill/>
        </p:spPr>
        <p:txBody>
          <a:bodyPr wrap="square">
            <a:spAutoFit/>
          </a:bodyPr>
          <a:lstStyle/>
          <a:p>
            <a:pPr algn="l">
              <a:defRPr sz="1400" b="0">
                <a:solidFill>
                  <a:srgbClr val="555E70"/>
                </a:solidFill>
                <a:latin typeface="Segoe UI"/>
              </a:defRPr>
            </a:pPr>
            <a:r>
              <a:t>10  Business Impact</a:t>
            </a:r>
          </a:p>
        </p:txBody>
      </p:sp>
      <p:sp>
        <p:nvSpPr>
          <p:cNvPr id="16" name="TextBox 15">
            <a:extLst>
              <a:ext uri="{FF2B5EF4-FFF2-40B4-BE49-F238E27FC236}">
                <a16:creationId xmlns:a16="http://schemas.microsoft.com/office/drawing/2014/main" id="{B6DE2167-AC54-24CC-A48F-79633767E4C2}"/>
              </a:ext>
            </a:extLst>
          </p:cNvPr>
          <p:cNvSpPr txBox="1"/>
          <p:nvPr/>
        </p:nvSpPr>
        <p:spPr>
          <a:xfrm>
            <a:off x="914400" y="5029200"/>
            <a:ext cx="4572000" cy="365760"/>
          </a:xfrm>
          <a:prstGeom prst="rect">
            <a:avLst/>
          </a:prstGeom>
          <a:noFill/>
        </p:spPr>
        <p:txBody>
          <a:bodyPr wrap="square">
            <a:spAutoFit/>
          </a:bodyPr>
          <a:lstStyle/>
          <a:p>
            <a:pPr algn="l">
              <a:defRPr sz="1400" b="0">
                <a:solidFill>
                  <a:srgbClr val="1A1A2E"/>
                </a:solidFill>
                <a:latin typeface="Segoe UI"/>
              </a:defRPr>
            </a:pPr>
            <a:r>
              <a:t>11  System Architecture</a:t>
            </a:r>
          </a:p>
        </p:txBody>
      </p:sp>
      <p:sp>
        <p:nvSpPr>
          <p:cNvPr id="17" name="TextBox 16">
            <a:extLst>
              <a:ext uri="{FF2B5EF4-FFF2-40B4-BE49-F238E27FC236}">
                <a16:creationId xmlns:a16="http://schemas.microsoft.com/office/drawing/2014/main" id="{CF1412E6-7676-80DD-E6E8-26EC3E8B0E2B}"/>
              </a:ext>
            </a:extLst>
          </p:cNvPr>
          <p:cNvSpPr txBox="1"/>
          <p:nvPr/>
        </p:nvSpPr>
        <p:spPr>
          <a:xfrm>
            <a:off x="6400800" y="1188720"/>
            <a:ext cx="4572000" cy="365760"/>
          </a:xfrm>
          <a:prstGeom prst="rect">
            <a:avLst/>
          </a:prstGeom>
          <a:noFill/>
        </p:spPr>
        <p:txBody>
          <a:bodyPr wrap="square">
            <a:spAutoFit/>
          </a:bodyPr>
          <a:lstStyle/>
          <a:p>
            <a:pPr algn="l">
              <a:defRPr sz="1400" b="0">
                <a:solidFill>
                  <a:srgbClr val="1A1A2E"/>
                </a:solidFill>
                <a:latin typeface="Segoe UI"/>
              </a:defRPr>
            </a:pPr>
            <a:r>
              <a:t>12  Data Flow Diagram</a:t>
            </a:r>
          </a:p>
        </p:txBody>
      </p:sp>
      <p:sp>
        <p:nvSpPr>
          <p:cNvPr id="18" name="TextBox 17">
            <a:extLst>
              <a:ext uri="{FF2B5EF4-FFF2-40B4-BE49-F238E27FC236}">
                <a16:creationId xmlns:a16="http://schemas.microsoft.com/office/drawing/2014/main" id="{854D87AF-FE63-1149-E442-EC5FB1641109}"/>
              </a:ext>
            </a:extLst>
          </p:cNvPr>
          <p:cNvSpPr txBox="1"/>
          <p:nvPr/>
        </p:nvSpPr>
        <p:spPr>
          <a:xfrm>
            <a:off x="6400800" y="1572768"/>
            <a:ext cx="4572000" cy="365760"/>
          </a:xfrm>
          <a:prstGeom prst="rect">
            <a:avLst/>
          </a:prstGeom>
          <a:noFill/>
        </p:spPr>
        <p:txBody>
          <a:bodyPr wrap="square">
            <a:spAutoFit/>
          </a:bodyPr>
          <a:lstStyle/>
          <a:p>
            <a:pPr algn="l">
              <a:defRPr sz="1400" b="0">
                <a:solidFill>
                  <a:srgbClr val="555E70"/>
                </a:solidFill>
                <a:latin typeface="Segoe UI"/>
              </a:defRPr>
            </a:pPr>
            <a:r>
              <a:t>13  Python Backend</a:t>
            </a:r>
          </a:p>
        </p:txBody>
      </p:sp>
      <p:sp>
        <p:nvSpPr>
          <p:cNvPr id="19" name="TextBox 18">
            <a:extLst>
              <a:ext uri="{FF2B5EF4-FFF2-40B4-BE49-F238E27FC236}">
                <a16:creationId xmlns:a16="http://schemas.microsoft.com/office/drawing/2014/main" id="{E7A9FE9B-1D3A-3121-44A1-AFD3CA65DC0A}"/>
              </a:ext>
            </a:extLst>
          </p:cNvPr>
          <p:cNvSpPr txBox="1"/>
          <p:nvPr/>
        </p:nvSpPr>
        <p:spPr>
          <a:xfrm>
            <a:off x="6400800" y="1956816"/>
            <a:ext cx="4572000" cy="365760"/>
          </a:xfrm>
          <a:prstGeom prst="rect">
            <a:avLst/>
          </a:prstGeom>
          <a:noFill/>
        </p:spPr>
        <p:txBody>
          <a:bodyPr wrap="square">
            <a:spAutoFit/>
          </a:bodyPr>
          <a:lstStyle/>
          <a:p>
            <a:pPr algn="l">
              <a:defRPr sz="1400" b="0">
                <a:solidFill>
                  <a:srgbClr val="1A1A2E"/>
                </a:solidFill>
                <a:latin typeface="Segoe UI"/>
              </a:defRPr>
            </a:pPr>
            <a:r>
              <a:t>14  React Frontend</a:t>
            </a:r>
          </a:p>
        </p:txBody>
      </p:sp>
      <p:sp>
        <p:nvSpPr>
          <p:cNvPr id="20" name="TextBox 19">
            <a:extLst>
              <a:ext uri="{FF2B5EF4-FFF2-40B4-BE49-F238E27FC236}">
                <a16:creationId xmlns:a16="http://schemas.microsoft.com/office/drawing/2014/main" id="{0E5045F3-9626-6AF1-161A-99045C736DC3}"/>
              </a:ext>
            </a:extLst>
          </p:cNvPr>
          <p:cNvSpPr txBox="1"/>
          <p:nvPr/>
        </p:nvSpPr>
        <p:spPr>
          <a:xfrm>
            <a:off x="6400800" y="2340864"/>
            <a:ext cx="4572000" cy="365760"/>
          </a:xfrm>
          <a:prstGeom prst="rect">
            <a:avLst/>
          </a:prstGeom>
          <a:noFill/>
        </p:spPr>
        <p:txBody>
          <a:bodyPr wrap="square">
            <a:spAutoFit/>
          </a:bodyPr>
          <a:lstStyle/>
          <a:p>
            <a:pPr algn="l">
              <a:defRPr sz="1400" b="0">
                <a:solidFill>
                  <a:srgbClr val="555E70"/>
                </a:solidFill>
                <a:latin typeface="Segoe UI"/>
              </a:defRPr>
            </a:pPr>
            <a:r>
              <a:t>15  API Endpoints</a:t>
            </a:r>
          </a:p>
        </p:txBody>
      </p:sp>
      <p:sp>
        <p:nvSpPr>
          <p:cNvPr id="21" name="TextBox 20">
            <a:extLst>
              <a:ext uri="{FF2B5EF4-FFF2-40B4-BE49-F238E27FC236}">
                <a16:creationId xmlns:a16="http://schemas.microsoft.com/office/drawing/2014/main" id="{6955750C-26FD-4DF4-E936-A6D38054E40D}"/>
              </a:ext>
            </a:extLst>
          </p:cNvPr>
          <p:cNvSpPr txBox="1"/>
          <p:nvPr/>
        </p:nvSpPr>
        <p:spPr>
          <a:xfrm>
            <a:off x="6400800" y="2724912"/>
            <a:ext cx="4572000" cy="365760"/>
          </a:xfrm>
          <a:prstGeom prst="rect">
            <a:avLst/>
          </a:prstGeom>
          <a:noFill/>
        </p:spPr>
        <p:txBody>
          <a:bodyPr wrap="square">
            <a:spAutoFit/>
          </a:bodyPr>
          <a:lstStyle/>
          <a:p>
            <a:pPr algn="l">
              <a:defRPr sz="1400" b="0">
                <a:solidFill>
                  <a:srgbClr val="1A1A2E"/>
                </a:solidFill>
                <a:latin typeface="Segoe UI"/>
              </a:defRPr>
            </a:pPr>
            <a:r>
              <a:t>16-22  Tool Demo + Screenshots</a:t>
            </a:r>
          </a:p>
        </p:txBody>
      </p:sp>
      <p:sp>
        <p:nvSpPr>
          <p:cNvPr id="22" name="TextBox 21">
            <a:extLst>
              <a:ext uri="{FF2B5EF4-FFF2-40B4-BE49-F238E27FC236}">
                <a16:creationId xmlns:a16="http://schemas.microsoft.com/office/drawing/2014/main" id="{3A7F38FF-D693-67A8-9A05-6AA5E941D01C}"/>
              </a:ext>
            </a:extLst>
          </p:cNvPr>
          <p:cNvSpPr txBox="1"/>
          <p:nvPr/>
        </p:nvSpPr>
        <p:spPr>
          <a:xfrm>
            <a:off x="6400800" y="3108960"/>
            <a:ext cx="4572000" cy="365760"/>
          </a:xfrm>
          <a:prstGeom prst="rect">
            <a:avLst/>
          </a:prstGeom>
          <a:noFill/>
        </p:spPr>
        <p:txBody>
          <a:bodyPr wrap="square">
            <a:spAutoFit/>
          </a:bodyPr>
          <a:lstStyle/>
          <a:p>
            <a:pPr algn="l">
              <a:defRPr sz="1400" b="0">
                <a:solidFill>
                  <a:srgbClr val="555E70"/>
                </a:solidFill>
                <a:latin typeface="Segoe UI"/>
              </a:defRPr>
            </a:pPr>
            <a:r>
              <a:t>23-25  Security Recommendations</a:t>
            </a:r>
          </a:p>
        </p:txBody>
      </p:sp>
      <p:sp>
        <p:nvSpPr>
          <p:cNvPr id="23" name="TextBox 22">
            <a:extLst>
              <a:ext uri="{FF2B5EF4-FFF2-40B4-BE49-F238E27FC236}">
                <a16:creationId xmlns:a16="http://schemas.microsoft.com/office/drawing/2014/main" id="{DD5258F2-1C59-3319-EC1D-B6DE645D038E}"/>
              </a:ext>
            </a:extLst>
          </p:cNvPr>
          <p:cNvSpPr txBox="1"/>
          <p:nvPr/>
        </p:nvSpPr>
        <p:spPr>
          <a:xfrm>
            <a:off x="6400800" y="3493008"/>
            <a:ext cx="4572000" cy="365760"/>
          </a:xfrm>
          <a:prstGeom prst="rect">
            <a:avLst/>
          </a:prstGeom>
          <a:noFill/>
        </p:spPr>
        <p:txBody>
          <a:bodyPr wrap="square">
            <a:spAutoFit/>
          </a:bodyPr>
          <a:lstStyle/>
          <a:p>
            <a:pPr algn="l">
              <a:defRPr sz="1400" b="0">
                <a:solidFill>
                  <a:srgbClr val="1A1A2E"/>
                </a:solidFill>
                <a:latin typeface="Segoe UI"/>
              </a:defRPr>
            </a:pPr>
            <a:r>
              <a:t>26  Proof of Concept</a:t>
            </a:r>
          </a:p>
        </p:txBody>
      </p:sp>
      <p:sp>
        <p:nvSpPr>
          <p:cNvPr id="24" name="TextBox 23">
            <a:extLst>
              <a:ext uri="{FF2B5EF4-FFF2-40B4-BE49-F238E27FC236}">
                <a16:creationId xmlns:a16="http://schemas.microsoft.com/office/drawing/2014/main" id="{72197001-7DAB-05F0-639E-7CC23CA33C64}"/>
              </a:ext>
            </a:extLst>
          </p:cNvPr>
          <p:cNvSpPr txBox="1"/>
          <p:nvPr/>
        </p:nvSpPr>
        <p:spPr>
          <a:xfrm>
            <a:off x="6400800" y="3877056"/>
            <a:ext cx="4572000" cy="365760"/>
          </a:xfrm>
          <a:prstGeom prst="rect">
            <a:avLst/>
          </a:prstGeom>
          <a:noFill/>
        </p:spPr>
        <p:txBody>
          <a:bodyPr wrap="square">
            <a:spAutoFit/>
          </a:bodyPr>
          <a:lstStyle/>
          <a:p>
            <a:pPr algn="l">
              <a:defRPr sz="1400" b="0">
                <a:solidFill>
                  <a:srgbClr val="555E70"/>
                </a:solidFill>
                <a:latin typeface="Segoe UI"/>
              </a:defRPr>
            </a:pPr>
            <a:r>
              <a:t>27  Tools &amp; Technologies</a:t>
            </a:r>
          </a:p>
        </p:txBody>
      </p:sp>
      <p:sp>
        <p:nvSpPr>
          <p:cNvPr id="25" name="TextBox 24">
            <a:extLst>
              <a:ext uri="{FF2B5EF4-FFF2-40B4-BE49-F238E27FC236}">
                <a16:creationId xmlns:a16="http://schemas.microsoft.com/office/drawing/2014/main" id="{C4247527-5AC9-2411-4B88-65C04FE6301D}"/>
              </a:ext>
            </a:extLst>
          </p:cNvPr>
          <p:cNvSpPr txBox="1"/>
          <p:nvPr/>
        </p:nvSpPr>
        <p:spPr>
          <a:xfrm>
            <a:off x="6400800" y="4261104"/>
            <a:ext cx="4572000" cy="365760"/>
          </a:xfrm>
          <a:prstGeom prst="rect">
            <a:avLst/>
          </a:prstGeom>
          <a:noFill/>
        </p:spPr>
        <p:txBody>
          <a:bodyPr wrap="square">
            <a:spAutoFit/>
          </a:bodyPr>
          <a:lstStyle/>
          <a:p>
            <a:pPr algn="l">
              <a:defRPr sz="1400" b="0">
                <a:solidFill>
                  <a:srgbClr val="1A1A2E"/>
                </a:solidFill>
                <a:latin typeface="Segoe UI"/>
              </a:defRPr>
            </a:pPr>
            <a:r>
              <a:t>28  Challenges &amp; Learnings</a:t>
            </a:r>
          </a:p>
        </p:txBody>
      </p:sp>
      <p:sp>
        <p:nvSpPr>
          <p:cNvPr id="26" name="TextBox 25">
            <a:extLst>
              <a:ext uri="{FF2B5EF4-FFF2-40B4-BE49-F238E27FC236}">
                <a16:creationId xmlns:a16="http://schemas.microsoft.com/office/drawing/2014/main" id="{694856CB-95A6-4502-C347-FF61E07CAEA8}"/>
              </a:ext>
            </a:extLst>
          </p:cNvPr>
          <p:cNvSpPr txBox="1"/>
          <p:nvPr/>
        </p:nvSpPr>
        <p:spPr>
          <a:xfrm>
            <a:off x="6400800" y="4645152"/>
            <a:ext cx="4572000" cy="365760"/>
          </a:xfrm>
          <a:prstGeom prst="rect">
            <a:avLst/>
          </a:prstGeom>
          <a:noFill/>
        </p:spPr>
        <p:txBody>
          <a:bodyPr wrap="square">
            <a:spAutoFit/>
          </a:bodyPr>
          <a:lstStyle/>
          <a:p>
            <a:pPr algn="l">
              <a:defRPr sz="1400" b="0">
                <a:solidFill>
                  <a:srgbClr val="555E70"/>
                </a:solidFill>
                <a:latin typeface="Segoe UI"/>
              </a:defRPr>
            </a:pPr>
            <a:r>
              <a:t>29  Future Enhancements</a:t>
            </a:r>
          </a:p>
        </p:txBody>
      </p:sp>
      <p:sp>
        <p:nvSpPr>
          <p:cNvPr id="27" name="TextBox 26">
            <a:extLst>
              <a:ext uri="{FF2B5EF4-FFF2-40B4-BE49-F238E27FC236}">
                <a16:creationId xmlns:a16="http://schemas.microsoft.com/office/drawing/2014/main" id="{F86F5145-0528-8673-5B36-14BE73711059}"/>
              </a:ext>
            </a:extLst>
          </p:cNvPr>
          <p:cNvSpPr txBox="1"/>
          <p:nvPr/>
        </p:nvSpPr>
        <p:spPr>
          <a:xfrm>
            <a:off x="6400800" y="5029200"/>
            <a:ext cx="4572000" cy="365760"/>
          </a:xfrm>
          <a:prstGeom prst="rect">
            <a:avLst/>
          </a:prstGeom>
          <a:noFill/>
        </p:spPr>
        <p:txBody>
          <a:bodyPr wrap="square">
            <a:spAutoFit/>
          </a:bodyPr>
          <a:lstStyle/>
          <a:p>
            <a:pPr algn="l">
              <a:defRPr sz="1400" b="0">
                <a:solidFill>
                  <a:srgbClr val="1A1A2E"/>
                </a:solidFill>
                <a:latin typeface="Segoe UI"/>
              </a:defRPr>
            </a:pPr>
            <a:r>
              <a:t>30  References</a:t>
            </a:r>
          </a:p>
        </p:txBody>
      </p:sp>
      <p:sp>
        <p:nvSpPr>
          <p:cNvPr id="28" name="TextBox 27">
            <a:extLst>
              <a:ext uri="{FF2B5EF4-FFF2-40B4-BE49-F238E27FC236}">
                <a16:creationId xmlns:a16="http://schemas.microsoft.com/office/drawing/2014/main" id="{6D962C18-6AFE-5197-C678-C838C5071922}"/>
              </a:ext>
            </a:extLst>
          </p:cNvPr>
          <p:cNvSpPr txBox="1"/>
          <p:nvPr/>
        </p:nvSpPr>
        <p:spPr>
          <a:xfrm>
            <a:off x="6400800" y="5413248"/>
            <a:ext cx="4572000" cy="365760"/>
          </a:xfrm>
          <a:prstGeom prst="rect">
            <a:avLst/>
          </a:prstGeom>
          <a:noFill/>
        </p:spPr>
        <p:txBody>
          <a:bodyPr wrap="square">
            <a:spAutoFit/>
          </a:bodyPr>
          <a:lstStyle/>
          <a:p>
            <a:pPr algn="l">
              <a:defRPr sz="1400" b="0">
                <a:solidFill>
                  <a:srgbClr val="555E70"/>
                </a:solidFill>
                <a:latin typeface="Segoe UI"/>
              </a:defRPr>
            </a:pPr>
            <a:r>
              <a:t>31  Thank You / Q&amp;A</a:t>
            </a:r>
          </a:p>
        </p:txBody>
      </p:sp>
      <p:sp>
        <p:nvSpPr>
          <p:cNvPr id="52" name="Rectangle 51">
            <a:extLst>
              <a:ext uri="{FF2B5EF4-FFF2-40B4-BE49-F238E27FC236}">
                <a16:creationId xmlns:a16="http://schemas.microsoft.com/office/drawing/2014/main" id="{4795B074-D293-0B23-DF6B-10D74E0A7965}"/>
              </a:ext>
            </a:extLst>
          </p:cNvPr>
          <p:cNvSpPr/>
          <p:nvPr/>
        </p:nvSpPr>
        <p:spPr>
          <a:xfrm>
            <a:off x="731520" y="868680"/>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FD72A-BA8E-F274-EBD4-CF792058B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DBD4C0-DDE4-2FE1-2429-B15A5E82F1D1}"/>
              </a:ext>
            </a:extLst>
          </p:cNvPr>
          <p:cNvSpPr>
            <a:spLocks noGrp="1"/>
          </p:cNvSpPr>
          <p:nvPr>
            <p:ph type="title"/>
          </p:nvPr>
        </p:nvSpPr>
        <p:spPr>
          <a:xfrm>
            <a:off x="764930" y="269323"/>
            <a:ext cx="10834234" cy="612775"/>
          </a:xfrm>
        </p:spPr>
        <p:txBody>
          <a:bodyPr/>
          <a:lstStyle/>
          <a:p>
            <a:r>
              <a:rPr lang="en-US" dirty="0">
                <a:solidFill>
                  <a:schemeClr val="accent1">
                    <a:lumMod val="75000"/>
                  </a:schemeClr>
                </a:solidFill>
                <a:latin typeface="Segoe UI" panose="020B0502040204020203" pitchFamily="34" charset="0"/>
                <a:cs typeface="Segoe UI" panose="020B0502040204020203" pitchFamily="34" charset="0"/>
              </a:rPr>
              <a:t>Abstract</a:t>
            </a:r>
            <a:endParaRPr lang="en-IN" dirty="0">
              <a:solidFill>
                <a:schemeClr val="accent1">
                  <a:lumMod val="75000"/>
                </a:schemeClr>
              </a:solidFill>
              <a:latin typeface="Segoe UI" panose="020B0502040204020203" pitchFamily="34" charset="0"/>
              <a:cs typeface="Segoe UI" panose="020B0502040204020203" pitchFamily="34" charset="0"/>
            </a:endParaRPr>
          </a:p>
        </p:txBody>
      </p:sp>
      <p:sp>
        <p:nvSpPr>
          <p:cNvPr id="4" name="Rectangle: Rounded Corners 3">
            <a:extLst>
              <a:ext uri="{FF2B5EF4-FFF2-40B4-BE49-F238E27FC236}">
                <a16:creationId xmlns:a16="http://schemas.microsoft.com/office/drawing/2014/main" id="{12393C7D-7540-106A-D47B-C5579EBBFDEE}"/>
              </a:ext>
            </a:extLst>
          </p:cNvPr>
          <p:cNvSpPr/>
          <p:nvPr/>
        </p:nvSpPr>
        <p:spPr>
          <a:xfrm>
            <a:off x="764930" y="1380391"/>
            <a:ext cx="10603523" cy="1397977"/>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Rounded Corners 7">
            <a:extLst>
              <a:ext uri="{FF2B5EF4-FFF2-40B4-BE49-F238E27FC236}">
                <a16:creationId xmlns:a16="http://schemas.microsoft.com/office/drawing/2014/main" id="{D0DC7339-0DCE-7313-74D2-061C967D1E0D}"/>
              </a:ext>
            </a:extLst>
          </p:cNvPr>
          <p:cNvSpPr/>
          <p:nvPr/>
        </p:nvSpPr>
        <p:spPr>
          <a:xfrm>
            <a:off x="794238" y="2942318"/>
            <a:ext cx="10603523" cy="1397977"/>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Rectangle: Rounded Corners 8">
            <a:extLst>
              <a:ext uri="{FF2B5EF4-FFF2-40B4-BE49-F238E27FC236}">
                <a16:creationId xmlns:a16="http://schemas.microsoft.com/office/drawing/2014/main" id="{EB3111FC-82D4-F891-0143-B4845222BF8F}"/>
              </a:ext>
            </a:extLst>
          </p:cNvPr>
          <p:cNvSpPr/>
          <p:nvPr/>
        </p:nvSpPr>
        <p:spPr>
          <a:xfrm>
            <a:off x="794238" y="4504245"/>
            <a:ext cx="10603523" cy="1397977"/>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TextBox 9">
            <a:extLst>
              <a:ext uri="{FF2B5EF4-FFF2-40B4-BE49-F238E27FC236}">
                <a16:creationId xmlns:a16="http://schemas.microsoft.com/office/drawing/2014/main" id="{B1A6A58F-B9E3-B1FA-7F46-17783CA70A91}"/>
              </a:ext>
            </a:extLst>
          </p:cNvPr>
          <p:cNvSpPr txBox="1"/>
          <p:nvPr/>
        </p:nvSpPr>
        <p:spPr>
          <a:xfrm>
            <a:off x="1063869" y="1365912"/>
            <a:ext cx="2215662" cy="369332"/>
          </a:xfrm>
          <a:prstGeom prst="rect">
            <a:avLst/>
          </a:prstGeom>
          <a:noFill/>
        </p:spPr>
        <p:txBody>
          <a:bodyPr wrap="square" rtlCol="0">
            <a:spAutoFit/>
          </a:bodyPr>
          <a:lstStyle/>
          <a:p>
            <a:r>
              <a:rPr lang="en-US" dirty="0">
                <a:solidFill>
                  <a:schemeClr val="accent1"/>
                </a:solidFill>
              </a:rPr>
              <a:t>GOAL</a:t>
            </a:r>
            <a:endParaRPr lang="en-IN" dirty="0">
              <a:solidFill>
                <a:schemeClr val="accent1"/>
              </a:solidFill>
            </a:endParaRPr>
          </a:p>
        </p:txBody>
      </p:sp>
      <p:sp>
        <p:nvSpPr>
          <p:cNvPr id="11" name="TextBox 10">
            <a:extLst>
              <a:ext uri="{FF2B5EF4-FFF2-40B4-BE49-F238E27FC236}">
                <a16:creationId xmlns:a16="http://schemas.microsoft.com/office/drawing/2014/main" id="{3872A9B4-8CC7-D761-92C1-1FCA4ABD7DB1}"/>
              </a:ext>
            </a:extLst>
          </p:cNvPr>
          <p:cNvSpPr txBox="1"/>
          <p:nvPr/>
        </p:nvSpPr>
        <p:spPr>
          <a:xfrm>
            <a:off x="1063869" y="2942318"/>
            <a:ext cx="2215662" cy="369332"/>
          </a:xfrm>
          <a:prstGeom prst="rect">
            <a:avLst/>
          </a:prstGeom>
          <a:noFill/>
        </p:spPr>
        <p:txBody>
          <a:bodyPr wrap="square" rtlCol="0">
            <a:spAutoFit/>
          </a:bodyPr>
          <a:lstStyle/>
          <a:p>
            <a:r>
              <a:rPr lang="en-US" dirty="0">
                <a:solidFill>
                  <a:schemeClr val="accent6"/>
                </a:solidFill>
              </a:rPr>
              <a:t>METHOD</a:t>
            </a:r>
            <a:endParaRPr lang="en-IN" dirty="0">
              <a:solidFill>
                <a:schemeClr val="accent6"/>
              </a:solidFill>
            </a:endParaRPr>
          </a:p>
        </p:txBody>
      </p:sp>
      <p:sp>
        <p:nvSpPr>
          <p:cNvPr id="12" name="TextBox 11">
            <a:extLst>
              <a:ext uri="{FF2B5EF4-FFF2-40B4-BE49-F238E27FC236}">
                <a16:creationId xmlns:a16="http://schemas.microsoft.com/office/drawing/2014/main" id="{ADCB2D8D-B436-A154-6D3E-53687D84686D}"/>
              </a:ext>
            </a:extLst>
          </p:cNvPr>
          <p:cNvSpPr txBox="1"/>
          <p:nvPr/>
        </p:nvSpPr>
        <p:spPr>
          <a:xfrm>
            <a:off x="1063869" y="4504245"/>
            <a:ext cx="2215662" cy="369332"/>
          </a:xfrm>
          <a:prstGeom prst="rect">
            <a:avLst/>
          </a:prstGeom>
          <a:noFill/>
        </p:spPr>
        <p:txBody>
          <a:bodyPr wrap="square" rtlCol="0">
            <a:spAutoFit/>
          </a:bodyPr>
          <a:lstStyle/>
          <a:p>
            <a:r>
              <a:rPr lang="en-US" dirty="0">
                <a:solidFill>
                  <a:schemeClr val="accent2">
                    <a:lumMod val="75000"/>
                  </a:schemeClr>
                </a:solidFill>
              </a:rPr>
              <a:t>OUTPUT</a:t>
            </a:r>
            <a:endParaRPr lang="en-IN" dirty="0">
              <a:solidFill>
                <a:schemeClr val="accent2">
                  <a:lumMod val="75000"/>
                </a:schemeClr>
              </a:solidFill>
            </a:endParaRPr>
          </a:p>
        </p:txBody>
      </p:sp>
      <p:sp>
        <p:nvSpPr>
          <p:cNvPr id="13" name="TextBox 12">
            <a:extLst>
              <a:ext uri="{FF2B5EF4-FFF2-40B4-BE49-F238E27FC236}">
                <a16:creationId xmlns:a16="http://schemas.microsoft.com/office/drawing/2014/main" id="{82CAA0C9-7A42-7487-FB02-6D0F0EF71D04}"/>
              </a:ext>
            </a:extLst>
          </p:cNvPr>
          <p:cNvSpPr txBox="1"/>
          <p:nvPr/>
        </p:nvSpPr>
        <p:spPr>
          <a:xfrm>
            <a:off x="1063869" y="1735244"/>
            <a:ext cx="9020908" cy="984885"/>
          </a:xfrm>
          <a:prstGeom prst="rect">
            <a:avLst/>
          </a:prstGeom>
          <a:noFill/>
        </p:spPr>
        <p:txBody>
          <a:bodyPr wrap="square" rtlCol="0">
            <a:spAutoFit/>
          </a:bodyPr>
          <a:lstStyle/>
          <a:p>
            <a:r>
              <a:rPr lang="en-US" sz="2000" dirty="0">
                <a:latin typeface="Segoe UI" panose="020B0502040204020203" pitchFamily="34" charset="0"/>
                <a:cs typeface="Segoe UI" panose="020B0502040204020203" pitchFamily="34" charset="0"/>
              </a:rPr>
              <a:t>Build a full-stack File Integrity Monitoring tool that verifies system file integrity using cryptographic hashing (SHA-256 &amp; MD5).</a:t>
            </a:r>
          </a:p>
          <a:p>
            <a:endParaRPr lang="en-IN" dirty="0"/>
          </a:p>
        </p:txBody>
      </p:sp>
      <p:sp>
        <p:nvSpPr>
          <p:cNvPr id="14" name="TextBox 13">
            <a:extLst>
              <a:ext uri="{FF2B5EF4-FFF2-40B4-BE49-F238E27FC236}">
                <a16:creationId xmlns:a16="http://schemas.microsoft.com/office/drawing/2014/main" id="{681643D3-20DE-7AE6-B27E-EF628537F73A}"/>
              </a:ext>
            </a:extLst>
          </p:cNvPr>
          <p:cNvSpPr txBox="1"/>
          <p:nvPr/>
        </p:nvSpPr>
        <p:spPr>
          <a:xfrm>
            <a:off x="1063869" y="3311650"/>
            <a:ext cx="9020908" cy="707886"/>
          </a:xfrm>
          <a:prstGeom prst="rect">
            <a:avLst/>
          </a:prstGeom>
          <a:noFill/>
        </p:spPr>
        <p:txBody>
          <a:bodyPr wrap="square" rtlCol="0">
            <a:spAutoFit/>
          </a:bodyPr>
          <a:lstStyle/>
          <a:p>
            <a:pPr>
              <a:defRPr sz="1600" b="0">
                <a:solidFill>
                  <a:srgbClr val="1A1A2E"/>
                </a:solidFill>
                <a:latin typeface="Segoe UI"/>
              </a:defRPr>
            </a:pPr>
            <a:r>
              <a:rPr lang="en-US" sz="2000" dirty="0"/>
              <a:t>Python backend uses </a:t>
            </a:r>
            <a:r>
              <a:rPr lang="en-US" sz="2000" dirty="0" err="1"/>
              <a:t>hashlib</a:t>
            </a:r>
            <a:r>
              <a:rPr lang="en-US" sz="2000" dirty="0"/>
              <a:t> to compute real hashes on OS files, stores a trusted baseline, and compares on each scan to detect unauthorized changes.</a:t>
            </a:r>
          </a:p>
        </p:txBody>
      </p:sp>
      <p:sp>
        <p:nvSpPr>
          <p:cNvPr id="17" name="TextBox 16">
            <a:extLst>
              <a:ext uri="{FF2B5EF4-FFF2-40B4-BE49-F238E27FC236}">
                <a16:creationId xmlns:a16="http://schemas.microsoft.com/office/drawing/2014/main" id="{1B09AA67-4C6D-02D9-3DFF-CF702E6B272C}"/>
              </a:ext>
            </a:extLst>
          </p:cNvPr>
          <p:cNvSpPr txBox="1"/>
          <p:nvPr/>
        </p:nvSpPr>
        <p:spPr>
          <a:xfrm>
            <a:off x="1063869" y="4892834"/>
            <a:ext cx="9020908" cy="707886"/>
          </a:xfrm>
          <a:prstGeom prst="rect">
            <a:avLst/>
          </a:prstGeom>
          <a:noFill/>
        </p:spPr>
        <p:txBody>
          <a:bodyPr wrap="square" rtlCol="0">
            <a:spAutoFit/>
          </a:bodyPr>
          <a:lstStyle/>
          <a:p>
            <a:pPr>
              <a:defRPr sz="1600" b="0">
                <a:solidFill>
                  <a:srgbClr val="1A1A2E"/>
                </a:solidFill>
                <a:latin typeface="Segoe UI"/>
              </a:defRPr>
            </a:pPr>
            <a:r>
              <a:rPr lang="en-US" sz="2000" dirty="0"/>
              <a:t>Interactive React dashboard with real-time scanning, file browser, auto-scheduler, 5-level status indicator, alert system, and security report generation.</a:t>
            </a:r>
          </a:p>
        </p:txBody>
      </p:sp>
      <p:sp>
        <p:nvSpPr>
          <p:cNvPr id="18" name="Rectangle 17">
            <a:extLst>
              <a:ext uri="{FF2B5EF4-FFF2-40B4-BE49-F238E27FC236}">
                <a16:creationId xmlns:a16="http://schemas.microsoft.com/office/drawing/2014/main" id="{22011675-4E0C-B184-117F-BBA003F503EE}"/>
              </a:ext>
            </a:extLst>
          </p:cNvPr>
          <p:cNvSpPr/>
          <p:nvPr/>
        </p:nvSpPr>
        <p:spPr>
          <a:xfrm>
            <a:off x="731520" y="868680"/>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15296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0F995-5657-5F90-7A76-42F53F738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16B08E-0827-7D27-87AF-D5EBF4005AAF}"/>
              </a:ext>
            </a:extLst>
          </p:cNvPr>
          <p:cNvSpPr>
            <a:spLocks noGrp="1"/>
          </p:cNvSpPr>
          <p:nvPr>
            <p:ph type="title"/>
          </p:nvPr>
        </p:nvSpPr>
        <p:spPr>
          <a:xfrm>
            <a:off x="678883" y="165806"/>
            <a:ext cx="10834234" cy="612775"/>
          </a:xfrm>
        </p:spPr>
        <p:txBody>
          <a:bodyPr/>
          <a:lstStyle/>
          <a:p>
            <a:pPr>
              <a:lnSpc>
                <a:spcPts val="3240"/>
              </a:lnSpc>
            </a:pPr>
            <a:r>
              <a:rPr lang="en-US" sz="3600" dirty="0">
                <a:solidFill>
                  <a:schemeClr val="accent1">
                    <a:lumMod val="75000"/>
                  </a:schemeClr>
                </a:solidFill>
                <a:latin typeface="Segoe UI" panose="020B0502040204020203" pitchFamily="34" charset="0"/>
                <a:ea typeface="Arial" pitchFamily="34" charset="-122"/>
                <a:cs typeface="Segoe UI" panose="020B0502040204020203" pitchFamily="34" charset="0"/>
              </a:rPr>
              <a:t>Problem Statement</a:t>
            </a:r>
            <a:endParaRPr lang="en-US" sz="3600" dirty="0">
              <a:solidFill>
                <a:schemeClr val="accent1">
                  <a:lumMod val="75000"/>
                </a:schemeClr>
              </a:solidFill>
              <a:latin typeface="Segoe UI" panose="020B0502040204020203" pitchFamily="34" charset="0"/>
              <a:cs typeface="Segoe UI" panose="020B0502040204020203" pitchFamily="34" charset="0"/>
            </a:endParaRPr>
          </a:p>
        </p:txBody>
      </p:sp>
      <p:sp>
        <p:nvSpPr>
          <p:cNvPr id="6" name="Rounded Rectangle 3">
            <a:extLst>
              <a:ext uri="{FF2B5EF4-FFF2-40B4-BE49-F238E27FC236}">
                <a16:creationId xmlns:a16="http://schemas.microsoft.com/office/drawing/2014/main" id="{4875FB7D-1785-5454-6581-FD7E218689AD}"/>
              </a:ext>
            </a:extLst>
          </p:cNvPr>
          <p:cNvSpPr/>
          <p:nvPr/>
        </p:nvSpPr>
        <p:spPr>
          <a:xfrm>
            <a:off x="731520" y="1267848"/>
            <a:ext cx="10515600" cy="1097280"/>
          </a:xfrm>
          <a:prstGeom prst="roundRect">
            <a:avLst/>
          </a:prstGeom>
          <a:solidFill>
            <a:srgbClr val="FFF0F0"/>
          </a:solidFill>
          <a:ln w="1270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5548A720-40E5-CC93-7E60-B94837D9A8CD}"/>
              </a:ext>
            </a:extLst>
          </p:cNvPr>
          <p:cNvSpPr txBox="1"/>
          <p:nvPr/>
        </p:nvSpPr>
        <p:spPr>
          <a:xfrm>
            <a:off x="1005840" y="1313568"/>
            <a:ext cx="1828800" cy="274320"/>
          </a:xfrm>
          <a:prstGeom prst="rect">
            <a:avLst/>
          </a:prstGeom>
          <a:noFill/>
        </p:spPr>
        <p:txBody>
          <a:bodyPr wrap="square">
            <a:spAutoFit/>
          </a:bodyPr>
          <a:lstStyle/>
          <a:p>
            <a:pPr algn="l">
              <a:defRPr sz="1100" b="1">
                <a:solidFill>
                  <a:srgbClr val="CC2244"/>
                </a:solidFill>
                <a:latin typeface="Segoe UI"/>
              </a:defRPr>
            </a:pPr>
            <a:r>
              <a:rPr dirty="0"/>
              <a:t>THE THREAT</a:t>
            </a:r>
          </a:p>
        </p:txBody>
      </p:sp>
      <p:sp>
        <p:nvSpPr>
          <p:cNvPr id="8" name="TextBox 7">
            <a:extLst>
              <a:ext uri="{FF2B5EF4-FFF2-40B4-BE49-F238E27FC236}">
                <a16:creationId xmlns:a16="http://schemas.microsoft.com/office/drawing/2014/main" id="{096B9EDE-DDC9-960D-994A-B698AC095B1B}"/>
              </a:ext>
            </a:extLst>
          </p:cNvPr>
          <p:cNvSpPr txBox="1"/>
          <p:nvPr/>
        </p:nvSpPr>
        <p:spPr>
          <a:xfrm>
            <a:off x="1005840" y="1633608"/>
            <a:ext cx="10058400" cy="548640"/>
          </a:xfrm>
          <a:prstGeom prst="rect">
            <a:avLst/>
          </a:prstGeom>
          <a:noFill/>
        </p:spPr>
        <p:txBody>
          <a:bodyPr wrap="square">
            <a:spAutoFit/>
          </a:bodyPr>
          <a:lstStyle/>
          <a:p>
            <a:pPr algn="l">
              <a:defRPr sz="1500" b="0">
                <a:solidFill>
                  <a:srgbClr val="1A1A2E"/>
                </a:solidFill>
                <a:latin typeface="Segoe UI"/>
              </a:defRPr>
            </a:pPr>
            <a:r>
              <a:t>Attackers modify critical system files to install backdoors, escalate privileges, disable firewalls, and establish persistence — often undetected for months.</a:t>
            </a:r>
          </a:p>
        </p:txBody>
      </p:sp>
      <p:sp>
        <p:nvSpPr>
          <p:cNvPr id="9" name="TextBox 8">
            <a:extLst>
              <a:ext uri="{FF2B5EF4-FFF2-40B4-BE49-F238E27FC236}">
                <a16:creationId xmlns:a16="http://schemas.microsoft.com/office/drawing/2014/main" id="{3C0B992D-9C97-3F09-580D-ABB60629D947}"/>
              </a:ext>
            </a:extLst>
          </p:cNvPr>
          <p:cNvSpPr txBox="1"/>
          <p:nvPr/>
        </p:nvSpPr>
        <p:spPr>
          <a:xfrm>
            <a:off x="1005840" y="2560320"/>
            <a:ext cx="2743200" cy="365760"/>
          </a:xfrm>
          <a:prstGeom prst="rect">
            <a:avLst/>
          </a:prstGeom>
          <a:noFill/>
        </p:spPr>
        <p:txBody>
          <a:bodyPr wrap="square">
            <a:spAutoFit/>
          </a:bodyPr>
          <a:lstStyle/>
          <a:p>
            <a:pPr algn="l">
              <a:defRPr sz="1100" b="1">
                <a:solidFill>
                  <a:srgbClr val="8890A0"/>
                </a:solidFill>
                <a:latin typeface="Segoe UI"/>
              </a:defRPr>
            </a:pPr>
            <a:r>
              <a:t>KEY CHALLENGES</a:t>
            </a:r>
          </a:p>
        </p:txBody>
      </p:sp>
      <p:sp>
        <p:nvSpPr>
          <p:cNvPr id="10" name="TextBox 9">
            <a:extLst>
              <a:ext uri="{FF2B5EF4-FFF2-40B4-BE49-F238E27FC236}">
                <a16:creationId xmlns:a16="http://schemas.microsoft.com/office/drawing/2014/main" id="{2A5CD686-FC16-FECD-9D3C-78DDCE045164}"/>
              </a:ext>
            </a:extLst>
          </p:cNvPr>
          <p:cNvSpPr txBox="1"/>
          <p:nvPr/>
        </p:nvSpPr>
        <p:spPr>
          <a:xfrm>
            <a:off x="1005840" y="2926080"/>
            <a:ext cx="10058400" cy="1645920"/>
          </a:xfrm>
          <a:prstGeom prst="rect">
            <a:avLst/>
          </a:prstGeom>
          <a:noFill/>
        </p:spPr>
        <p:txBody>
          <a:bodyPr wrap="square">
            <a:spAutoFit/>
          </a:bodyPr>
          <a:lstStyle/>
          <a:p>
            <a:pPr>
              <a:spcAft>
                <a:spcPts val="600"/>
              </a:spcAft>
              <a:defRPr sz="1400">
                <a:solidFill>
                  <a:srgbClr val="555E70"/>
                </a:solidFill>
                <a:latin typeface="Segoe UI"/>
              </a:defRPr>
            </a:pPr>
            <a:r>
              <a:t>▸  No trusted baseline to compare current file states against</a:t>
            </a:r>
          </a:p>
          <a:p>
            <a:pPr>
              <a:spcAft>
                <a:spcPts val="600"/>
              </a:spcAft>
              <a:defRPr sz="1400">
                <a:solidFill>
                  <a:srgbClr val="555E70"/>
                </a:solidFill>
                <a:latin typeface="Segoe UI"/>
              </a:defRPr>
            </a:pPr>
            <a:r>
              <a:t>▸  Manual file checking is impractical at scale</a:t>
            </a:r>
          </a:p>
          <a:p>
            <a:pPr>
              <a:spcAft>
                <a:spcPts val="600"/>
              </a:spcAft>
              <a:defRPr sz="1400">
                <a:solidFill>
                  <a:srgbClr val="555E70"/>
                </a:solidFill>
                <a:latin typeface="Segoe UI"/>
              </a:defRPr>
            </a:pPr>
            <a:r>
              <a:t>▸  Unauthorized modifications to OS binaries go undetected</a:t>
            </a:r>
          </a:p>
          <a:p>
            <a:pPr>
              <a:spcAft>
                <a:spcPts val="600"/>
              </a:spcAft>
              <a:defRPr sz="1400">
                <a:solidFill>
                  <a:srgbClr val="555E70"/>
                </a:solidFill>
                <a:latin typeface="Segoe UI"/>
              </a:defRPr>
            </a:pPr>
            <a:r>
              <a:t>▸  Compliance standards (PCI DSS, HIPAA, SOX) require FIM</a:t>
            </a:r>
          </a:p>
        </p:txBody>
      </p:sp>
      <p:sp>
        <p:nvSpPr>
          <p:cNvPr id="11" name="Rounded Rectangle 8">
            <a:extLst>
              <a:ext uri="{FF2B5EF4-FFF2-40B4-BE49-F238E27FC236}">
                <a16:creationId xmlns:a16="http://schemas.microsoft.com/office/drawing/2014/main" id="{5456728B-2F9F-F896-1F26-79CEB45B87B2}"/>
              </a:ext>
            </a:extLst>
          </p:cNvPr>
          <p:cNvSpPr/>
          <p:nvPr/>
        </p:nvSpPr>
        <p:spPr>
          <a:xfrm>
            <a:off x="731520" y="4579040"/>
            <a:ext cx="10515600" cy="1097280"/>
          </a:xfrm>
          <a:prstGeom prst="roundRect">
            <a:avLst/>
          </a:prstGeom>
          <a:solidFill>
            <a:srgbClr val="F0FFF0"/>
          </a:solidFill>
          <a:ln w="12700">
            <a:solidFill>
              <a:srgbClr val="00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E5D6D397-9AA4-377D-FDDC-06B1E4137695}"/>
              </a:ext>
            </a:extLst>
          </p:cNvPr>
          <p:cNvSpPr txBox="1"/>
          <p:nvPr/>
        </p:nvSpPr>
        <p:spPr>
          <a:xfrm>
            <a:off x="1005840" y="4670480"/>
            <a:ext cx="1828800" cy="274320"/>
          </a:xfrm>
          <a:prstGeom prst="rect">
            <a:avLst/>
          </a:prstGeom>
          <a:noFill/>
        </p:spPr>
        <p:txBody>
          <a:bodyPr wrap="square">
            <a:spAutoFit/>
          </a:bodyPr>
          <a:lstStyle/>
          <a:p>
            <a:pPr algn="l">
              <a:defRPr sz="1100" b="1">
                <a:solidFill>
                  <a:srgbClr val="008A4E"/>
                </a:solidFill>
                <a:latin typeface="Segoe UI"/>
              </a:defRPr>
            </a:pPr>
            <a:r>
              <a:t>OUR SOLUTION</a:t>
            </a:r>
          </a:p>
        </p:txBody>
      </p:sp>
      <p:sp>
        <p:nvSpPr>
          <p:cNvPr id="13" name="TextBox 12">
            <a:extLst>
              <a:ext uri="{FF2B5EF4-FFF2-40B4-BE49-F238E27FC236}">
                <a16:creationId xmlns:a16="http://schemas.microsoft.com/office/drawing/2014/main" id="{2CAC3A5B-F3CE-4AE2-0443-105D44477C27}"/>
              </a:ext>
            </a:extLst>
          </p:cNvPr>
          <p:cNvSpPr txBox="1"/>
          <p:nvPr/>
        </p:nvSpPr>
        <p:spPr>
          <a:xfrm>
            <a:off x="1005840" y="4990520"/>
            <a:ext cx="10058400" cy="457200"/>
          </a:xfrm>
          <a:prstGeom prst="rect">
            <a:avLst/>
          </a:prstGeom>
          <a:noFill/>
        </p:spPr>
        <p:txBody>
          <a:bodyPr wrap="square">
            <a:spAutoFit/>
          </a:bodyPr>
          <a:lstStyle/>
          <a:p>
            <a:pPr algn="l">
              <a:defRPr sz="1500" b="0">
                <a:solidFill>
                  <a:srgbClr val="1A1A2E"/>
                </a:solidFill>
                <a:latin typeface="Segoe UI"/>
              </a:defRPr>
            </a:pPr>
            <a:r>
              <a:t>File Integrity Guardian — automated hashing, monitoring, alerting, and reporting for critical system files.</a:t>
            </a:r>
          </a:p>
        </p:txBody>
      </p:sp>
      <p:sp>
        <p:nvSpPr>
          <p:cNvPr id="14" name="Rectangle 13">
            <a:extLst>
              <a:ext uri="{FF2B5EF4-FFF2-40B4-BE49-F238E27FC236}">
                <a16:creationId xmlns:a16="http://schemas.microsoft.com/office/drawing/2014/main" id="{C57E0DFA-7610-F50E-B818-7C5C5A77169F}"/>
              </a:ext>
            </a:extLst>
          </p:cNvPr>
          <p:cNvSpPr/>
          <p:nvPr/>
        </p:nvSpPr>
        <p:spPr>
          <a:xfrm>
            <a:off x="731520" y="706896"/>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018892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26129" y="216665"/>
            <a:ext cx="10834234" cy="612775"/>
          </a:xfrm>
        </p:spPr>
        <p:txBody>
          <a:bodyPr/>
          <a:lstStyle/>
          <a:p>
            <a:r>
              <a:rPr lang="en-US" dirty="0">
                <a:solidFill>
                  <a:schemeClr val="accent1">
                    <a:lumMod val="75000"/>
                  </a:schemeClr>
                </a:solidFill>
                <a:latin typeface="Segoe UI" panose="020B0502040204020203" pitchFamily="34" charset="0"/>
                <a:cs typeface="Segoe UI" panose="020B0502040204020203" pitchFamily="34" charset="0"/>
              </a:rPr>
              <a:t>What is File Integrity Monitoring ?</a:t>
            </a:r>
            <a:endParaRPr lang="en-IN" dirty="0">
              <a:solidFill>
                <a:schemeClr val="accent1">
                  <a:lumMod val="75000"/>
                </a:schemeClr>
              </a:solidFill>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3" y="1229967"/>
            <a:ext cx="10834234" cy="80105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indent="0">
              <a:buNone/>
            </a:pPr>
            <a:r>
              <a:rPr lang="en-US" sz="2000" dirty="0">
                <a:latin typeface="Segoe UI" panose="020B0502040204020203" pitchFamily="34" charset="0"/>
                <a:cs typeface="Segoe UI" panose="020B0502040204020203" pitchFamily="34" charset="0"/>
              </a:rPr>
              <a:t>FIM is a cybersecurity practice that detects changes to critical system files by comparing their current state against a trusted baseline using cryptographic hash functions.</a:t>
            </a:r>
          </a:p>
          <a:p>
            <a:pPr marL="0" lvl="0" indent="0">
              <a:buNone/>
            </a:pPr>
            <a:endParaRPr lang="en-US" dirty="0"/>
          </a:p>
        </p:txBody>
      </p:sp>
      <p:sp>
        <p:nvSpPr>
          <p:cNvPr id="4" name="Rectangle: Rounded Corners 3">
            <a:extLst>
              <a:ext uri="{FF2B5EF4-FFF2-40B4-BE49-F238E27FC236}">
                <a16:creationId xmlns:a16="http://schemas.microsoft.com/office/drawing/2014/main" id="{FE1B6E9F-F91A-8BC5-88F7-12366BB8D151}"/>
              </a:ext>
            </a:extLst>
          </p:cNvPr>
          <p:cNvSpPr/>
          <p:nvPr/>
        </p:nvSpPr>
        <p:spPr>
          <a:xfrm>
            <a:off x="1198685" y="2540977"/>
            <a:ext cx="1547446" cy="801056"/>
          </a:xfrm>
          <a:prstGeom prst="roundRect">
            <a:avLst/>
          </a:prstGeom>
          <a:solidFill>
            <a:schemeClr val="bg1">
              <a:lumMod val="95000"/>
            </a:schemeClr>
          </a:solidFill>
          <a:ln>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75000"/>
                  </a:schemeClr>
                </a:solidFill>
              </a:rPr>
              <a:t>Read File</a:t>
            </a:r>
            <a:endParaRPr lang="en-IN" dirty="0">
              <a:solidFill>
                <a:schemeClr val="accent1">
                  <a:lumMod val="75000"/>
                </a:schemeClr>
              </a:solidFill>
            </a:endParaRPr>
          </a:p>
        </p:txBody>
      </p:sp>
      <p:sp>
        <p:nvSpPr>
          <p:cNvPr id="5" name="Rectangle: Rounded Corners 4">
            <a:extLst>
              <a:ext uri="{FF2B5EF4-FFF2-40B4-BE49-F238E27FC236}">
                <a16:creationId xmlns:a16="http://schemas.microsoft.com/office/drawing/2014/main" id="{1B8A21BE-A4CD-FAF6-39FC-99BEE3F609CF}"/>
              </a:ext>
            </a:extLst>
          </p:cNvPr>
          <p:cNvSpPr/>
          <p:nvPr/>
        </p:nvSpPr>
        <p:spPr>
          <a:xfrm>
            <a:off x="3288323" y="2540977"/>
            <a:ext cx="1547446" cy="801056"/>
          </a:xfrm>
          <a:prstGeom prst="roundRect">
            <a:avLst/>
          </a:prstGeom>
          <a:solidFill>
            <a:schemeClr val="bg1">
              <a:lumMod val="95000"/>
            </a:schemeClr>
          </a:solidFill>
          <a:ln>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rPr>
              <a:t>Computer Hash</a:t>
            </a:r>
            <a:endParaRPr lang="en-IN" dirty="0">
              <a:solidFill>
                <a:schemeClr val="tx1">
                  <a:lumMod val="75000"/>
                  <a:lumOff val="25000"/>
                </a:schemeClr>
              </a:solidFill>
            </a:endParaRPr>
          </a:p>
        </p:txBody>
      </p:sp>
      <p:sp>
        <p:nvSpPr>
          <p:cNvPr id="6" name="Rectangle: Rounded Corners 5">
            <a:extLst>
              <a:ext uri="{FF2B5EF4-FFF2-40B4-BE49-F238E27FC236}">
                <a16:creationId xmlns:a16="http://schemas.microsoft.com/office/drawing/2014/main" id="{CE4B5224-CC40-E8F4-06C3-EEC85F3F27E2}"/>
              </a:ext>
            </a:extLst>
          </p:cNvPr>
          <p:cNvSpPr/>
          <p:nvPr/>
        </p:nvSpPr>
        <p:spPr>
          <a:xfrm>
            <a:off x="5322277" y="2540977"/>
            <a:ext cx="1547446" cy="801056"/>
          </a:xfrm>
          <a:prstGeom prst="roundRect">
            <a:avLst/>
          </a:prstGeom>
          <a:solidFill>
            <a:schemeClr val="bg1">
              <a:lumMod val="95000"/>
            </a:schemeClr>
          </a:solidFill>
          <a:ln>
            <a:solidFill>
              <a:schemeClr val="accent6">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75000"/>
                  </a:schemeClr>
                </a:solidFill>
              </a:rPr>
              <a:t>Store Baseline</a:t>
            </a:r>
            <a:endParaRPr lang="en-IN" dirty="0">
              <a:solidFill>
                <a:schemeClr val="accent6">
                  <a:lumMod val="75000"/>
                </a:schemeClr>
              </a:solidFill>
            </a:endParaRPr>
          </a:p>
        </p:txBody>
      </p:sp>
      <p:sp>
        <p:nvSpPr>
          <p:cNvPr id="7" name="Rectangle: Rounded Corners 6">
            <a:extLst>
              <a:ext uri="{FF2B5EF4-FFF2-40B4-BE49-F238E27FC236}">
                <a16:creationId xmlns:a16="http://schemas.microsoft.com/office/drawing/2014/main" id="{41D28779-2BC9-DDD4-407D-48A8BF30076A}"/>
              </a:ext>
            </a:extLst>
          </p:cNvPr>
          <p:cNvSpPr/>
          <p:nvPr/>
        </p:nvSpPr>
        <p:spPr>
          <a:xfrm>
            <a:off x="7411915" y="2540977"/>
            <a:ext cx="1547446" cy="801056"/>
          </a:xfrm>
          <a:prstGeom prst="roundRect">
            <a:avLst/>
          </a:prstGeom>
          <a:solidFill>
            <a:schemeClr val="bg1">
              <a:lumMod val="95000"/>
            </a:schemeClr>
          </a:solidFill>
          <a:ln>
            <a:solidFill>
              <a:schemeClr val="accent2">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lumMod val="75000"/>
                  </a:schemeClr>
                </a:solidFill>
              </a:rPr>
              <a:t>Re-Scan</a:t>
            </a:r>
            <a:endParaRPr lang="en-IN" dirty="0">
              <a:solidFill>
                <a:schemeClr val="accent2">
                  <a:lumMod val="75000"/>
                </a:schemeClr>
              </a:solidFill>
            </a:endParaRPr>
          </a:p>
        </p:txBody>
      </p:sp>
      <p:sp>
        <p:nvSpPr>
          <p:cNvPr id="8" name="Rectangle: Rounded Corners 7">
            <a:extLst>
              <a:ext uri="{FF2B5EF4-FFF2-40B4-BE49-F238E27FC236}">
                <a16:creationId xmlns:a16="http://schemas.microsoft.com/office/drawing/2014/main" id="{7205A5F7-E526-69FF-23B0-774361849002}"/>
              </a:ext>
            </a:extLst>
          </p:cNvPr>
          <p:cNvSpPr/>
          <p:nvPr/>
        </p:nvSpPr>
        <p:spPr>
          <a:xfrm>
            <a:off x="9445869" y="2540977"/>
            <a:ext cx="1547446" cy="801056"/>
          </a:xfrm>
          <a:prstGeom prst="roundRect">
            <a:avLst/>
          </a:prstGeom>
          <a:solidFill>
            <a:schemeClr val="bg1">
              <a:lumMod val="95000"/>
            </a:schemeClr>
          </a:solidFill>
          <a:ln>
            <a:solidFill>
              <a:srgbClr val="FF0000"/>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Compare &amp; Alert</a:t>
            </a:r>
            <a:endParaRPr lang="en-IN" dirty="0">
              <a:solidFill>
                <a:srgbClr val="FF0000"/>
              </a:solidFill>
            </a:endParaRPr>
          </a:p>
        </p:txBody>
      </p:sp>
      <p:cxnSp>
        <p:nvCxnSpPr>
          <p:cNvPr id="10" name="Straight Arrow Connector 9">
            <a:extLst>
              <a:ext uri="{FF2B5EF4-FFF2-40B4-BE49-F238E27FC236}">
                <a16:creationId xmlns:a16="http://schemas.microsoft.com/office/drawing/2014/main" id="{A603AE1D-FAA5-1098-1CAC-879D70CF94D9}"/>
              </a:ext>
            </a:extLst>
          </p:cNvPr>
          <p:cNvCxnSpPr>
            <a:cxnSpLocks/>
            <a:stCxn id="4" idx="3"/>
            <a:endCxn id="5" idx="1"/>
          </p:cNvCxnSpPr>
          <p:nvPr/>
        </p:nvCxnSpPr>
        <p:spPr>
          <a:xfrm>
            <a:off x="2746131" y="2941505"/>
            <a:ext cx="5421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D3BF7EB-80D7-1A71-0200-7052EE0114D1}"/>
              </a:ext>
            </a:extLst>
          </p:cNvPr>
          <p:cNvCxnSpPr>
            <a:cxnSpLocks/>
            <a:stCxn id="5" idx="3"/>
            <a:endCxn id="6" idx="1"/>
          </p:cNvCxnSpPr>
          <p:nvPr/>
        </p:nvCxnSpPr>
        <p:spPr>
          <a:xfrm>
            <a:off x="4835769" y="2941505"/>
            <a:ext cx="4865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859B958-CDCC-1C4B-FD7E-7FA23A5A4BAD}"/>
              </a:ext>
            </a:extLst>
          </p:cNvPr>
          <p:cNvCxnSpPr>
            <a:cxnSpLocks/>
            <a:stCxn id="6" idx="3"/>
            <a:endCxn id="7" idx="1"/>
          </p:cNvCxnSpPr>
          <p:nvPr/>
        </p:nvCxnSpPr>
        <p:spPr>
          <a:xfrm>
            <a:off x="6869723" y="2941505"/>
            <a:ext cx="5421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FCFD7A4-D589-9D96-3572-F133A662A693}"/>
              </a:ext>
            </a:extLst>
          </p:cNvPr>
          <p:cNvCxnSpPr>
            <a:cxnSpLocks/>
            <a:stCxn id="7" idx="3"/>
            <a:endCxn id="8" idx="1"/>
          </p:cNvCxnSpPr>
          <p:nvPr/>
        </p:nvCxnSpPr>
        <p:spPr>
          <a:xfrm>
            <a:off x="8959361" y="2941505"/>
            <a:ext cx="4865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18">
            <a:extLst>
              <a:ext uri="{FF2B5EF4-FFF2-40B4-BE49-F238E27FC236}">
                <a16:creationId xmlns:a16="http://schemas.microsoft.com/office/drawing/2014/main" id="{ADE3B974-6C83-2BDE-C21B-AAF1CF543786}"/>
              </a:ext>
            </a:extLst>
          </p:cNvPr>
          <p:cNvSpPr/>
          <p:nvPr/>
        </p:nvSpPr>
        <p:spPr>
          <a:xfrm>
            <a:off x="731520" y="4090178"/>
            <a:ext cx="3383280" cy="109728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FC0D403E-7204-2417-D29D-6C25CDCD8095}"/>
              </a:ext>
            </a:extLst>
          </p:cNvPr>
          <p:cNvSpPr txBox="1"/>
          <p:nvPr/>
        </p:nvSpPr>
        <p:spPr>
          <a:xfrm>
            <a:off x="914400" y="4181618"/>
            <a:ext cx="3108960" cy="274320"/>
          </a:xfrm>
          <a:prstGeom prst="rect">
            <a:avLst/>
          </a:prstGeom>
          <a:noFill/>
        </p:spPr>
        <p:txBody>
          <a:bodyPr wrap="square">
            <a:spAutoFit/>
          </a:bodyPr>
          <a:lstStyle/>
          <a:p>
            <a:pPr algn="l">
              <a:defRPr sz="1100" b="1">
                <a:solidFill>
                  <a:srgbClr val="007ACC"/>
                </a:solidFill>
                <a:latin typeface="Segoe UI"/>
              </a:defRPr>
            </a:pPr>
            <a:r>
              <a:t>What it monitors</a:t>
            </a:r>
          </a:p>
        </p:txBody>
      </p:sp>
      <p:sp>
        <p:nvSpPr>
          <p:cNvPr id="23" name="TextBox 22">
            <a:extLst>
              <a:ext uri="{FF2B5EF4-FFF2-40B4-BE49-F238E27FC236}">
                <a16:creationId xmlns:a16="http://schemas.microsoft.com/office/drawing/2014/main" id="{9EEB96C4-2184-B70F-EB13-5ADF624A5B8C}"/>
              </a:ext>
            </a:extLst>
          </p:cNvPr>
          <p:cNvSpPr txBox="1"/>
          <p:nvPr/>
        </p:nvSpPr>
        <p:spPr>
          <a:xfrm>
            <a:off x="914400" y="4547378"/>
            <a:ext cx="3108960" cy="548640"/>
          </a:xfrm>
          <a:prstGeom prst="rect">
            <a:avLst/>
          </a:prstGeom>
          <a:noFill/>
        </p:spPr>
        <p:txBody>
          <a:bodyPr wrap="square">
            <a:spAutoFit/>
          </a:bodyPr>
          <a:lstStyle/>
          <a:p>
            <a:pPr algn="l">
              <a:defRPr sz="1200" b="0">
                <a:solidFill>
                  <a:srgbClr val="555E70"/>
                </a:solidFill>
                <a:latin typeface="Segoe UI"/>
              </a:defRPr>
            </a:pPr>
            <a:r>
              <a:t>OS binaries, config files, logs, registries, permissions</a:t>
            </a:r>
          </a:p>
        </p:txBody>
      </p:sp>
      <p:sp>
        <p:nvSpPr>
          <p:cNvPr id="24" name="Rounded Rectangle 21">
            <a:extLst>
              <a:ext uri="{FF2B5EF4-FFF2-40B4-BE49-F238E27FC236}">
                <a16:creationId xmlns:a16="http://schemas.microsoft.com/office/drawing/2014/main" id="{29D3FBD7-7AA0-BDE4-A169-2DABF9C29F45}"/>
              </a:ext>
            </a:extLst>
          </p:cNvPr>
          <p:cNvSpPr/>
          <p:nvPr/>
        </p:nvSpPr>
        <p:spPr>
          <a:xfrm>
            <a:off x="4389120" y="4090178"/>
            <a:ext cx="3383280" cy="109728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B8581429-444F-B1C8-0480-6679FD1F897D}"/>
              </a:ext>
            </a:extLst>
          </p:cNvPr>
          <p:cNvSpPr txBox="1"/>
          <p:nvPr/>
        </p:nvSpPr>
        <p:spPr>
          <a:xfrm>
            <a:off x="4572000" y="4181618"/>
            <a:ext cx="3108960" cy="274320"/>
          </a:xfrm>
          <a:prstGeom prst="rect">
            <a:avLst/>
          </a:prstGeom>
          <a:noFill/>
        </p:spPr>
        <p:txBody>
          <a:bodyPr wrap="square">
            <a:spAutoFit/>
          </a:bodyPr>
          <a:lstStyle/>
          <a:p>
            <a:pPr algn="l">
              <a:defRPr sz="1100" b="1">
                <a:solidFill>
                  <a:srgbClr val="007ACC"/>
                </a:solidFill>
                <a:latin typeface="Segoe UI"/>
              </a:defRPr>
            </a:pPr>
            <a:r>
              <a:t>Standards requiring FIM</a:t>
            </a:r>
          </a:p>
        </p:txBody>
      </p:sp>
      <p:sp>
        <p:nvSpPr>
          <p:cNvPr id="26" name="TextBox 25">
            <a:extLst>
              <a:ext uri="{FF2B5EF4-FFF2-40B4-BE49-F238E27FC236}">
                <a16:creationId xmlns:a16="http://schemas.microsoft.com/office/drawing/2014/main" id="{66D5B186-5765-97A8-9081-D29BAAB3A48B}"/>
              </a:ext>
            </a:extLst>
          </p:cNvPr>
          <p:cNvSpPr txBox="1"/>
          <p:nvPr/>
        </p:nvSpPr>
        <p:spPr>
          <a:xfrm>
            <a:off x="4572000" y="4547378"/>
            <a:ext cx="3108960" cy="548640"/>
          </a:xfrm>
          <a:prstGeom prst="rect">
            <a:avLst/>
          </a:prstGeom>
          <a:noFill/>
        </p:spPr>
        <p:txBody>
          <a:bodyPr wrap="square">
            <a:spAutoFit/>
          </a:bodyPr>
          <a:lstStyle/>
          <a:p>
            <a:pPr algn="l">
              <a:defRPr sz="1200" b="0">
                <a:solidFill>
                  <a:srgbClr val="555E70"/>
                </a:solidFill>
                <a:latin typeface="Segoe UI"/>
              </a:defRPr>
            </a:pPr>
            <a:r>
              <a:t>PCI DSS (11.5), HIPAA, SOX, ISO 17799, CIS Benchmarks</a:t>
            </a:r>
          </a:p>
        </p:txBody>
      </p:sp>
      <p:sp>
        <p:nvSpPr>
          <p:cNvPr id="27" name="Rounded Rectangle 24">
            <a:extLst>
              <a:ext uri="{FF2B5EF4-FFF2-40B4-BE49-F238E27FC236}">
                <a16:creationId xmlns:a16="http://schemas.microsoft.com/office/drawing/2014/main" id="{F3EFA3B6-8693-5AAF-0CC0-2338FC3E0B66}"/>
              </a:ext>
            </a:extLst>
          </p:cNvPr>
          <p:cNvSpPr/>
          <p:nvPr/>
        </p:nvSpPr>
        <p:spPr>
          <a:xfrm>
            <a:off x="8046720" y="4090178"/>
            <a:ext cx="3383280" cy="109728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618B6497-4831-BED3-CA86-2E412AF4C904}"/>
              </a:ext>
            </a:extLst>
          </p:cNvPr>
          <p:cNvSpPr txBox="1"/>
          <p:nvPr/>
        </p:nvSpPr>
        <p:spPr>
          <a:xfrm>
            <a:off x="8229600" y="4181618"/>
            <a:ext cx="3108960" cy="274320"/>
          </a:xfrm>
          <a:prstGeom prst="rect">
            <a:avLst/>
          </a:prstGeom>
          <a:noFill/>
        </p:spPr>
        <p:txBody>
          <a:bodyPr wrap="square">
            <a:spAutoFit/>
          </a:bodyPr>
          <a:lstStyle/>
          <a:p>
            <a:pPr algn="l">
              <a:defRPr sz="1100" b="1">
                <a:solidFill>
                  <a:srgbClr val="007ACC"/>
                </a:solidFill>
                <a:latin typeface="Segoe UI"/>
              </a:defRPr>
            </a:pPr>
            <a:r>
              <a:t>Detection types</a:t>
            </a:r>
          </a:p>
        </p:txBody>
      </p:sp>
      <p:sp>
        <p:nvSpPr>
          <p:cNvPr id="29" name="TextBox 28">
            <a:extLst>
              <a:ext uri="{FF2B5EF4-FFF2-40B4-BE49-F238E27FC236}">
                <a16:creationId xmlns:a16="http://schemas.microsoft.com/office/drawing/2014/main" id="{B81D0CF9-D742-63C9-1F1F-0EEE2E2ED37F}"/>
              </a:ext>
            </a:extLst>
          </p:cNvPr>
          <p:cNvSpPr txBox="1"/>
          <p:nvPr/>
        </p:nvSpPr>
        <p:spPr>
          <a:xfrm>
            <a:off x="8229600" y="4547378"/>
            <a:ext cx="3108960" cy="548640"/>
          </a:xfrm>
          <a:prstGeom prst="rect">
            <a:avLst/>
          </a:prstGeom>
          <a:noFill/>
        </p:spPr>
        <p:txBody>
          <a:bodyPr wrap="square">
            <a:spAutoFit/>
          </a:bodyPr>
          <a:lstStyle/>
          <a:p>
            <a:pPr algn="l">
              <a:defRPr sz="1200" b="0">
                <a:solidFill>
                  <a:srgbClr val="555E70"/>
                </a:solidFill>
                <a:latin typeface="Segoe UI"/>
              </a:defRPr>
            </a:pPr>
            <a:r>
              <a:t>Content changes, permission changes, file deletion, new files</a:t>
            </a:r>
          </a:p>
        </p:txBody>
      </p:sp>
      <p:sp>
        <p:nvSpPr>
          <p:cNvPr id="30" name="Rectangle 29">
            <a:extLst>
              <a:ext uri="{FF2B5EF4-FFF2-40B4-BE49-F238E27FC236}">
                <a16:creationId xmlns:a16="http://schemas.microsoft.com/office/drawing/2014/main" id="{20851CFA-CC84-599F-645D-32D0E373AE62}"/>
              </a:ext>
            </a:extLst>
          </p:cNvPr>
          <p:cNvSpPr/>
          <p:nvPr/>
        </p:nvSpPr>
        <p:spPr>
          <a:xfrm>
            <a:off x="731520" y="811152"/>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272459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F7A07-E6EF-5B97-89FF-89BAD64E3D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38C34-C2A3-C976-EC5D-A3DA68C8CFB6}"/>
              </a:ext>
            </a:extLst>
          </p:cNvPr>
          <p:cNvSpPr>
            <a:spLocks noGrp="1"/>
          </p:cNvSpPr>
          <p:nvPr>
            <p:ph type="title"/>
          </p:nvPr>
        </p:nvSpPr>
        <p:spPr>
          <a:xfrm>
            <a:off x="731520" y="238736"/>
            <a:ext cx="10834234" cy="612775"/>
          </a:xfrm>
        </p:spPr>
        <p:txBody>
          <a:bodyPr/>
          <a:lstStyle/>
          <a:p>
            <a:r>
              <a:rPr lang="en-US" dirty="0">
                <a:solidFill>
                  <a:schemeClr val="accent1">
                    <a:lumMod val="75000"/>
                  </a:schemeClr>
                </a:solidFill>
                <a:latin typeface="Segoe UI" panose="020B0502040204020203" pitchFamily="34" charset="0"/>
                <a:cs typeface="Segoe UI" panose="020B0502040204020203" pitchFamily="34" charset="0"/>
              </a:rPr>
              <a:t>Why FIM Matters</a:t>
            </a:r>
            <a:endParaRPr lang="en-IN" dirty="0">
              <a:solidFill>
                <a:schemeClr val="accent1">
                  <a:lumMod val="75000"/>
                </a:schemeClr>
              </a:solidFill>
              <a:latin typeface="Segoe UI" panose="020B0502040204020203" pitchFamily="34" charset="0"/>
              <a:cs typeface="Segoe UI" panose="020B0502040204020203" pitchFamily="34" charset="0"/>
            </a:endParaRPr>
          </a:p>
        </p:txBody>
      </p:sp>
      <p:sp>
        <p:nvSpPr>
          <p:cNvPr id="13" name="Rounded Rectangle 3">
            <a:extLst>
              <a:ext uri="{FF2B5EF4-FFF2-40B4-BE49-F238E27FC236}">
                <a16:creationId xmlns:a16="http://schemas.microsoft.com/office/drawing/2014/main" id="{8D622607-4F6F-C80B-6F30-DE5FD6F20DD4}"/>
              </a:ext>
            </a:extLst>
          </p:cNvPr>
          <p:cNvSpPr/>
          <p:nvPr/>
        </p:nvSpPr>
        <p:spPr>
          <a:xfrm>
            <a:off x="731520" y="1505243"/>
            <a:ext cx="3383280" cy="228600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6819F55-6A4C-63FF-D2ED-44A56611102A}"/>
              </a:ext>
            </a:extLst>
          </p:cNvPr>
          <p:cNvSpPr txBox="1"/>
          <p:nvPr/>
        </p:nvSpPr>
        <p:spPr>
          <a:xfrm>
            <a:off x="731520" y="1688123"/>
            <a:ext cx="3383280" cy="548640"/>
          </a:xfrm>
          <a:prstGeom prst="rect">
            <a:avLst/>
          </a:prstGeom>
          <a:noFill/>
        </p:spPr>
        <p:txBody>
          <a:bodyPr wrap="square">
            <a:spAutoFit/>
          </a:bodyPr>
          <a:lstStyle/>
          <a:p>
            <a:pPr algn="ctr">
              <a:defRPr sz="3600" b="0">
                <a:solidFill>
                  <a:srgbClr val="1A1A2E"/>
                </a:solidFill>
                <a:latin typeface="Segoe UI"/>
              </a:defRPr>
            </a:pPr>
            <a:r>
              <a:t>🔓</a:t>
            </a:r>
          </a:p>
        </p:txBody>
      </p:sp>
      <p:sp>
        <p:nvSpPr>
          <p:cNvPr id="16" name="TextBox 15">
            <a:extLst>
              <a:ext uri="{FF2B5EF4-FFF2-40B4-BE49-F238E27FC236}">
                <a16:creationId xmlns:a16="http://schemas.microsoft.com/office/drawing/2014/main" id="{94D9AC37-F1F1-8D1D-1AB3-DA3857F60F28}"/>
              </a:ext>
            </a:extLst>
          </p:cNvPr>
          <p:cNvSpPr txBox="1"/>
          <p:nvPr/>
        </p:nvSpPr>
        <p:spPr>
          <a:xfrm>
            <a:off x="731520" y="2236763"/>
            <a:ext cx="3383280" cy="365760"/>
          </a:xfrm>
          <a:prstGeom prst="rect">
            <a:avLst/>
          </a:prstGeom>
          <a:noFill/>
        </p:spPr>
        <p:txBody>
          <a:bodyPr wrap="square">
            <a:spAutoFit/>
          </a:bodyPr>
          <a:lstStyle/>
          <a:p>
            <a:pPr algn="ctr">
              <a:defRPr sz="1600" b="1">
                <a:solidFill>
                  <a:srgbClr val="CC2244"/>
                </a:solidFill>
                <a:latin typeface="Segoe UI"/>
              </a:defRPr>
            </a:pPr>
            <a:r>
              <a:t>Backdoor Detection</a:t>
            </a:r>
          </a:p>
        </p:txBody>
      </p:sp>
      <p:sp>
        <p:nvSpPr>
          <p:cNvPr id="17" name="TextBox 16">
            <a:extLst>
              <a:ext uri="{FF2B5EF4-FFF2-40B4-BE49-F238E27FC236}">
                <a16:creationId xmlns:a16="http://schemas.microsoft.com/office/drawing/2014/main" id="{FBE65407-F4C7-235D-15FC-2419A4744387}"/>
              </a:ext>
            </a:extLst>
          </p:cNvPr>
          <p:cNvSpPr txBox="1"/>
          <p:nvPr/>
        </p:nvSpPr>
        <p:spPr>
          <a:xfrm>
            <a:off x="914400" y="2693963"/>
            <a:ext cx="3017520" cy="731520"/>
          </a:xfrm>
          <a:prstGeom prst="rect">
            <a:avLst/>
          </a:prstGeom>
          <a:noFill/>
        </p:spPr>
        <p:txBody>
          <a:bodyPr wrap="square">
            <a:spAutoFit/>
          </a:bodyPr>
          <a:lstStyle/>
          <a:p>
            <a:pPr algn="ctr">
              <a:defRPr sz="1300" b="0">
                <a:solidFill>
                  <a:srgbClr val="555E70"/>
                </a:solidFill>
                <a:latin typeface="Segoe UI"/>
              </a:defRPr>
            </a:pPr>
            <a:r>
              <a:t>Modified binaries reveal attacker persistence</a:t>
            </a:r>
          </a:p>
        </p:txBody>
      </p:sp>
      <p:sp>
        <p:nvSpPr>
          <p:cNvPr id="19" name="Rounded Rectangle 7">
            <a:extLst>
              <a:ext uri="{FF2B5EF4-FFF2-40B4-BE49-F238E27FC236}">
                <a16:creationId xmlns:a16="http://schemas.microsoft.com/office/drawing/2014/main" id="{3398FB90-C9BD-32E4-371A-072B525E7C42}"/>
              </a:ext>
            </a:extLst>
          </p:cNvPr>
          <p:cNvSpPr/>
          <p:nvPr/>
        </p:nvSpPr>
        <p:spPr>
          <a:xfrm>
            <a:off x="4389120" y="1505243"/>
            <a:ext cx="3383280" cy="228600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79F47761-034E-B5B0-230E-0187C716C168}"/>
              </a:ext>
            </a:extLst>
          </p:cNvPr>
          <p:cNvSpPr txBox="1"/>
          <p:nvPr/>
        </p:nvSpPr>
        <p:spPr>
          <a:xfrm>
            <a:off x="4389120" y="1688123"/>
            <a:ext cx="3383280" cy="548640"/>
          </a:xfrm>
          <a:prstGeom prst="rect">
            <a:avLst/>
          </a:prstGeom>
          <a:noFill/>
        </p:spPr>
        <p:txBody>
          <a:bodyPr wrap="square">
            <a:spAutoFit/>
          </a:bodyPr>
          <a:lstStyle/>
          <a:p>
            <a:pPr algn="ctr">
              <a:defRPr sz="3600" b="0">
                <a:solidFill>
                  <a:srgbClr val="1A1A2E"/>
                </a:solidFill>
                <a:latin typeface="Segoe UI"/>
              </a:defRPr>
            </a:pPr>
            <a:r>
              <a:t>🛡️</a:t>
            </a:r>
          </a:p>
        </p:txBody>
      </p:sp>
      <p:sp>
        <p:nvSpPr>
          <p:cNvPr id="30" name="TextBox 29">
            <a:extLst>
              <a:ext uri="{FF2B5EF4-FFF2-40B4-BE49-F238E27FC236}">
                <a16:creationId xmlns:a16="http://schemas.microsoft.com/office/drawing/2014/main" id="{63A0216A-BA55-FC23-DE16-DC39E390F975}"/>
              </a:ext>
            </a:extLst>
          </p:cNvPr>
          <p:cNvSpPr txBox="1"/>
          <p:nvPr/>
        </p:nvSpPr>
        <p:spPr>
          <a:xfrm>
            <a:off x="4389120" y="2236763"/>
            <a:ext cx="3383280" cy="365760"/>
          </a:xfrm>
          <a:prstGeom prst="rect">
            <a:avLst/>
          </a:prstGeom>
          <a:noFill/>
        </p:spPr>
        <p:txBody>
          <a:bodyPr wrap="square">
            <a:spAutoFit/>
          </a:bodyPr>
          <a:lstStyle/>
          <a:p>
            <a:pPr algn="ctr">
              <a:defRPr sz="1600" b="1">
                <a:solidFill>
                  <a:srgbClr val="007ACC"/>
                </a:solidFill>
                <a:latin typeface="Segoe UI"/>
              </a:defRPr>
            </a:pPr>
            <a:r>
              <a:t>Compliance</a:t>
            </a:r>
          </a:p>
        </p:txBody>
      </p:sp>
      <p:sp>
        <p:nvSpPr>
          <p:cNvPr id="31" name="TextBox 30">
            <a:extLst>
              <a:ext uri="{FF2B5EF4-FFF2-40B4-BE49-F238E27FC236}">
                <a16:creationId xmlns:a16="http://schemas.microsoft.com/office/drawing/2014/main" id="{10E6D8A8-04C4-1FD4-92BD-55560485BBED}"/>
              </a:ext>
            </a:extLst>
          </p:cNvPr>
          <p:cNvSpPr txBox="1"/>
          <p:nvPr/>
        </p:nvSpPr>
        <p:spPr>
          <a:xfrm>
            <a:off x="4572000" y="2693963"/>
            <a:ext cx="3017520" cy="731520"/>
          </a:xfrm>
          <a:prstGeom prst="rect">
            <a:avLst/>
          </a:prstGeom>
          <a:noFill/>
        </p:spPr>
        <p:txBody>
          <a:bodyPr wrap="square">
            <a:spAutoFit/>
          </a:bodyPr>
          <a:lstStyle/>
          <a:p>
            <a:pPr algn="ctr">
              <a:defRPr sz="1300" b="0">
                <a:solidFill>
                  <a:srgbClr val="555E70"/>
                </a:solidFill>
                <a:latin typeface="Segoe UI"/>
              </a:defRPr>
            </a:pPr>
            <a:r>
              <a:t>PCI DSS, HIPAA, SOX all mandate FIM controls</a:t>
            </a:r>
          </a:p>
        </p:txBody>
      </p:sp>
      <p:sp>
        <p:nvSpPr>
          <p:cNvPr id="32" name="Rounded Rectangle 11">
            <a:extLst>
              <a:ext uri="{FF2B5EF4-FFF2-40B4-BE49-F238E27FC236}">
                <a16:creationId xmlns:a16="http://schemas.microsoft.com/office/drawing/2014/main" id="{735BCC7A-8A57-4E42-B355-3C6975A7175C}"/>
              </a:ext>
            </a:extLst>
          </p:cNvPr>
          <p:cNvSpPr/>
          <p:nvPr/>
        </p:nvSpPr>
        <p:spPr>
          <a:xfrm>
            <a:off x="8046720" y="1505243"/>
            <a:ext cx="3383280" cy="228600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1E83643F-6BFB-DB83-A9AD-194EA87D2F94}"/>
              </a:ext>
            </a:extLst>
          </p:cNvPr>
          <p:cNvSpPr txBox="1"/>
          <p:nvPr/>
        </p:nvSpPr>
        <p:spPr>
          <a:xfrm>
            <a:off x="8046720" y="1688123"/>
            <a:ext cx="3383280" cy="548640"/>
          </a:xfrm>
          <a:prstGeom prst="rect">
            <a:avLst/>
          </a:prstGeom>
          <a:noFill/>
        </p:spPr>
        <p:txBody>
          <a:bodyPr wrap="square">
            <a:spAutoFit/>
          </a:bodyPr>
          <a:lstStyle/>
          <a:p>
            <a:pPr algn="ctr">
              <a:defRPr sz="3600" b="0">
                <a:solidFill>
                  <a:srgbClr val="1A1A2E"/>
                </a:solidFill>
                <a:latin typeface="Segoe UI"/>
              </a:defRPr>
            </a:pPr>
            <a:r>
              <a:t>⚡</a:t>
            </a:r>
          </a:p>
        </p:txBody>
      </p:sp>
      <p:sp>
        <p:nvSpPr>
          <p:cNvPr id="34" name="TextBox 33">
            <a:extLst>
              <a:ext uri="{FF2B5EF4-FFF2-40B4-BE49-F238E27FC236}">
                <a16:creationId xmlns:a16="http://schemas.microsoft.com/office/drawing/2014/main" id="{EB9C09E3-BDA5-6838-A03B-C6CC5FCB7391}"/>
              </a:ext>
            </a:extLst>
          </p:cNvPr>
          <p:cNvSpPr txBox="1"/>
          <p:nvPr/>
        </p:nvSpPr>
        <p:spPr>
          <a:xfrm>
            <a:off x="8046720" y="2236763"/>
            <a:ext cx="3383280" cy="365760"/>
          </a:xfrm>
          <a:prstGeom prst="rect">
            <a:avLst/>
          </a:prstGeom>
          <a:noFill/>
        </p:spPr>
        <p:txBody>
          <a:bodyPr wrap="square">
            <a:spAutoFit/>
          </a:bodyPr>
          <a:lstStyle/>
          <a:p>
            <a:pPr algn="ctr">
              <a:defRPr sz="1600" b="1">
                <a:solidFill>
                  <a:srgbClr val="BB7700"/>
                </a:solidFill>
                <a:latin typeface="Segoe UI"/>
              </a:defRPr>
            </a:pPr>
            <a:r>
              <a:t>Early Warning</a:t>
            </a:r>
          </a:p>
        </p:txBody>
      </p:sp>
      <p:sp>
        <p:nvSpPr>
          <p:cNvPr id="35" name="TextBox 34">
            <a:extLst>
              <a:ext uri="{FF2B5EF4-FFF2-40B4-BE49-F238E27FC236}">
                <a16:creationId xmlns:a16="http://schemas.microsoft.com/office/drawing/2014/main" id="{782A31DE-B0BF-F73A-F789-0D860036684A}"/>
              </a:ext>
            </a:extLst>
          </p:cNvPr>
          <p:cNvSpPr txBox="1"/>
          <p:nvPr/>
        </p:nvSpPr>
        <p:spPr>
          <a:xfrm>
            <a:off x="8229600" y="2693963"/>
            <a:ext cx="3017520" cy="731520"/>
          </a:xfrm>
          <a:prstGeom prst="rect">
            <a:avLst/>
          </a:prstGeom>
          <a:noFill/>
        </p:spPr>
        <p:txBody>
          <a:bodyPr wrap="square">
            <a:spAutoFit/>
          </a:bodyPr>
          <a:lstStyle/>
          <a:p>
            <a:pPr algn="ctr">
              <a:defRPr sz="1300" b="0">
                <a:solidFill>
                  <a:srgbClr val="555E70"/>
                </a:solidFill>
                <a:latin typeface="Segoe UI"/>
              </a:defRPr>
            </a:pPr>
            <a:r>
              <a:t>Detect breaches in minutes, not months</a:t>
            </a:r>
          </a:p>
        </p:txBody>
      </p:sp>
      <p:sp>
        <p:nvSpPr>
          <p:cNvPr id="36" name="Rounded Rectangle 15">
            <a:extLst>
              <a:ext uri="{FF2B5EF4-FFF2-40B4-BE49-F238E27FC236}">
                <a16:creationId xmlns:a16="http://schemas.microsoft.com/office/drawing/2014/main" id="{8F275F46-2206-04DC-3291-67C30655C623}"/>
              </a:ext>
            </a:extLst>
          </p:cNvPr>
          <p:cNvSpPr/>
          <p:nvPr/>
        </p:nvSpPr>
        <p:spPr>
          <a:xfrm>
            <a:off x="731520" y="4157003"/>
            <a:ext cx="10515600" cy="914400"/>
          </a:xfrm>
          <a:prstGeom prst="roundRect">
            <a:avLst/>
          </a:prstGeom>
          <a:solidFill>
            <a:srgbClr val="FFF0F0"/>
          </a:solidFill>
          <a:ln w="1270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B9055166-2831-A242-ECF0-078800884908}"/>
              </a:ext>
            </a:extLst>
          </p:cNvPr>
          <p:cNvSpPr txBox="1"/>
          <p:nvPr/>
        </p:nvSpPr>
        <p:spPr>
          <a:xfrm>
            <a:off x="1005840" y="4294162"/>
            <a:ext cx="10058400" cy="640080"/>
          </a:xfrm>
          <a:prstGeom prst="rect">
            <a:avLst/>
          </a:prstGeom>
          <a:noFill/>
        </p:spPr>
        <p:txBody>
          <a:bodyPr wrap="square">
            <a:spAutoFit/>
          </a:bodyPr>
          <a:lstStyle/>
          <a:p>
            <a:pPr algn="l">
              <a:defRPr sz="1400" b="0">
                <a:solidFill>
                  <a:srgbClr val="1A1A2E"/>
                </a:solidFill>
                <a:latin typeface="Segoe UI"/>
              </a:defRPr>
            </a:pPr>
            <a:r>
              <a:t>Key Stat: 9.8% of organizations fail PCI audits due to lacking FIM (Verizon). Average breach detection without FIM: 197 days (IBM).</a:t>
            </a:r>
          </a:p>
        </p:txBody>
      </p:sp>
      <p:sp>
        <p:nvSpPr>
          <p:cNvPr id="38" name="Rectangle 37">
            <a:extLst>
              <a:ext uri="{FF2B5EF4-FFF2-40B4-BE49-F238E27FC236}">
                <a16:creationId xmlns:a16="http://schemas.microsoft.com/office/drawing/2014/main" id="{AEA0F6F2-43F0-C28D-2038-0089D71B8F14}"/>
              </a:ext>
            </a:extLst>
          </p:cNvPr>
          <p:cNvSpPr/>
          <p:nvPr/>
        </p:nvSpPr>
        <p:spPr>
          <a:xfrm>
            <a:off x="731520" y="806207"/>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642352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6D5F2-ACBB-B7A6-E6E2-BEAF029748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A578A-03BF-621B-07B7-48BD42B1B778}"/>
              </a:ext>
            </a:extLst>
          </p:cNvPr>
          <p:cNvSpPr>
            <a:spLocks noGrp="1"/>
          </p:cNvSpPr>
          <p:nvPr>
            <p:ph type="title"/>
          </p:nvPr>
        </p:nvSpPr>
        <p:spPr>
          <a:xfrm>
            <a:off x="617923" y="178117"/>
            <a:ext cx="10834234" cy="612775"/>
          </a:xfrm>
        </p:spPr>
        <p:txBody>
          <a:bodyPr>
            <a:normAutofit/>
          </a:bodyPr>
          <a:lstStyle/>
          <a:p>
            <a:pPr>
              <a:lnSpc>
                <a:spcPts val="3240"/>
              </a:lnSpc>
            </a:pPr>
            <a:r>
              <a:rPr lang="en-US" sz="3600" dirty="0">
                <a:solidFill>
                  <a:schemeClr val="accent1">
                    <a:lumMod val="75000"/>
                  </a:schemeClr>
                </a:solidFill>
                <a:latin typeface="Arial" pitchFamily="34" charset="0"/>
                <a:ea typeface="Arial" pitchFamily="34" charset="-122"/>
                <a:cs typeface="Arial" pitchFamily="34" charset="-120"/>
              </a:rPr>
              <a:t>Research : Industry FIM Tools Landscape</a:t>
            </a:r>
            <a:endParaRPr lang="en-US" sz="3600" dirty="0">
              <a:solidFill>
                <a:schemeClr val="accent1">
                  <a:lumMod val="75000"/>
                </a:schemeClr>
              </a:solidFill>
            </a:endParaRPr>
          </a:p>
        </p:txBody>
      </p:sp>
      <p:sp>
        <p:nvSpPr>
          <p:cNvPr id="41" name="TextBox 40">
            <a:extLst>
              <a:ext uri="{FF2B5EF4-FFF2-40B4-BE49-F238E27FC236}">
                <a16:creationId xmlns:a16="http://schemas.microsoft.com/office/drawing/2014/main" id="{71719CAC-F9FB-D8C6-FDF9-606F06C63698}"/>
              </a:ext>
            </a:extLst>
          </p:cNvPr>
          <p:cNvSpPr txBox="1"/>
          <p:nvPr/>
        </p:nvSpPr>
        <p:spPr>
          <a:xfrm>
            <a:off x="731520" y="1188720"/>
            <a:ext cx="2560320" cy="365760"/>
          </a:xfrm>
          <a:prstGeom prst="rect">
            <a:avLst/>
          </a:prstGeom>
          <a:noFill/>
        </p:spPr>
        <p:txBody>
          <a:bodyPr wrap="square">
            <a:spAutoFit/>
          </a:bodyPr>
          <a:lstStyle/>
          <a:p>
            <a:pPr algn="l">
              <a:defRPr sz="1100" b="1">
                <a:solidFill>
                  <a:srgbClr val="007ACC"/>
                </a:solidFill>
                <a:latin typeface="Segoe UI"/>
              </a:defRPr>
            </a:pPr>
            <a:r>
              <a:t>Tool</a:t>
            </a:r>
          </a:p>
        </p:txBody>
      </p:sp>
      <p:sp>
        <p:nvSpPr>
          <p:cNvPr id="42" name="TextBox 41">
            <a:extLst>
              <a:ext uri="{FF2B5EF4-FFF2-40B4-BE49-F238E27FC236}">
                <a16:creationId xmlns:a16="http://schemas.microsoft.com/office/drawing/2014/main" id="{E0B6842E-B9F7-7709-6A3A-A17C1DA6F667}"/>
              </a:ext>
            </a:extLst>
          </p:cNvPr>
          <p:cNvSpPr txBox="1"/>
          <p:nvPr/>
        </p:nvSpPr>
        <p:spPr>
          <a:xfrm>
            <a:off x="3474720" y="1188720"/>
            <a:ext cx="2560320" cy="365760"/>
          </a:xfrm>
          <a:prstGeom prst="rect">
            <a:avLst/>
          </a:prstGeom>
          <a:noFill/>
        </p:spPr>
        <p:txBody>
          <a:bodyPr wrap="square">
            <a:spAutoFit/>
          </a:bodyPr>
          <a:lstStyle/>
          <a:p>
            <a:pPr algn="l">
              <a:defRPr sz="1100" b="1">
                <a:solidFill>
                  <a:srgbClr val="007ACC"/>
                </a:solidFill>
                <a:latin typeface="Segoe UI"/>
              </a:defRPr>
            </a:pPr>
            <a:r>
              <a:t>URL</a:t>
            </a:r>
          </a:p>
        </p:txBody>
      </p:sp>
      <p:sp>
        <p:nvSpPr>
          <p:cNvPr id="43" name="TextBox 42">
            <a:extLst>
              <a:ext uri="{FF2B5EF4-FFF2-40B4-BE49-F238E27FC236}">
                <a16:creationId xmlns:a16="http://schemas.microsoft.com/office/drawing/2014/main" id="{F6354F77-B0AA-495B-5FC9-191D717B638F}"/>
              </a:ext>
            </a:extLst>
          </p:cNvPr>
          <p:cNvSpPr txBox="1"/>
          <p:nvPr/>
        </p:nvSpPr>
        <p:spPr>
          <a:xfrm>
            <a:off x="6217920" y="1188720"/>
            <a:ext cx="2560320" cy="365760"/>
          </a:xfrm>
          <a:prstGeom prst="rect">
            <a:avLst/>
          </a:prstGeom>
          <a:noFill/>
        </p:spPr>
        <p:txBody>
          <a:bodyPr wrap="square">
            <a:spAutoFit/>
          </a:bodyPr>
          <a:lstStyle/>
          <a:p>
            <a:pPr algn="l">
              <a:defRPr sz="1100" b="1">
                <a:solidFill>
                  <a:srgbClr val="007ACC"/>
                </a:solidFill>
                <a:latin typeface="Segoe UI"/>
              </a:defRPr>
            </a:pPr>
            <a:r>
              <a:t>Category</a:t>
            </a:r>
          </a:p>
        </p:txBody>
      </p:sp>
      <p:sp>
        <p:nvSpPr>
          <p:cNvPr id="44" name="TextBox 43">
            <a:extLst>
              <a:ext uri="{FF2B5EF4-FFF2-40B4-BE49-F238E27FC236}">
                <a16:creationId xmlns:a16="http://schemas.microsoft.com/office/drawing/2014/main" id="{3363BC81-7C22-4226-58E4-E6713C9D3A46}"/>
              </a:ext>
            </a:extLst>
          </p:cNvPr>
          <p:cNvSpPr txBox="1"/>
          <p:nvPr/>
        </p:nvSpPr>
        <p:spPr>
          <a:xfrm>
            <a:off x="8961120" y="1188720"/>
            <a:ext cx="2560320" cy="365760"/>
          </a:xfrm>
          <a:prstGeom prst="rect">
            <a:avLst/>
          </a:prstGeom>
          <a:noFill/>
        </p:spPr>
        <p:txBody>
          <a:bodyPr wrap="square">
            <a:spAutoFit/>
          </a:bodyPr>
          <a:lstStyle/>
          <a:p>
            <a:pPr algn="l">
              <a:defRPr sz="1100" b="1">
                <a:solidFill>
                  <a:srgbClr val="007ACC"/>
                </a:solidFill>
                <a:latin typeface="Segoe UI"/>
              </a:defRPr>
            </a:pPr>
            <a:r>
              <a:t>Popularity</a:t>
            </a:r>
          </a:p>
        </p:txBody>
      </p:sp>
      <p:sp>
        <p:nvSpPr>
          <p:cNvPr id="45" name="TextBox 44">
            <a:extLst>
              <a:ext uri="{FF2B5EF4-FFF2-40B4-BE49-F238E27FC236}">
                <a16:creationId xmlns:a16="http://schemas.microsoft.com/office/drawing/2014/main" id="{7C6D68BC-BB34-B47E-ABEA-7A8450528C82}"/>
              </a:ext>
            </a:extLst>
          </p:cNvPr>
          <p:cNvSpPr txBox="1"/>
          <p:nvPr/>
        </p:nvSpPr>
        <p:spPr>
          <a:xfrm>
            <a:off x="731520" y="1737360"/>
            <a:ext cx="2560320" cy="365760"/>
          </a:xfrm>
          <a:prstGeom prst="rect">
            <a:avLst/>
          </a:prstGeom>
          <a:noFill/>
        </p:spPr>
        <p:txBody>
          <a:bodyPr wrap="square">
            <a:spAutoFit/>
          </a:bodyPr>
          <a:lstStyle/>
          <a:p>
            <a:pPr algn="l">
              <a:defRPr sz="1200" b="0">
                <a:solidFill>
                  <a:srgbClr val="007ACC"/>
                </a:solidFill>
                <a:latin typeface="Segoe UI"/>
              </a:defRPr>
            </a:pPr>
            <a:r>
              <a:t>OSSEC</a:t>
            </a:r>
          </a:p>
        </p:txBody>
      </p:sp>
      <p:sp>
        <p:nvSpPr>
          <p:cNvPr id="46" name="TextBox 45">
            <a:extLst>
              <a:ext uri="{FF2B5EF4-FFF2-40B4-BE49-F238E27FC236}">
                <a16:creationId xmlns:a16="http://schemas.microsoft.com/office/drawing/2014/main" id="{02C2D6C4-E253-C644-2CBA-CBD044A4101A}"/>
              </a:ext>
            </a:extLst>
          </p:cNvPr>
          <p:cNvSpPr txBox="1"/>
          <p:nvPr/>
        </p:nvSpPr>
        <p:spPr>
          <a:xfrm>
            <a:off x="3474720" y="1737360"/>
            <a:ext cx="2560320" cy="365760"/>
          </a:xfrm>
          <a:prstGeom prst="rect">
            <a:avLst/>
          </a:prstGeom>
          <a:noFill/>
        </p:spPr>
        <p:txBody>
          <a:bodyPr wrap="square">
            <a:spAutoFit/>
          </a:bodyPr>
          <a:lstStyle/>
          <a:p>
            <a:pPr algn="l">
              <a:defRPr sz="1200" b="0">
                <a:solidFill>
                  <a:srgbClr val="008A4E"/>
                </a:solidFill>
                <a:latin typeface="Segoe UI"/>
              </a:defRPr>
            </a:pPr>
            <a:r>
              <a:t>ossec.net</a:t>
            </a:r>
          </a:p>
        </p:txBody>
      </p:sp>
      <p:sp>
        <p:nvSpPr>
          <p:cNvPr id="47" name="TextBox 46">
            <a:extLst>
              <a:ext uri="{FF2B5EF4-FFF2-40B4-BE49-F238E27FC236}">
                <a16:creationId xmlns:a16="http://schemas.microsoft.com/office/drawing/2014/main" id="{E0A50A17-86BE-DBDA-4F37-B38DB9B8081A}"/>
              </a:ext>
            </a:extLst>
          </p:cNvPr>
          <p:cNvSpPr txBox="1"/>
          <p:nvPr/>
        </p:nvSpPr>
        <p:spPr>
          <a:xfrm>
            <a:off x="6217920" y="1737360"/>
            <a:ext cx="2560320" cy="365760"/>
          </a:xfrm>
          <a:prstGeom prst="rect">
            <a:avLst/>
          </a:prstGeom>
          <a:noFill/>
        </p:spPr>
        <p:txBody>
          <a:bodyPr wrap="square">
            <a:spAutoFit/>
          </a:bodyPr>
          <a:lstStyle/>
          <a:p>
            <a:pPr algn="l">
              <a:defRPr sz="1200" b="0">
                <a:solidFill>
                  <a:srgbClr val="1A1A2E"/>
                </a:solidFill>
                <a:latin typeface="Segoe UI"/>
              </a:defRPr>
            </a:pPr>
            <a:r>
              <a:t>Open-source HIDS+FIM</a:t>
            </a:r>
          </a:p>
        </p:txBody>
      </p:sp>
      <p:sp>
        <p:nvSpPr>
          <p:cNvPr id="48" name="TextBox 47">
            <a:extLst>
              <a:ext uri="{FF2B5EF4-FFF2-40B4-BE49-F238E27FC236}">
                <a16:creationId xmlns:a16="http://schemas.microsoft.com/office/drawing/2014/main" id="{1575B61F-0E61-6305-10E5-4875F8B0E89E}"/>
              </a:ext>
            </a:extLst>
          </p:cNvPr>
          <p:cNvSpPr txBox="1"/>
          <p:nvPr/>
        </p:nvSpPr>
        <p:spPr>
          <a:xfrm>
            <a:off x="8961120" y="1737360"/>
            <a:ext cx="2560320" cy="365760"/>
          </a:xfrm>
          <a:prstGeom prst="rect">
            <a:avLst/>
          </a:prstGeom>
          <a:noFill/>
        </p:spPr>
        <p:txBody>
          <a:bodyPr wrap="square">
            <a:spAutoFit/>
          </a:bodyPr>
          <a:lstStyle/>
          <a:p>
            <a:pPr algn="l">
              <a:defRPr sz="1200" b="0">
                <a:solidFill>
                  <a:srgbClr val="555E70"/>
                </a:solidFill>
                <a:latin typeface="Segoe UI"/>
              </a:defRPr>
            </a:pPr>
            <a:r>
              <a:t>10k+ GitHub stars</a:t>
            </a:r>
          </a:p>
        </p:txBody>
      </p:sp>
      <p:sp>
        <p:nvSpPr>
          <p:cNvPr id="49" name="Rectangle 48">
            <a:extLst>
              <a:ext uri="{FF2B5EF4-FFF2-40B4-BE49-F238E27FC236}">
                <a16:creationId xmlns:a16="http://schemas.microsoft.com/office/drawing/2014/main" id="{E4F36397-AF28-063A-C057-259F69B3E9F9}"/>
              </a:ext>
            </a:extLst>
          </p:cNvPr>
          <p:cNvSpPr/>
          <p:nvPr/>
        </p:nvSpPr>
        <p:spPr>
          <a:xfrm>
            <a:off x="731520" y="2194560"/>
            <a:ext cx="10515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a:extLst>
              <a:ext uri="{FF2B5EF4-FFF2-40B4-BE49-F238E27FC236}">
                <a16:creationId xmlns:a16="http://schemas.microsoft.com/office/drawing/2014/main" id="{74897E4B-882B-8A94-C1C4-26E512719E23}"/>
              </a:ext>
            </a:extLst>
          </p:cNvPr>
          <p:cNvSpPr txBox="1"/>
          <p:nvPr/>
        </p:nvSpPr>
        <p:spPr>
          <a:xfrm>
            <a:off x="731520" y="2286000"/>
            <a:ext cx="2560320" cy="365760"/>
          </a:xfrm>
          <a:prstGeom prst="rect">
            <a:avLst/>
          </a:prstGeom>
          <a:noFill/>
        </p:spPr>
        <p:txBody>
          <a:bodyPr wrap="square">
            <a:spAutoFit/>
          </a:bodyPr>
          <a:lstStyle/>
          <a:p>
            <a:pPr algn="l">
              <a:defRPr sz="1200" b="0">
                <a:solidFill>
                  <a:srgbClr val="007ACC"/>
                </a:solidFill>
                <a:latin typeface="Segoe UI"/>
              </a:defRPr>
            </a:pPr>
            <a:r>
              <a:t>Tripwire</a:t>
            </a:r>
          </a:p>
        </p:txBody>
      </p:sp>
      <p:sp>
        <p:nvSpPr>
          <p:cNvPr id="51" name="TextBox 50">
            <a:extLst>
              <a:ext uri="{FF2B5EF4-FFF2-40B4-BE49-F238E27FC236}">
                <a16:creationId xmlns:a16="http://schemas.microsoft.com/office/drawing/2014/main" id="{D1EFFB17-04C4-D068-31BA-75FB9DBD9DCE}"/>
              </a:ext>
            </a:extLst>
          </p:cNvPr>
          <p:cNvSpPr txBox="1"/>
          <p:nvPr/>
        </p:nvSpPr>
        <p:spPr>
          <a:xfrm>
            <a:off x="3474720" y="2286000"/>
            <a:ext cx="2560320" cy="365760"/>
          </a:xfrm>
          <a:prstGeom prst="rect">
            <a:avLst/>
          </a:prstGeom>
          <a:noFill/>
        </p:spPr>
        <p:txBody>
          <a:bodyPr wrap="square">
            <a:spAutoFit/>
          </a:bodyPr>
          <a:lstStyle/>
          <a:p>
            <a:pPr algn="l">
              <a:defRPr sz="1200" b="0">
                <a:solidFill>
                  <a:srgbClr val="008A4E"/>
                </a:solidFill>
                <a:latin typeface="Segoe UI"/>
              </a:defRPr>
            </a:pPr>
            <a:r>
              <a:t>tripwire.com</a:t>
            </a:r>
          </a:p>
        </p:txBody>
      </p:sp>
      <p:sp>
        <p:nvSpPr>
          <p:cNvPr id="52" name="TextBox 51">
            <a:extLst>
              <a:ext uri="{FF2B5EF4-FFF2-40B4-BE49-F238E27FC236}">
                <a16:creationId xmlns:a16="http://schemas.microsoft.com/office/drawing/2014/main" id="{FAEAADC5-88E0-85FF-D1D5-4E42DFC82FAF}"/>
              </a:ext>
            </a:extLst>
          </p:cNvPr>
          <p:cNvSpPr txBox="1"/>
          <p:nvPr/>
        </p:nvSpPr>
        <p:spPr>
          <a:xfrm>
            <a:off x="6217920" y="2286000"/>
            <a:ext cx="2560320" cy="365760"/>
          </a:xfrm>
          <a:prstGeom prst="rect">
            <a:avLst/>
          </a:prstGeom>
          <a:noFill/>
        </p:spPr>
        <p:txBody>
          <a:bodyPr wrap="square">
            <a:spAutoFit/>
          </a:bodyPr>
          <a:lstStyle/>
          <a:p>
            <a:pPr algn="l">
              <a:defRPr sz="1200" b="0">
                <a:solidFill>
                  <a:srgbClr val="1A1A2E"/>
                </a:solidFill>
                <a:latin typeface="Segoe UI"/>
              </a:defRPr>
            </a:pPr>
            <a:r>
              <a:t>Commercial FIM</a:t>
            </a:r>
          </a:p>
        </p:txBody>
      </p:sp>
      <p:sp>
        <p:nvSpPr>
          <p:cNvPr id="53" name="TextBox 52">
            <a:extLst>
              <a:ext uri="{FF2B5EF4-FFF2-40B4-BE49-F238E27FC236}">
                <a16:creationId xmlns:a16="http://schemas.microsoft.com/office/drawing/2014/main" id="{D44684C2-5DF6-BF42-DAA4-B592ACA3A9EC}"/>
              </a:ext>
            </a:extLst>
          </p:cNvPr>
          <p:cNvSpPr txBox="1"/>
          <p:nvPr/>
        </p:nvSpPr>
        <p:spPr>
          <a:xfrm>
            <a:off x="8961120" y="2286000"/>
            <a:ext cx="2560320" cy="365760"/>
          </a:xfrm>
          <a:prstGeom prst="rect">
            <a:avLst/>
          </a:prstGeom>
          <a:noFill/>
        </p:spPr>
        <p:txBody>
          <a:bodyPr wrap="square">
            <a:spAutoFit/>
          </a:bodyPr>
          <a:lstStyle/>
          <a:p>
            <a:pPr algn="l">
              <a:defRPr sz="1200" b="0">
                <a:solidFill>
                  <a:srgbClr val="555E70"/>
                </a:solidFill>
                <a:latin typeface="Segoe UI"/>
              </a:defRPr>
            </a:pPr>
            <a:r>
              <a:t>Fortune 500 standard</a:t>
            </a:r>
          </a:p>
        </p:txBody>
      </p:sp>
      <p:sp>
        <p:nvSpPr>
          <p:cNvPr id="54" name="Rectangle 53">
            <a:extLst>
              <a:ext uri="{FF2B5EF4-FFF2-40B4-BE49-F238E27FC236}">
                <a16:creationId xmlns:a16="http://schemas.microsoft.com/office/drawing/2014/main" id="{496D244F-3F4C-C703-BF65-4BC1FB61E250}"/>
              </a:ext>
            </a:extLst>
          </p:cNvPr>
          <p:cNvSpPr/>
          <p:nvPr/>
        </p:nvSpPr>
        <p:spPr>
          <a:xfrm>
            <a:off x="731520" y="2743200"/>
            <a:ext cx="10515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9DC7E72A-F25F-359F-5DB5-A5156186AAF5}"/>
              </a:ext>
            </a:extLst>
          </p:cNvPr>
          <p:cNvSpPr txBox="1"/>
          <p:nvPr/>
        </p:nvSpPr>
        <p:spPr>
          <a:xfrm>
            <a:off x="731520" y="2834639"/>
            <a:ext cx="2560320" cy="365760"/>
          </a:xfrm>
          <a:prstGeom prst="rect">
            <a:avLst/>
          </a:prstGeom>
          <a:noFill/>
        </p:spPr>
        <p:txBody>
          <a:bodyPr wrap="square">
            <a:spAutoFit/>
          </a:bodyPr>
          <a:lstStyle/>
          <a:p>
            <a:pPr algn="l">
              <a:defRPr sz="1200" b="0">
                <a:solidFill>
                  <a:srgbClr val="007ACC"/>
                </a:solidFill>
                <a:latin typeface="Segoe UI"/>
              </a:defRPr>
            </a:pPr>
            <a:r>
              <a:t>Wazuh</a:t>
            </a:r>
          </a:p>
        </p:txBody>
      </p:sp>
      <p:sp>
        <p:nvSpPr>
          <p:cNvPr id="56" name="TextBox 55">
            <a:extLst>
              <a:ext uri="{FF2B5EF4-FFF2-40B4-BE49-F238E27FC236}">
                <a16:creationId xmlns:a16="http://schemas.microsoft.com/office/drawing/2014/main" id="{3FCAFA23-E424-3F94-B386-7CFDBCB0CE34}"/>
              </a:ext>
            </a:extLst>
          </p:cNvPr>
          <p:cNvSpPr txBox="1"/>
          <p:nvPr/>
        </p:nvSpPr>
        <p:spPr>
          <a:xfrm>
            <a:off x="3474720" y="2834639"/>
            <a:ext cx="2560320" cy="365760"/>
          </a:xfrm>
          <a:prstGeom prst="rect">
            <a:avLst/>
          </a:prstGeom>
          <a:noFill/>
        </p:spPr>
        <p:txBody>
          <a:bodyPr wrap="square">
            <a:spAutoFit/>
          </a:bodyPr>
          <a:lstStyle/>
          <a:p>
            <a:pPr algn="l">
              <a:defRPr sz="1200" b="0">
                <a:solidFill>
                  <a:srgbClr val="008A4E"/>
                </a:solidFill>
                <a:latin typeface="Segoe UI"/>
              </a:defRPr>
            </a:pPr>
            <a:r>
              <a:t>wazuh.com</a:t>
            </a:r>
          </a:p>
        </p:txBody>
      </p:sp>
      <p:sp>
        <p:nvSpPr>
          <p:cNvPr id="57" name="TextBox 56">
            <a:extLst>
              <a:ext uri="{FF2B5EF4-FFF2-40B4-BE49-F238E27FC236}">
                <a16:creationId xmlns:a16="http://schemas.microsoft.com/office/drawing/2014/main" id="{73464D8E-0D56-C873-E1A6-E312ED68910B}"/>
              </a:ext>
            </a:extLst>
          </p:cNvPr>
          <p:cNvSpPr txBox="1"/>
          <p:nvPr/>
        </p:nvSpPr>
        <p:spPr>
          <a:xfrm>
            <a:off x="6217920" y="2834639"/>
            <a:ext cx="2560320" cy="365760"/>
          </a:xfrm>
          <a:prstGeom prst="rect">
            <a:avLst/>
          </a:prstGeom>
          <a:noFill/>
        </p:spPr>
        <p:txBody>
          <a:bodyPr wrap="square">
            <a:spAutoFit/>
          </a:bodyPr>
          <a:lstStyle/>
          <a:p>
            <a:pPr algn="l">
              <a:defRPr sz="1200" b="0">
                <a:solidFill>
                  <a:srgbClr val="1A1A2E"/>
                </a:solidFill>
                <a:latin typeface="Segoe UI"/>
              </a:defRPr>
            </a:pPr>
            <a:r>
              <a:t>Open-source SIEM+FIM</a:t>
            </a:r>
          </a:p>
        </p:txBody>
      </p:sp>
      <p:sp>
        <p:nvSpPr>
          <p:cNvPr id="58" name="TextBox 57">
            <a:extLst>
              <a:ext uri="{FF2B5EF4-FFF2-40B4-BE49-F238E27FC236}">
                <a16:creationId xmlns:a16="http://schemas.microsoft.com/office/drawing/2014/main" id="{FC8DA905-682C-03ED-7D9C-71ABE5039BB1}"/>
              </a:ext>
            </a:extLst>
          </p:cNvPr>
          <p:cNvSpPr txBox="1"/>
          <p:nvPr/>
        </p:nvSpPr>
        <p:spPr>
          <a:xfrm>
            <a:off x="8961120" y="2834639"/>
            <a:ext cx="2560320" cy="365760"/>
          </a:xfrm>
          <a:prstGeom prst="rect">
            <a:avLst/>
          </a:prstGeom>
          <a:noFill/>
        </p:spPr>
        <p:txBody>
          <a:bodyPr wrap="square">
            <a:spAutoFit/>
          </a:bodyPr>
          <a:lstStyle/>
          <a:p>
            <a:pPr algn="l">
              <a:defRPr sz="1200" b="0">
                <a:solidFill>
                  <a:srgbClr val="555E70"/>
                </a:solidFill>
                <a:latin typeface="Segoe UI"/>
              </a:defRPr>
            </a:pPr>
            <a:r>
              <a:t>30k+ GitHub stars</a:t>
            </a:r>
          </a:p>
        </p:txBody>
      </p:sp>
      <p:sp>
        <p:nvSpPr>
          <p:cNvPr id="59" name="Rectangle 58">
            <a:extLst>
              <a:ext uri="{FF2B5EF4-FFF2-40B4-BE49-F238E27FC236}">
                <a16:creationId xmlns:a16="http://schemas.microsoft.com/office/drawing/2014/main" id="{C1F1B633-04F7-F638-70D7-7FEA153A65F3}"/>
              </a:ext>
            </a:extLst>
          </p:cNvPr>
          <p:cNvSpPr/>
          <p:nvPr/>
        </p:nvSpPr>
        <p:spPr>
          <a:xfrm>
            <a:off x="731520" y="3291839"/>
            <a:ext cx="10515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extLst>
              <a:ext uri="{FF2B5EF4-FFF2-40B4-BE49-F238E27FC236}">
                <a16:creationId xmlns:a16="http://schemas.microsoft.com/office/drawing/2014/main" id="{D4BDCE96-0BB1-13DD-0F96-98FE013D7874}"/>
              </a:ext>
            </a:extLst>
          </p:cNvPr>
          <p:cNvSpPr txBox="1"/>
          <p:nvPr/>
        </p:nvSpPr>
        <p:spPr>
          <a:xfrm>
            <a:off x="731520" y="3383280"/>
            <a:ext cx="2560320" cy="365760"/>
          </a:xfrm>
          <a:prstGeom prst="rect">
            <a:avLst/>
          </a:prstGeom>
          <a:noFill/>
        </p:spPr>
        <p:txBody>
          <a:bodyPr wrap="square">
            <a:spAutoFit/>
          </a:bodyPr>
          <a:lstStyle/>
          <a:p>
            <a:pPr algn="l">
              <a:defRPr sz="1200" b="0">
                <a:solidFill>
                  <a:srgbClr val="007ACC"/>
                </a:solidFill>
                <a:latin typeface="Segoe UI"/>
              </a:defRPr>
            </a:pPr>
            <a:r>
              <a:t>SolarWinds SEM</a:t>
            </a:r>
          </a:p>
        </p:txBody>
      </p:sp>
      <p:sp>
        <p:nvSpPr>
          <p:cNvPr id="61" name="TextBox 60">
            <a:extLst>
              <a:ext uri="{FF2B5EF4-FFF2-40B4-BE49-F238E27FC236}">
                <a16:creationId xmlns:a16="http://schemas.microsoft.com/office/drawing/2014/main" id="{56C2F465-AEF4-5A8C-6EC6-3E1310A09F71}"/>
              </a:ext>
            </a:extLst>
          </p:cNvPr>
          <p:cNvSpPr txBox="1"/>
          <p:nvPr/>
        </p:nvSpPr>
        <p:spPr>
          <a:xfrm>
            <a:off x="3474720" y="3383280"/>
            <a:ext cx="2560320" cy="365760"/>
          </a:xfrm>
          <a:prstGeom prst="rect">
            <a:avLst/>
          </a:prstGeom>
          <a:noFill/>
        </p:spPr>
        <p:txBody>
          <a:bodyPr wrap="square">
            <a:spAutoFit/>
          </a:bodyPr>
          <a:lstStyle/>
          <a:p>
            <a:pPr algn="l">
              <a:defRPr sz="1200" b="0">
                <a:solidFill>
                  <a:srgbClr val="008A4E"/>
                </a:solidFill>
                <a:latin typeface="Segoe UI"/>
              </a:defRPr>
            </a:pPr>
            <a:r>
              <a:t>solarwinds.com</a:t>
            </a:r>
          </a:p>
        </p:txBody>
      </p:sp>
      <p:sp>
        <p:nvSpPr>
          <p:cNvPr id="62" name="TextBox 61">
            <a:extLst>
              <a:ext uri="{FF2B5EF4-FFF2-40B4-BE49-F238E27FC236}">
                <a16:creationId xmlns:a16="http://schemas.microsoft.com/office/drawing/2014/main" id="{9E38B47E-2B81-E6C4-E54B-CA1B6BC43478}"/>
              </a:ext>
            </a:extLst>
          </p:cNvPr>
          <p:cNvSpPr txBox="1"/>
          <p:nvPr/>
        </p:nvSpPr>
        <p:spPr>
          <a:xfrm>
            <a:off x="6217920" y="3383280"/>
            <a:ext cx="2560320" cy="365760"/>
          </a:xfrm>
          <a:prstGeom prst="rect">
            <a:avLst/>
          </a:prstGeom>
          <a:noFill/>
        </p:spPr>
        <p:txBody>
          <a:bodyPr wrap="square">
            <a:spAutoFit/>
          </a:bodyPr>
          <a:lstStyle/>
          <a:p>
            <a:pPr algn="l">
              <a:defRPr sz="1200" b="0">
                <a:solidFill>
                  <a:srgbClr val="1A1A2E"/>
                </a:solidFill>
                <a:latin typeface="Segoe UI"/>
              </a:defRPr>
            </a:pPr>
            <a:r>
              <a:t>Commercial SIEM+FIM</a:t>
            </a:r>
          </a:p>
        </p:txBody>
      </p:sp>
      <p:sp>
        <p:nvSpPr>
          <p:cNvPr id="63" name="TextBox 62">
            <a:extLst>
              <a:ext uri="{FF2B5EF4-FFF2-40B4-BE49-F238E27FC236}">
                <a16:creationId xmlns:a16="http://schemas.microsoft.com/office/drawing/2014/main" id="{BF7C3221-3B7A-3A26-94B8-EFE323EBA976}"/>
              </a:ext>
            </a:extLst>
          </p:cNvPr>
          <p:cNvSpPr txBox="1"/>
          <p:nvPr/>
        </p:nvSpPr>
        <p:spPr>
          <a:xfrm>
            <a:off x="8961120" y="3383280"/>
            <a:ext cx="2560320" cy="365760"/>
          </a:xfrm>
          <a:prstGeom prst="rect">
            <a:avLst/>
          </a:prstGeom>
          <a:noFill/>
        </p:spPr>
        <p:txBody>
          <a:bodyPr wrap="square">
            <a:spAutoFit/>
          </a:bodyPr>
          <a:lstStyle/>
          <a:p>
            <a:pPr algn="l">
              <a:defRPr sz="1200" b="0">
                <a:solidFill>
                  <a:srgbClr val="555E70"/>
                </a:solidFill>
                <a:latin typeface="Segoe UI"/>
              </a:defRPr>
            </a:pPr>
            <a:r>
              <a:t>Gartner Leader</a:t>
            </a:r>
          </a:p>
        </p:txBody>
      </p:sp>
      <p:sp>
        <p:nvSpPr>
          <p:cNvPr id="64" name="Rectangle 63">
            <a:extLst>
              <a:ext uri="{FF2B5EF4-FFF2-40B4-BE49-F238E27FC236}">
                <a16:creationId xmlns:a16="http://schemas.microsoft.com/office/drawing/2014/main" id="{5443CE10-51B2-E953-CD6C-F1F9E4D13F60}"/>
              </a:ext>
            </a:extLst>
          </p:cNvPr>
          <p:cNvSpPr/>
          <p:nvPr/>
        </p:nvSpPr>
        <p:spPr>
          <a:xfrm>
            <a:off x="731520" y="3840480"/>
            <a:ext cx="10515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D81057E3-B548-2C54-5C59-E86604DF743A}"/>
              </a:ext>
            </a:extLst>
          </p:cNvPr>
          <p:cNvSpPr txBox="1"/>
          <p:nvPr/>
        </p:nvSpPr>
        <p:spPr>
          <a:xfrm>
            <a:off x="731520" y="3931920"/>
            <a:ext cx="2560320" cy="365760"/>
          </a:xfrm>
          <a:prstGeom prst="rect">
            <a:avLst/>
          </a:prstGeom>
          <a:noFill/>
        </p:spPr>
        <p:txBody>
          <a:bodyPr wrap="square">
            <a:spAutoFit/>
          </a:bodyPr>
          <a:lstStyle/>
          <a:p>
            <a:pPr algn="l">
              <a:defRPr sz="1200" b="0">
                <a:solidFill>
                  <a:srgbClr val="007ACC"/>
                </a:solidFill>
                <a:latin typeface="Segoe UI"/>
              </a:defRPr>
            </a:pPr>
            <a:r>
              <a:t>AIDE</a:t>
            </a:r>
          </a:p>
        </p:txBody>
      </p:sp>
      <p:sp>
        <p:nvSpPr>
          <p:cNvPr id="66" name="TextBox 65">
            <a:extLst>
              <a:ext uri="{FF2B5EF4-FFF2-40B4-BE49-F238E27FC236}">
                <a16:creationId xmlns:a16="http://schemas.microsoft.com/office/drawing/2014/main" id="{A3535FD7-A90F-F19A-44E1-A07451EE418F}"/>
              </a:ext>
            </a:extLst>
          </p:cNvPr>
          <p:cNvSpPr txBox="1"/>
          <p:nvPr/>
        </p:nvSpPr>
        <p:spPr>
          <a:xfrm>
            <a:off x="3474720" y="3931920"/>
            <a:ext cx="2560320" cy="365760"/>
          </a:xfrm>
          <a:prstGeom prst="rect">
            <a:avLst/>
          </a:prstGeom>
          <a:noFill/>
        </p:spPr>
        <p:txBody>
          <a:bodyPr wrap="square">
            <a:spAutoFit/>
          </a:bodyPr>
          <a:lstStyle/>
          <a:p>
            <a:pPr algn="l">
              <a:defRPr sz="1200" b="0">
                <a:solidFill>
                  <a:srgbClr val="008A4E"/>
                </a:solidFill>
                <a:latin typeface="Segoe UI"/>
              </a:defRPr>
            </a:pPr>
            <a:r>
              <a:t>aide.github.io</a:t>
            </a:r>
          </a:p>
        </p:txBody>
      </p:sp>
      <p:sp>
        <p:nvSpPr>
          <p:cNvPr id="67" name="TextBox 66">
            <a:extLst>
              <a:ext uri="{FF2B5EF4-FFF2-40B4-BE49-F238E27FC236}">
                <a16:creationId xmlns:a16="http://schemas.microsoft.com/office/drawing/2014/main" id="{0DC824AA-2BFE-098D-2021-5B1582AD77D9}"/>
              </a:ext>
            </a:extLst>
          </p:cNvPr>
          <p:cNvSpPr txBox="1"/>
          <p:nvPr/>
        </p:nvSpPr>
        <p:spPr>
          <a:xfrm>
            <a:off x="6217920" y="3931920"/>
            <a:ext cx="2560320" cy="365760"/>
          </a:xfrm>
          <a:prstGeom prst="rect">
            <a:avLst/>
          </a:prstGeom>
          <a:noFill/>
        </p:spPr>
        <p:txBody>
          <a:bodyPr wrap="square">
            <a:spAutoFit/>
          </a:bodyPr>
          <a:lstStyle/>
          <a:p>
            <a:pPr algn="l">
              <a:defRPr sz="1200" b="0">
                <a:solidFill>
                  <a:srgbClr val="1A1A2E"/>
                </a:solidFill>
                <a:latin typeface="Segoe UI"/>
              </a:defRPr>
            </a:pPr>
            <a:r>
              <a:t>Open-source FIM</a:t>
            </a:r>
          </a:p>
        </p:txBody>
      </p:sp>
      <p:sp>
        <p:nvSpPr>
          <p:cNvPr id="68" name="TextBox 67">
            <a:extLst>
              <a:ext uri="{FF2B5EF4-FFF2-40B4-BE49-F238E27FC236}">
                <a16:creationId xmlns:a16="http://schemas.microsoft.com/office/drawing/2014/main" id="{82195A15-335A-B233-514D-34EF5322B846}"/>
              </a:ext>
            </a:extLst>
          </p:cNvPr>
          <p:cNvSpPr txBox="1"/>
          <p:nvPr/>
        </p:nvSpPr>
        <p:spPr>
          <a:xfrm>
            <a:off x="8961120" y="3931920"/>
            <a:ext cx="2560320" cy="365760"/>
          </a:xfrm>
          <a:prstGeom prst="rect">
            <a:avLst/>
          </a:prstGeom>
          <a:noFill/>
        </p:spPr>
        <p:txBody>
          <a:bodyPr wrap="square">
            <a:spAutoFit/>
          </a:bodyPr>
          <a:lstStyle/>
          <a:p>
            <a:pPr algn="l">
              <a:defRPr sz="1200" b="0">
                <a:solidFill>
                  <a:srgbClr val="555E70"/>
                </a:solidFill>
                <a:latin typeface="Segoe UI"/>
              </a:defRPr>
            </a:pPr>
            <a:r>
              <a:t>Linux standard</a:t>
            </a:r>
          </a:p>
        </p:txBody>
      </p:sp>
      <p:sp>
        <p:nvSpPr>
          <p:cNvPr id="69" name="Rectangle 68">
            <a:extLst>
              <a:ext uri="{FF2B5EF4-FFF2-40B4-BE49-F238E27FC236}">
                <a16:creationId xmlns:a16="http://schemas.microsoft.com/office/drawing/2014/main" id="{C4D2B44E-2858-A429-890A-FC3ED4049AFC}"/>
              </a:ext>
            </a:extLst>
          </p:cNvPr>
          <p:cNvSpPr/>
          <p:nvPr/>
        </p:nvSpPr>
        <p:spPr>
          <a:xfrm>
            <a:off x="731520" y="4389120"/>
            <a:ext cx="10515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a:extLst>
              <a:ext uri="{FF2B5EF4-FFF2-40B4-BE49-F238E27FC236}">
                <a16:creationId xmlns:a16="http://schemas.microsoft.com/office/drawing/2014/main" id="{F2ABE68E-AFDF-E8C2-0780-03AB1F9AF325}"/>
              </a:ext>
            </a:extLst>
          </p:cNvPr>
          <p:cNvSpPr txBox="1"/>
          <p:nvPr/>
        </p:nvSpPr>
        <p:spPr>
          <a:xfrm>
            <a:off x="731520" y="4480559"/>
            <a:ext cx="2560320" cy="365760"/>
          </a:xfrm>
          <a:prstGeom prst="rect">
            <a:avLst/>
          </a:prstGeom>
          <a:noFill/>
        </p:spPr>
        <p:txBody>
          <a:bodyPr wrap="square">
            <a:spAutoFit/>
          </a:bodyPr>
          <a:lstStyle/>
          <a:p>
            <a:pPr algn="l">
              <a:defRPr sz="1200" b="0">
                <a:solidFill>
                  <a:srgbClr val="007ACC"/>
                </a:solidFill>
                <a:latin typeface="Segoe UI"/>
              </a:defRPr>
            </a:pPr>
            <a:r>
              <a:t>Qualys FIM</a:t>
            </a:r>
          </a:p>
        </p:txBody>
      </p:sp>
      <p:sp>
        <p:nvSpPr>
          <p:cNvPr id="71" name="TextBox 70">
            <a:extLst>
              <a:ext uri="{FF2B5EF4-FFF2-40B4-BE49-F238E27FC236}">
                <a16:creationId xmlns:a16="http://schemas.microsoft.com/office/drawing/2014/main" id="{2523903B-1511-AB15-1D9C-46BDF5B96364}"/>
              </a:ext>
            </a:extLst>
          </p:cNvPr>
          <p:cNvSpPr txBox="1"/>
          <p:nvPr/>
        </p:nvSpPr>
        <p:spPr>
          <a:xfrm>
            <a:off x="3474720" y="4480559"/>
            <a:ext cx="2560320" cy="365760"/>
          </a:xfrm>
          <a:prstGeom prst="rect">
            <a:avLst/>
          </a:prstGeom>
          <a:noFill/>
        </p:spPr>
        <p:txBody>
          <a:bodyPr wrap="square">
            <a:spAutoFit/>
          </a:bodyPr>
          <a:lstStyle/>
          <a:p>
            <a:pPr algn="l">
              <a:defRPr sz="1200" b="0">
                <a:solidFill>
                  <a:srgbClr val="008A4E"/>
                </a:solidFill>
                <a:latin typeface="Segoe UI"/>
              </a:defRPr>
            </a:pPr>
            <a:r>
              <a:t>qualys.com</a:t>
            </a:r>
          </a:p>
        </p:txBody>
      </p:sp>
      <p:sp>
        <p:nvSpPr>
          <p:cNvPr id="72" name="TextBox 71">
            <a:extLst>
              <a:ext uri="{FF2B5EF4-FFF2-40B4-BE49-F238E27FC236}">
                <a16:creationId xmlns:a16="http://schemas.microsoft.com/office/drawing/2014/main" id="{4A1FD6BE-7AB2-8F70-9FAE-7131035CAFCA}"/>
              </a:ext>
            </a:extLst>
          </p:cNvPr>
          <p:cNvSpPr txBox="1"/>
          <p:nvPr/>
        </p:nvSpPr>
        <p:spPr>
          <a:xfrm>
            <a:off x="6217920" y="4480559"/>
            <a:ext cx="2560320" cy="365760"/>
          </a:xfrm>
          <a:prstGeom prst="rect">
            <a:avLst/>
          </a:prstGeom>
          <a:noFill/>
        </p:spPr>
        <p:txBody>
          <a:bodyPr wrap="square">
            <a:spAutoFit/>
          </a:bodyPr>
          <a:lstStyle/>
          <a:p>
            <a:pPr algn="l">
              <a:defRPr sz="1200" b="0">
                <a:solidFill>
                  <a:srgbClr val="1A1A2E"/>
                </a:solidFill>
                <a:latin typeface="Segoe UI"/>
              </a:defRPr>
            </a:pPr>
            <a:r>
              <a:t>Cloud FIM</a:t>
            </a:r>
          </a:p>
        </p:txBody>
      </p:sp>
      <p:sp>
        <p:nvSpPr>
          <p:cNvPr id="73" name="TextBox 72">
            <a:extLst>
              <a:ext uri="{FF2B5EF4-FFF2-40B4-BE49-F238E27FC236}">
                <a16:creationId xmlns:a16="http://schemas.microsoft.com/office/drawing/2014/main" id="{75EDD3D6-E670-FD3A-72E2-60FD2B7DD034}"/>
              </a:ext>
            </a:extLst>
          </p:cNvPr>
          <p:cNvSpPr txBox="1"/>
          <p:nvPr/>
        </p:nvSpPr>
        <p:spPr>
          <a:xfrm>
            <a:off x="8961120" y="4480559"/>
            <a:ext cx="2560320" cy="365760"/>
          </a:xfrm>
          <a:prstGeom prst="rect">
            <a:avLst/>
          </a:prstGeom>
          <a:noFill/>
        </p:spPr>
        <p:txBody>
          <a:bodyPr wrap="square">
            <a:spAutoFit/>
          </a:bodyPr>
          <a:lstStyle/>
          <a:p>
            <a:pPr algn="l">
              <a:defRPr sz="1200" b="0">
                <a:solidFill>
                  <a:srgbClr val="555E70"/>
                </a:solidFill>
                <a:latin typeface="Segoe UI"/>
              </a:defRPr>
            </a:pPr>
            <a:r>
              <a:t>19k+ enterprises</a:t>
            </a:r>
          </a:p>
        </p:txBody>
      </p:sp>
      <p:sp>
        <p:nvSpPr>
          <p:cNvPr id="74" name="Rectangle 73">
            <a:extLst>
              <a:ext uri="{FF2B5EF4-FFF2-40B4-BE49-F238E27FC236}">
                <a16:creationId xmlns:a16="http://schemas.microsoft.com/office/drawing/2014/main" id="{FD011FD2-890A-166A-2F74-C9CF38FF0CD0}"/>
              </a:ext>
            </a:extLst>
          </p:cNvPr>
          <p:cNvSpPr/>
          <p:nvPr/>
        </p:nvSpPr>
        <p:spPr>
          <a:xfrm>
            <a:off x="731520" y="4937759"/>
            <a:ext cx="10515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47AFD83E-08A5-3F8C-CF86-37EE0E7966C7}"/>
              </a:ext>
            </a:extLst>
          </p:cNvPr>
          <p:cNvSpPr txBox="1"/>
          <p:nvPr/>
        </p:nvSpPr>
        <p:spPr>
          <a:xfrm>
            <a:off x="731520" y="5029200"/>
            <a:ext cx="2560320" cy="365760"/>
          </a:xfrm>
          <a:prstGeom prst="rect">
            <a:avLst/>
          </a:prstGeom>
          <a:noFill/>
        </p:spPr>
        <p:txBody>
          <a:bodyPr wrap="square">
            <a:spAutoFit/>
          </a:bodyPr>
          <a:lstStyle/>
          <a:p>
            <a:pPr algn="l">
              <a:defRPr sz="1200" b="0">
                <a:solidFill>
                  <a:srgbClr val="007ACC"/>
                </a:solidFill>
                <a:latin typeface="Segoe UI"/>
              </a:defRPr>
            </a:pPr>
            <a:r>
              <a:t>CrowdStrike</a:t>
            </a:r>
          </a:p>
        </p:txBody>
      </p:sp>
      <p:sp>
        <p:nvSpPr>
          <p:cNvPr id="76" name="TextBox 75">
            <a:extLst>
              <a:ext uri="{FF2B5EF4-FFF2-40B4-BE49-F238E27FC236}">
                <a16:creationId xmlns:a16="http://schemas.microsoft.com/office/drawing/2014/main" id="{52D08136-82DA-FE22-3669-CDEFD7CAEE6D}"/>
              </a:ext>
            </a:extLst>
          </p:cNvPr>
          <p:cNvSpPr txBox="1"/>
          <p:nvPr/>
        </p:nvSpPr>
        <p:spPr>
          <a:xfrm>
            <a:off x="3474720" y="5029200"/>
            <a:ext cx="2560320" cy="365760"/>
          </a:xfrm>
          <a:prstGeom prst="rect">
            <a:avLst/>
          </a:prstGeom>
          <a:noFill/>
        </p:spPr>
        <p:txBody>
          <a:bodyPr wrap="square">
            <a:spAutoFit/>
          </a:bodyPr>
          <a:lstStyle/>
          <a:p>
            <a:pPr algn="l">
              <a:defRPr sz="1200" b="0">
                <a:solidFill>
                  <a:srgbClr val="008A4E"/>
                </a:solidFill>
                <a:latin typeface="Segoe UI"/>
              </a:defRPr>
            </a:pPr>
            <a:r>
              <a:t>crowdstrike.com</a:t>
            </a:r>
          </a:p>
        </p:txBody>
      </p:sp>
      <p:sp>
        <p:nvSpPr>
          <p:cNvPr id="77" name="TextBox 76">
            <a:extLst>
              <a:ext uri="{FF2B5EF4-FFF2-40B4-BE49-F238E27FC236}">
                <a16:creationId xmlns:a16="http://schemas.microsoft.com/office/drawing/2014/main" id="{A3409EB1-EEC5-0E40-00BE-C6A3CA82BC18}"/>
              </a:ext>
            </a:extLst>
          </p:cNvPr>
          <p:cNvSpPr txBox="1"/>
          <p:nvPr/>
        </p:nvSpPr>
        <p:spPr>
          <a:xfrm>
            <a:off x="6217920" y="5029200"/>
            <a:ext cx="2560320" cy="365760"/>
          </a:xfrm>
          <a:prstGeom prst="rect">
            <a:avLst/>
          </a:prstGeom>
          <a:noFill/>
        </p:spPr>
        <p:txBody>
          <a:bodyPr wrap="square">
            <a:spAutoFit/>
          </a:bodyPr>
          <a:lstStyle/>
          <a:p>
            <a:pPr algn="l">
              <a:defRPr sz="1200" b="0">
                <a:solidFill>
                  <a:srgbClr val="1A1A2E"/>
                </a:solidFill>
                <a:latin typeface="Segoe UI"/>
              </a:defRPr>
            </a:pPr>
            <a:r>
              <a:t>Cloud SaaS FIM</a:t>
            </a:r>
          </a:p>
        </p:txBody>
      </p:sp>
      <p:sp>
        <p:nvSpPr>
          <p:cNvPr id="78" name="TextBox 77">
            <a:extLst>
              <a:ext uri="{FF2B5EF4-FFF2-40B4-BE49-F238E27FC236}">
                <a16:creationId xmlns:a16="http://schemas.microsoft.com/office/drawing/2014/main" id="{95AC6693-964C-AB47-1475-3A6DFDEE753B}"/>
              </a:ext>
            </a:extLst>
          </p:cNvPr>
          <p:cNvSpPr txBox="1"/>
          <p:nvPr/>
        </p:nvSpPr>
        <p:spPr>
          <a:xfrm>
            <a:off x="8961120" y="5029200"/>
            <a:ext cx="2560320" cy="365760"/>
          </a:xfrm>
          <a:prstGeom prst="rect">
            <a:avLst/>
          </a:prstGeom>
          <a:noFill/>
        </p:spPr>
        <p:txBody>
          <a:bodyPr wrap="square">
            <a:spAutoFit/>
          </a:bodyPr>
          <a:lstStyle/>
          <a:p>
            <a:pPr algn="l">
              <a:defRPr sz="1200" b="0">
                <a:solidFill>
                  <a:srgbClr val="555E70"/>
                </a:solidFill>
                <a:latin typeface="Segoe UI"/>
              </a:defRPr>
            </a:pPr>
            <a:r>
              <a:t>EPP market leader</a:t>
            </a:r>
          </a:p>
        </p:txBody>
      </p:sp>
      <p:sp>
        <p:nvSpPr>
          <p:cNvPr id="79" name="Rectangle 78">
            <a:extLst>
              <a:ext uri="{FF2B5EF4-FFF2-40B4-BE49-F238E27FC236}">
                <a16:creationId xmlns:a16="http://schemas.microsoft.com/office/drawing/2014/main" id="{CFAB92C5-4B29-022E-6523-423F2178BC69}"/>
              </a:ext>
            </a:extLst>
          </p:cNvPr>
          <p:cNvSpPr/>
          <p:nvPr/>
        </p:nvSpPr>
        <p:spPr>
          <a:xfrm>
            <a:off x="731520" y="5486400"/>
            <a:ext cx="10515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a:extLst>
              <a:ext uri="{FF2B5EF4-FFF2-40B4-BE49-F238E27FC236}">
                <a16:creationId xmlns:a16="http://schemas.microsoft.com/office/drawing/2014/main" id="{D245525E-67EC-CED2-7C2A-C6FC4AC704CE}"/>
              </a:ext>
            </a:extLst>
          </p:cNvPr>
          <p:cNvSpPr txBox="1"/>
          <p:nvPr/>
        </p:nvSpPr>
        <p:spPr>
          <a:xfrm>
            <a:off x="731520" y="5577840"/>
            <a:ext cx="2560320" cy="365760"/>
          </a:xfrm>
          <a:prstGeom prst="rect">
            <a:avLst/>
          </a:prstGeom>
          <a:noFill/>
        </p:spPr>
        <p:txBody>
          <a:bodyPr wrap="square">
            <a:spAutoFit/>
          </a:bodyPr>
          <a:lstStyle/>
          <a:p>
            <a:pPr algn="l">
              <a:defRPr sz="1200" b="0">
                <a:solidFill>
                  <a:srgbClr val="007ACC"/>
                </a:solidFill>
                <a:latin typeface="Segoe UI"/>
              </a:defRPr>
            </a:pPr>
            <a:r>
              <a:t>Samhain</a:t>
            </a:r>
          </a:p>
        </p:txBody>
      </p:sp>
      <p:sp>
        <p:nvSpPr>
          <p:cNvPr id="81" name="TextBox 80">
            <a:extLst>
              <a:ext uri="{FF2B5EF4-FFF2-40B4-BE49-F238E27FC236}">
                <a16:creationId xmlns:a16="http://schemas.microsoft.com/office/drawing/2014/main" id="{A84CD52E-DFDF-C47F-D096-514FC00EF115}"/>
              </a:ext>
            </a:extLst>
          </p:cNvPr>
          <p:cNvSpPr txBox="1"/>
          <p:nvPr/>
        </p:nvSpPr>
        <p:spPr>
          <a:xfrm>
            <a:off x="3474720" y="5577840"/>
            <a:ext cx="2560320" cy="365760"/>
          </a:xfrm>
          <a:prstGeom prst="rect">
            <a:avLst/>
          </a:prstGeom>
          <a:noFill/>
        </p:spPr>
        <p:txBody>
          <a:bodyPr wrap="square">
            <a:spAutoFit/>
          </a:bodyPr>
          <a:lstStyle/>
          <a:p>
            <a:pPr algn="l">
              <a:defRPr sz="1200" b="0">
                <a:solidFill>
                  <a:srgbClr val="008A4E"/>
                </a:solidFill>
                <a:latin typeface="Segoe UI"/>
              </a:defRPr>
            </a:pPr>
            <a:r>
              <a:t>la-samhna.de</a:t>
            </a:r>
          </a:p>
        </p:txBody>
      </p:sp>
      <p:sp>
        <p:nvSpPr>
          <p:cNvPr id="82" name="TextBox 81">
            <a:extLst>
              <a:ext uri="{FF2B5EF4-FFF2-40B4-BE49-F238E27FC236}">
                <a16:creationId xmlns:a16="http://schemas.microsoft.com/office/drawing/2014/main" id="{A7C14465-0FD8-00BB-93B8-5CF2CB42B2DB}"/>
              </a:ext>
            </a:extLst>
          </p:cNvPr>
          <p:cNvSpPr txBox="1"/>
          <p:nvPr/>
        </p:nvSpPr>
        <p:spPr>
          <a:xfrm>
            <a:off x="6217920" y="5577840"/>
            <a:ext cx="2560320" cy="365760"/>
          </a:xfrm>
          <a:prstGeom prst="rect">
            <a:avLst/>
          </a:prstGeom>
          <a:noFill/>
        </p:spPr>
        <p:txBody>
          <a:bodyPr wrap="square">
            <a:spAutoFit/>
          </a:bodyPr>
          <a:lstStyle/>
          <a:p>
            <a:pPr algn="l">
              <a:defRPr sz="1200" b="0">
                <a:solidFill>
                  <a:srgbClr val="1A1A2E"/>
                </a:solidFill>
                <a:latin typeface="Segoe UI"/>
              </a:defRPr>
            </a:pPr>
            <a:r>
              <a:t>Open-source HIDS</a:t>
            </a:r>
          </a:p>
        </p:txBody>
      </p:sp>
      <p:sp>
        <p:nvSpPr>
          <p:cNvPr id="83" name="TextBox 82">
            <a:extLst>
              <a:ext uri="{FF2B5EF4-FFF2-40B4-BE49-F238E27FC236}">
                <a16:creationId xmlns:a16="http://schemas.microsoft.com/office/drawing/2014/main" id="{465EF26F-5740-A9FA-BAB9-FBEC9893D1E6}"/>
              </a:ext>
            </a:extLst>
          </p:cNvPr>
          <p:cNvSpPr txBox="1"/>
          <p:nvPr/>
        </p:nvSpPr>
        <p:spPr>
          <a:xfrm>
            <a:off x="8961120" y="5577840"/>
            <a:ext cx="2560320" cy="365760"/>
          </a:xfrm>
          <a:prstGeom prst="rect">
            <a:avLst/>
          </a:prstGeom>
          <a:noFill/>
        </p:spPr>
        <p:txBody>
          <a:bodyPr wrap="square">
            <a:spAutoFit/>
          </a:bodyPr>
          <a:lstStyle/>
          <a:p>
            <a:pPr algn="l">
              <a:defRPr sz="1200" b="0">
                <a:solidFill>
                  <a:srgbClr val="555E70"/>
                </a:solidFill>
                <a:latin typeface="Segoe UI"/>
              </a:defRPr>
            </a:pPr>
            <a:r>
              <a:t>Linux/Unix standard</a:t>
            </a:r>
          </a:p>
        </p:txBody>
      </p:sp>
      <p:sp>
        <p:nvSpPr>
          <p:cNvPr id="84" name="Rectangle 83">
            <a:extLst>
              <a:ext uri="{FF2B5EF4-FFF2-40B4-BE49-F238E27FC236}">
                <a16:creationId xmlns:a16="http://schemas.microsoft.com/office/drawing/2014/main" id="{D05D334E-FFF1-5D90-6D25-2A6AE84D4EDE}"/>
              </a:ext>
            </a:extLst>
          </p:cNvPr>
          <p:cNvSpPr/>
          <p:nvPr/>
        </p:nvSpPr>
        <p:spPr>
          <a:xfrm>
            <a:off x="731520" y="6035040"/>
            <a:ext cx="10515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a:extLst>
              <a:ext uri="{FF2B5EF4-FFF2-40B4-BE49-F238E27FC236}">
                <a16:creationId xmlns:a16="http://schemas.microsoft.com/office/drawing/2014/main" id="{1C7AA59A-788E-A160-1319-BD72BBC2E6CF}"/>
              </a:ext>
            </a:extLst>
          </p:cNvPr>
          <p:cNvSpPr/>
          <p:nvPr/>
        </p:nvSpPr>
        <p:spPr>
          <a:xfrm>
            <a:off x="617923" y="649223"/>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321418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5A67C-EB8C-E182-E674-82B15C027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82585-170D-7A0C-1EB4-2EE57A9C3006}"/>
              </a:ext>
            </a:extLst>
          </p:cNvPr>
          <p:cNvSpPr>
            <a:spLocks noGrp="1"/>
          </p:cNvSpPr>
          <p:nvPr>
            <p:ph type="title"/>
          </p:nvPr>
        </p:nvSpPr>
        <p:spPr>
          <a:xfrm>
            <a:off x="652389" y="169732"/>
            <a:ext cx="10834234" cy="612775"/>
          </a:xfrm>
        </p:spPr>
        <p:txBody>
          <a:bodyPr>
            <a:normAutofit/>
          </a:bodyPr>
          <a:lstStyle/>
          <a:p>
            <a:pPr>
              <a:lnSpc>
                <a:spcPts val="3240"/>
              </a:lnSpc>
            </a:pPr>
            <a:r>
              <a:rPr lang="en-IN" sz="3600" dirty="0">
                <a:solidFill>
                  <a:schemeClr val="accent1"/>
                </a:solidFill>
                <a:latin typeface="Segoe UI" panose="020B0502040204020203" pitchFamily="34" charset="0"/>
                <a:cs typeface="Segoe UI" panose="020B0502040204020203" pitchFamily="34" charset="0"/>
              </a:rPr>
              <a:t>Technology Stack Comparison</a:t>
            </a:r>
            <a:endParaRPr lang="en-US" sz="3600" dirty="0">
              <a:solidFill>
                <a:schemeClr val="accent1"/>
              </a:solidFill>
              <a:latin typeface="Segoe UI" panose="020B0502040204020203" pitchFamily="34" charset="0"/>
              <a:cs typeface="Segoe UI" panose="020B0502040204020203" pitchFamily="34" charset="0"/>
            </a:endParaRPr>
          </a:p>
        </p:txBody>
      </p:sp>
      <p:sp>
        <p:nvSpPr>
          <p:cNvPr id="3" name="Rounded Rectangle 3">
            <a:extLst>
              <a:ext uri="{FF2B5EF4-FFF2-40B4-BE49-F238E27FC236}">
                <a16:creationId xmlns:a16="http://schemas.microsoft.com/office/drawing/2014/main" id="{154C2B8A-B0D9-A39F-6FD8-BCB95DEB22A2}"/>
              </a:ext>
            </a:extLst>
          </p:cNvPr>
          <p:cNvSpPr/>
          <p:nvPr/>
        </p:nvSpPr>
        <p:spPr>
          <a:xfrm>
            <a:off x="652389" y="863413"/>
            <a:ext cx="10515600" cy="77724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059EBDE-CA1B-E31E-D8C7-ACC6D290C791}"/>
              </a:ext>
            </a:extLst>
          </p:cNvPr>
          <p:cNvSpPr txBox="1"/>
          <p:nvPr/>
        </p:nvSpPr>
        <p:spPr>
          <a:xfrm>
            <a:off x="926709" y="909133"/>
            <a:ext cx="2286000" cy="365760"/>
          </a:xfrm>
          <a:prstGeom prst="rect">
            <a:avLst/>
          </a:prstGeom>
          <a:noFill/>
        </p:spPr>
        <p:txBody>
          <a:bodyPr wrap="square">
            <a:spAutoFit/>
          </a:bodyPr>
          <a:lstStyle/>
          <a:p>
            <a:pPr algn="l">
              <a:defRPr sz="1500" b="1">
                <a:solidFill>
                  <a:srgbClr val="007ACC"/>
                </a:solidFill>
                <a:latin typeface="Segoe UI"/>
              </a:defRPr>
            </a:pPr>
            <a:r>
              <a:t>OSSEC</a:t>
            </a:r>
          </a:p>
        </p:txBody>
      </p:sp>
      <p:sp>
        <p:nvSpPr>
          <p:cNvPr id="5" name="TextBox 4">
            <a:extLst>
              <a:ext uri="{FF2B5EF4-FFF2-40B4-BE49-F238E27FC236}">
                <a16:creationId xmlns:a16="http://schemas.microsoft.com/office/drawing/2014/main" id="{4F91CAE2-F5E8-A9FB-4666-DE82FE80CD0C}"/>
              </a:ext>
            </a:extLst>
          </p:cNvPr>
          <p:cNvSpPr txBox="1"/>
          <p:nvPr/>
        </p:nvSpPr>
        <p:spPr>
          <a:xfrm>
            <a:off x="3121269" y="954853"/>
            <a:ext cx="7772400" cy="548640"/>
          </a:xfrm>
          <a:prstGeom prst="rect">
            <a:avLst/>
          </a:prstGeom>
          <a:noFill/>
        </p:spPr>
        <p:txBody>
          <a:bodyPr wrap="square">
            <a:spAutoFit/>
          </a:bodyPr>
          <a:lstStyle/>
          <a:p>
            <a:pPr algn="l">
              <a:defRPr sz="1200" b="0">
                <a:solidFill>
                  <a:srgbClr val="555E70"/>
                </a:solidFill>
                <a:latin typeface="Segoe UI"/>
              </a:defRPr>
            </a:pPr>
            <a:r>
              <a:t>C, SQLite, MD5/SHA-1/SHA-256, inotify, manager-agent</a:t>
            </a:r>
          </a:p>
        </p:txBody>
      </p:sp>
      <p:sp>
        <p:nvSpPr>
          <p:cNvPr id="6" name="Rounded Rectangle 6">
            <a:extLst>
              <a:ext uri="{FF2B5EF4-FFF2-40B4-BE49-F238E27FC236}">
                <a16:creationId xmlns:a16="http://schemas.microsoft.com/office/drawing/2014/main" id="{564B2EEA-5ABB-1147-6A0C-4A66D88BDF27}"/>
              </a:ext>
            </a:extLst>
          </p:cNvPr>
          <p:cNvSpPr/>
          <p:nvPr/>
        </p:nvSpPr>
        <p:spPr>
          <a:xfrm>
            <a:off x="652389" y="1869253"/>
            <a:ext cx="10515600" cy="77724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87F366E6-C078-B14E-62CA-F173D0323500}"/>
              </a:ext>
            </a:extLst>
          </p:cNvPr>
          <p:cNvSpPr txBox="1"/>
          <p:nvPr/>
        </p:nvSpPr>
        <p:spPr>
          <a:xfrm>
            <a:off x="926709" y="1914973"/>
            <a:ext cx="2286000" cy="365760"/>
          </a:xfrm>
          <a:prstGeom prst="rect">
            <a:avLst/>
          </a:prstGeom>
          <a:noFill/>
        </p:spPr>
        <p:txBody>
          <a:bodyPr wrap="square">
            <a:spAutoFit/>
          </a:bodyPr>
          <a:lstStyle/>
          <a:p>
            <a:pPr algn="l">
              <a:defRPr sz="1500" b="1">
                <a:solidFill>
                  <a:srgbClr val="6B4FBB"/>
                </a:solidFill>
                <a:latin typeface="Segoe UI"/>
              </a:defRPr>
            </a:pPr>
            <a:r>
              <a:t>Tripwire</a:t>
            </a:r>
          </a:p>
        </p:txBody>
      </p:sp>
      <p:sp>
        <p:nvSpPr>
          <p:cNvPr id="8" name="TextBox 7">
            <a:extLst>
              <a:ext uri="{FF2B5EF4-FFF2-40B4-BE49-F238E27FC236}">
                <a16:creationId xmlns:a16="http://schemas.microsoft.com/office/drawing/2014/main" id="{77B9D91C-1AFE-B5EB-D01B-9F93609CA6FE}"/>
              </a:ext>
            </a:extLst>
          </p:cNvPr>
          <p:cNvSpPr txBox="1"/>
          <p:nvPr/>
        </p:nvSpPr>
        <p:spPr>
          <a:xfrm>
            <a:off x="3121269" y="1960693"/>
            <a:ext cx="7772400" cy="548640"/>
          </a:xfrm>
          <a:prstGeom prst="rect">
            <a:avLst/>
          </a:prstGeom>
          <a:noFill/>
        </p:spPr>
        <p:txBody>
          <a:bodyPr wrap="square">
            <a:spAutoFit/>
          </a:bodyPr>
          <a:lstStyle/>
          <a:p>
            <a:pPr algn="l">
              <a:defRPr sz="1200" b="0">
                <a:solidFill>
                  <a:srgbClr val="555E70"/>
                </a:solidFill>
                <a:latin typeface="Segoe UI"/>
              </a:defRPr>
            </a:pPr>
            <a:r>
              <a:t>C/C++, proprietary DB, SHA-256/SHA-512/HAVAL, policy-driven</a:t>
            </a:r>
          </a:p>
        </p:txBody>
      </p:sp>
      <p:sp>
        <p:nvSpPr>
          <p:cNvPr id="9" name="Rounded Rectangle 9">
            <a:extLst>
              <a:ext uri="{FF2B5EF4-FFF2-40B4-BE49-F238E27FC236}">
                <a16:creationId xmlns:a16="http://schemas.microsoft.com/office/drawing/2014/main" id="{AFFB5CB3-B2E6-DD12-F692-7783821806A3}"/>
              </a:ext>
            </a:extLst>
          </p:cNvPr>
          <p:cNvSpPr/>
          <p:nvPr/>
        </p:nvSpPr>
        <p:spPr>
          <a:xfrm>
            <a:off x="652389" y="2875093"/>
            <a:ext cx="10515600" cy="77724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D424655E-51EB-16C2-A700-6DAA0958B9EF}"/>
              </a:ext>
            </a:extLst>
          </p:cNvPr>
          <p:cNvSpPr txBox="1"/>
          <p:nvPr/>
        </p:nvSpPr>
        <p:spPr>
          <a:xfrm>
            <a:off x="926709" y="2920813"/>
            <a:ext cx="2286000" cy="365760"/>
          </a:xfrm>
          <a:prstGeom prst="rect">
            <a:avLst/>
          </a:prstGeom>
          <a:noFill/>
        </p:spPr>
        <p:txBody>
          <a:bodyPr wrap="square">
            <a:spAutoFit/>
          </a:bodyPr>
          <a:lstStyle/>
          <a:p>
            <a:pPr algn="l">
              <a:defRPr sz="1500" b="1">
                <a:solidFill>
                  <a:srgbClr val="BB7700"/>
                </a:solidFill>
                <a:latin typeface="Segoe UI"/>
              </a:defRPr>
            </a:pPr>
            <a:r>
              <a:t>Wazuh</a:t>
            </a:r>
          </a:p>
        </p:txBody>
      </p:sp>
      <p:sp>
        <p:nvSpPr>
          <p:cNvPr id="11" name="TextBox 10">
            <a:extLst>
              <a:ext uri="{FF2B5EF4-FFF2-40B4-BE49-F238E27FC236}">
                <a16:creationId xmlns:a16="http://schemas.microsoft.com/office/drawing/2014/main" id="{C3B64982-CD3E-6976-7D1E-1FB1CB4C80AB}"/>
              </a:ext>
            </a:extLst>
          </p:cNvPr>
          <p:cNvSpPr txBox="1"/>
          <p:nvPr/>
        </p:nvSpPr>
        <p:spPr>
          <a:xfrm>
            <a:off x="3121269" y="2966533"/>
            <a:ext cx="7772400" cy="548640"/>
          </a:xfrm>
          <a:prstGeom prst="rect">
            <a:avLst/>
          </a:prstGeom>
          <a:noFill/>
        </p:spPr>
        <p:txBody>
          <a:bodyPr wrap="square">
            <a:spAutoFit/>
          </a:bodyPr>
          <a:lstStyle/>
          <a:p>
            <a:pPr algn="l">
              <a:defRPr sz="1200" b="0">
                <a:solidFill>
                  <a:srgbClr val="555E70"/>
                </a:solidFill>
                <a:latin typeface="Segoe UI"/>
              </a:defRPr>
            </a:pPr>
            <a:r>
              <a:t>OSSEC fork, Elasticsearch/Kibana, RESTful API, real-time + scheduled</a:t>
            </a:r>
          </a:p>
        </p:txBody>
      </p:sp>
      <p:sp>
        <p:nvSpPr>
          <p:cNvPr id="12" name="Rounded Rectangle 12">
            <a:extLst>
              <a:ext uri="{FF2B5EF4-FFF2-40B4-BE49-F238E27FC236}">
                <a16:creationId xmlns:a16="http://schemas.microsoft.com/office/drawing/2014/main" id="{3E03A5D8-5D46-E0B5-000B-52E227CB9804}"/>
              </a:ext>
            </a:extLst>
          </p:cNvPr>
          <p:cNvSpPr/>
          <p:nvPr/>
        </p:nvSpPr>
        <p:spPr>
          <a:xfrm>
            <a:off x="652389" y="3880933"/>
            <a:ext cx="10515600" cy="77724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5717F60B-E216-B311-543A-0E2CA1CF7DF9}"/>
              </a:ext>
            </a:extLst>
          </p:cNvPr>
          <p:cNvSpPr txBox="1"/>
          <p:nvPr/>
        </p:nvSpPr>
        <p:spPr>
          <a:xfrm>
            <a:off x="926709" y="3926653"/>
            <a:ext cx="2286000" cy="365760"/>
          </a:xfrm>
          <a:prstGeom prst="rect">
            <a:avLst/>
          </a:prstGeom>
          <a:noFill/>
        </p:spPr>
        <p:txBody>
          <a:bodyPr wrap="square">
            <a:spAutoFit/>
          </a:bodyPr>
          <a:lstStyle/>
          <a:p>
            <a:pPr algn="l">
              <a:defRPr sz="1500" b="1">
                <a:solidFill>
                  <a:srgbClr val="008A4E"/>
                </a:solidFill>
                <a:latin typeface="Segoe UI"/>
              </a:defRPr>
            </a:pPr>
            <a:r>
              <a:t>AIDE</a:t>
            </a:r>
          </a:p>
        </p:txBody>
      </p:sp>
      <p:sp>
        <p:nvSpPr>
          <p:cNvPr id="14" name="TextBox 13">
            <a:extLst>
              <a:ext uri="{FF2B5EF4-FFF2-40B4-BE49-F238E27FC236}">
                <a16:creationId xmlns:a16="http://schemas.microsoft.com/office/drawing/2014/main" id="{C5A87071-EC65-888A-4B13-BFD45BE72755}"/>
              </a:ext>
            </a:extLst>
          </p:cNvPr>
          <p:cNvSpPr txBox="1"/>
          <p:nvPr/>
        </p:nvSpPr>
        <p:spPr>
          <a:xfrm>
            <a:off x="3121269" y="3972373"/>
            <a:ext cx="7772400" cy="548640"/>
          </a:xfrm>
          <a:prstGeom prst="rect">
            <a:avLst/>
          </a:prstGeom>
          <a:noFill/>
        </p:spPr>
        <p:txBody>
          <a:bodyPr wrap="square">
            <a:spAutoFit/>
          </a:bodyPr>
          <a:lstStyle/>
          <a:p>
            <a:pPr algn="l">
              <a:defRPr sz="1200" b="0">
                <a:solidFill>
                  <a:srgbClr val="555E70"/>
                </a:solidFill>
                <a:latin typeface="Segoe UI"/>
              </a:defRPr>
            </a:pPr>
            <a:r>
              <a:t>C, flat-file DB, MD5/SHA-1/SHA-256/SHA-512, cron-based</a:t>
            </a:r>
          </a:p>
        </p:txBody>
      </p:sp>
      <p:sp>
        <p:nvSpPr>
          <p:cNvPr id="15" name="Rounded Rectangle 15">
            <a:extLst>
              <a:ext uri="{FF2B5EF4-FFF2-40B4-BE49-F238E27FC236}">
                <a16:creationId xmlns:a16="http://schemas.microsoft.com/office/drawing/2014/main" id="{2898CB77-0F2C-8441-A683-17BCD487C76E}"/>
              </a:ext>
            </a:extLst>
          </p:cNvPr>
          <p:cNvSpPr/>
          <p:nvPr/>
        </p:nvSpPr>
        <p:spPr>
          <a:xfrm>
            <a:off x="652389" y="4978213"/>
            <a:ext cx="10515600" cy="1097280"/>
          </a:xfrm>
          <a:prstGeom prst="roundRect">
            <a:avLst/>
          </a:prstGeom>
          <a:solidFill>
            <a:srgbClr val="F0FFF0"/>
          </a:solidFill>
          <a:ln w="12700">
            <a:solidFill>
              <a:srgbClr val="00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C3DFF89B-5B1C-EAC8-FB1D-1193BDAA9823}"/>
              </a:ext>
            </a:extLst>
          </p:cNvPr>
          <p:cNvSpPr txBox="1"/>
          <p:nvPr/>
        </p:nvSpPr>
        <p:spPr>
          <a:xfrm>
            <a:off x="926709" y="5023933"/>
            <a:ext cx="3657600" cy="274320"/>
          </a:xfrm>
          <a:prstGeom prst="rect">
            <a:avLst/>
          </a:prstGeom>
          <a:noFill/>
        </p:spPr>
        <p:txBody>
          <a:bodyPr wrap="square">
            <a:spAutoFit/>
          </a:bodyPr>
          <a:lstStyle/>
          <a:p>
            <a:pPr algn="l">
              <a:defRPr sz="1100" b="1">
                <a:solidFill>
                  <a:srgbClr val="008A4E"/>
                </a:solidFill>
                <a:latin typeface="Segoe UI"/>
              </a:defRPr>
            </a:pPr>
            <a:r>
              <a:t>OUR STACK</a:t>
            </a:r>
          </a:p>
        </p:txBody>
      </p:sp>
      <p:sp>
        <p:nvSpPr>
          <p:cNvPr id="17" name="TextBox 16">
            <a:extLst>
              <a:ext uri="{FF2B5EF4-FFF2-40B4-BE49-F238E27FC236}">
                <a16:creationId xmlns:a16="http://schemas.microsoft.com/office/drawing/2014/main" id="{DE63CEBF-EE6D-AFD0-D47B-10B9A2750947}"/>
              </a:ext>
            </a:extLst>
          </p:cNvPr>
          <p:cNvSpPr txBox="1"/>
          <p:nvPr/>
        </p:nvSpPr>
        <p:spPr>
          <a:xfrm>
            <a:off x="926709" y="5343973"/>
            <a:ext cx="10058400" cy="548640"/>
          </a:xfrm>
          <a:prstGeom prst="rect">
            <a:avLst/>
          </a:prstGeom>
          <a:noFill/>
        </p:spPr>
        <p:txBody>
          <a:bodyPr wrap="square">
            <a:spAutoFit/>
          </a:bodyPr>
          <a:lstStyle/>
          <a:p>
            <a:pPr algn="l">
              <a:defRPr sz="1400" b="0">
                <a:solidFill>
                  <a:srgbClr val="1A1A2E"/>
                </a:solidFill>
                <a:latin typeface="Segoe UI"/>
              </a:defRPr>
            </a:pPr>
            <a:r>
              <a:t>Python 3.10+ (hashlib, Flask) + React.js (Vite) + JSON persistence + REST API + Cross-platform Windows &amp; Linux</a:t>
            </a:r>
          </a:p>
        </p:txBody>
      </p:sp>
      <p:sp>
        <p:nvSpPr>
          <p:cNvPr id="18" name="Rectangle 17">
            <a:extLst>
              <a:ext uri="{FF2B5EF4-FFF2-40B4-BE49-F238E27FC236}">
                <a16:creationId xmlns:a16="http://schemas.microsoft.com/office/drawing/2014/main" id="{D9F936E7-6189-B4B9-F947-D51DAAB33159}"/>
              </a:ext>
            </a:extLst>
          </p:cNvPr>
          <p:cNvSpPr/>
          <p:nvPr/>
        </p:nvSpPr>
        <p:spPr>
          <a:xfrm>
            <a:off x="731520" y="701624"/>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88160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EBD83-4B1E-C6DB-4C0A-2B9C5B01D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A80D4-990B-70F7-BFD8-BCCE48300E6D}"/>
              </a:ext>
            </a:extLst>
          </p:cNvPr>
          <p:cNvSpPr>
            <a:spLocks noGrp="1"/>
          </p:cNvSpPr>
          <p:nvPr>
            <p:ph type="title"/>
          </p:nvPr>
        </p:nvSpPr>
        <p:spPr>
          <a:xfrm>
            <a:off x="652389" y="159198"/>
            <a:ext cx="10834234" cy="612775"/>
          </a:xfrm>
        </p:spPr>
        <p:txBody>
          <a:bodyPr>
            <a:normAutofit/>
          </a:bodyPr>
          <a:lstStyle/>
          <a:p>
            <a:pPr>
              <a:lnSpc>
                <a:spcPts val="3240"/>
              </a:lnSpc>
            </a:pPr>
            <a:r>
              <a:rPr lang="en-IN" sz="3600" dirty="0">
                <a:solidFill>
                  <a:schemeClr val="accent1"/>
                </a:solidFill>
                <a:latin typeface="Segoe UI" panose="020B0502040204020203" pitchFamily="34" charset="0"/>
                <a:cs typeface="Segoe UI" panose="020B0502040204020203" pitchFamily="34" charset="0"/>
              </a:rPr>
              <a:t>Hashing Algorithms</a:t>
            </a:r>
            <a:endParaRPr lang="en-US" sz="3600" dirty="0">
              <a:solidFill>
                <a:schemeClr val="accent1"/>
              </a:solidFill>
              <a:latin typeface="Segoe UI" panose="020B0502040204020203" pitchFamily="34" charset="0"/>
              <a:cs typeface="Segoe UI" panose="020B0502040204020203" pitchFamily="34" charset="0"/>
            </a:endParaRPr>
          </a:p>
        </p:txBody>
      </p:sp>
      <p:sp>
        <p:nvSpPr>
          <p:cNvPr id="18" name="Rectangle 17">
            <a:extLst>
              <a:ext uri="{FF2B5EF4-FFF2-40B4-BE49-F238E27FC236}">
                <a16:creationId xmlns:a16="http://schemas.microsoft.com/office/drawing/2014/main" id="{3EB90A17-E449-8080-0557-6EA272FE7D5A}"/>
              </a:ext>
            </a:extLst>
          </p:cNvPr>
          <p:cNvSpPr/>
          <p:nvPr/>
        </p:nvSpPr>
        <p:spPr>
          <a:xfrm>
            <a:off x="731520" y="868680"/>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77D5F91D-0C65-3805-3A53-31E8B699FD28}"/>
              </a:ext>
            </a:extLst>
          </p:cNvPr>
          <p:cNvSpPr txBox="1"/>
          <p:nvPr/>
        </p:nvSpPr>
        <p:spPr>
          <a:xfrm>
            <a:off x="731520" y="1188720"/>
            <a:ext cx="2560320" cy="365760"/>
          </a:xfrm>
          <a:prstGeom prst="rect">
            <a:avLst/>
          </a:prstGeom>
          <a:noFill/>
        </p:spPr>
        <p:txBody>
          <a:bodyPr wrap="square">
            <a:spAutoFit/>
          </a:bodyPr>
          <a:lstStyle/>
          <a:p>
            <a:pPr algn="l">
              <a:defRPr sz="1100" b="1">
                <a:solidFill>
                  <a:srgbClr val="007ACC"/>
                </a:solidFill>
                <a:latin typeface="Segoe UI"/>
              </a:defRPr>
            </a:pPr>
            <a:r>
              <a:t>Algorithm</a:t>
            </a:r>
          </a:p>
        </p:txBody>
      </p:sp>
      <p:sp>
        <p:nvSpPr>
          <p:cNvPr id="20" name="TextBox 19">
            <a:extLst>
              <a:ext uri="{FF2B5EF4-FFF2-40B4-BE49-F238E27FC236}">
                <a16:creationId xmlns:a16="http://schemas.microsoft.com/office/drawing/2014/main" id="{103FE40C-B336-E422-2B95-F383A8E7EC51}"/>
              </a:ext>
            </a:extLst>
          </p:cNvPr>
          <p:cNvSpPr txBox="1"/>
          <p:nvPr/>
        </p:nvSpPr>
        <p:spPr>
          <a:xfrm>
            <a:off x="3474720" y="1188720"/>
            <a:ext cx="2560320" cy="365760"/>
          </a:xfrm>
          <a:prstGeom prst="rect">
            <a:avLst/>
          </a:prstGeom>
          <a:noFill/>
        </p:spPr>
        <p:txBody>
          <a:bodyPr wrap="square">
            <a:spAutoFit/>
          </a:bodyPr>
          <a:lstStyle/>
          <a:p>
            <a:pPr algn="l">
              <a:defRPr sz="1100" b="1">
                <a:solidFill>
                  <a:srgbClr val="007ACC"/>
                </a:solidFill>
                <a:latin typeface="Segoe UI"/>
              </a:defRPr>
            </a:pPr>
            <a:r>
              <a:t>Output Size</a:t>
            </a:r>
          </a:p>
        </p:txBody>
      </p:sp>
      <p:sp>
        <p:nvSpPr>
          <p:cNvPr id="21" name="TextBox 20">
            <a:extLst>
              <a:ext uri="{FF2B5EF4-FFF2-40B4-BE49-F238E27FC236}">
                <a16:creationId xmlns:a16="http://schemas.microsoft.com/office/drawing/2014/main" id="{797A1652-5746-02EC-7189-8DAF1AA9641A}"/>
              </a:ext>
            </a:extLst>
          </p:cNvPr>
          <p:cNvSpPr txBox="1"/>
          <p:nvPr/>
        </p:nvSpPr>
        <p:spPr>
          <a:xfrm>
            <a:off x="6217920" y="1188720"/>
            <a:ext cx="2560320" cy="365760"/>
          </a:xfrm>
          <a:prstGeom prst="rect">
            <a:avLst/>
          </a:prstGeom>
          <a:noFill/>
        </p:spPr>
        <p:txBody>
          <a:bodyPr wrap="square">
            <a:spAutoFit/>
          </a:bodyPr>
          <a:lstStyle/>
          <a:p>
            <a:pPr algn="l">
              <a:defRPr sz="1100" b="1">
                <a:solidFill>
                  <a:srgbClr val="007ACC"/>
                </a:solidFill>
                <a:latin typeface="Segoe UI"/>
              </a:defRPr>
            </a:pPr>
            <a:r>
              <a:t>Security Level</a:t>
            </a:r>
          </a:p>
        </p:txBody>
      </p:sp>
      <p:sp>
        <p:nvSpPr>
          <p:cNvPr id="22" name="TextBox 21">
            <a:extLst>
              <a:ext uri="{FF2B5EF4-FFF2-40B4-BE49-F238E27FC236}">
                <a16:creationId xmlns:a16="http://schemas.microsoft.com/office/drawing/2014/main" id="{66726D55-730D-2A48-B30F-FE31FEA0D1F5}"/>
              </a:ext>
            </a:extLst>
          </p:cNvPr>
          <p:cNvSpPr txBox="1"/>
          <p:nvPr/>
        </p:nvSpPr>
        <p:spPr>
          <a:xfrm>
            <a:off x="8961120" y="1188720"/>
            <a:ext cx="2560320" cy="365760"/>
          </a:xfrm>
          <a:prstGeom prst="rect">
            <a:avLst/>
          </a:prstGeom>
          <a:noFill/>
        </p:spPr>
        <p:txBody>
          <a:bodyPr wrap="square">
            <a:spAutoFit/>
          </a:bodyPr>
          <a:lstStyle/>
          <a:p>
            <a:pPr algn="l">
              <a:defRPr sz="1100" b="1">
                <a:solidFill>
                  <a:srgbClr val="007ACC"/>
                </a:solidFill>
                <a:latin typeface="Segoe UI"/>
              </a:defRPr>
            </a:pPr>
            <a:r>
              <a:t>FIM Usage</a:t>
            </a:r>
          </a:p>
        </p:txBody>
      </p:sp>
      <p:sp>
        <p:nvSpPr>
          <p:cNvPr id="23" name="TextBox 22">
            <a:extLst>
              <a:ext uri="{FF2B5EF4-FFF2-40B4-BE49-F238E27FC236}">
                <a16:creationId xmlns:a16="http://schemas.microsoft.com/office/drawing/2014/main" id="{F2A5D9D0-3556-6969-F644-A3C9F43D5B17}"/>
              </a:ext>
            </a:extLst>
          </p:cNvPr>
          <p:cNvSpPr txBox="1"/>
          <p:nvPr/>
        </p:nvSpPr>
        <p:spPr>
          <a:xfrm>
            <a:off x="731520" y="1783080"/>
            <a:ext cx="2560320" cy="365760"/>
          </a:xfrm>
          <a:prstGeom prst="rect">
            <a:avLst/>
          </a:prstGeom>
          <a:noFill/>
        </p:spPr>
        <p:txBody>
          <a:bodyPr wrap="square">
            <a:spAutoFit/>
          </a:bodyPr>
          <a:lstStyle/>
          <a:p>
            <a:pPr algn="l">
              <a:defRPr sz="1200" b="0">
                <a:solidFill>
                  <a:srgbClr val="007ACC"/>
                </a:solidFill>
                <a:latin typeface="Segoe UI"/>
              </a:defRPr>
            </a:pPr>
            <a:r>
              <a:t>MD5</a:t>
            </a:r>
          </a:p>
        </p:txBody>
      </p:sp>
      <p:sp>
        <p:nvSpPr>
          <p:cNvPr id="24" name="TextBox 23">
            <a:extLst>
              <a:ext uri="{FF2B5EF4-FFF2-40B4-BE49-F238E27FC236}">
                <a16:creationId xmlns:a16="http://schemas.microsoft.com/office/drawing/2014/main" id="{DFA1324E-5186-4CFB-7567-C1B740946345}"/>
              </a:ext>
            </a:extLst>
          </p:cNvPr>
          <p:cNvSpPr txBox="1"/>
          <p:nvPr/>
        </p:nvSpPr>
        <p:spPr>
          <a:xfrm>
            <a:off x="3474720" y="1783080"/>
            <a:ext cx="2560320" cy="365760"/>
          </a:xfrm>
          <a:prstGeom prst="rect">
            <a:avLst/>
          </a:prstGeom>
          <a:noFill/>
        </p:spPr>
        <p:txBody>
          <a:bodyPr wrap="square">
            <a:spAutoFit/>
          </a:bodyPr>
          <a:lstStyle/>
          <a:p>
            <a:pPr algn="l">
              <a:defRPr sz="1200" b="0">
                <a:solidFill>
                  <a:srgbClr val="1A1A2E"/>
                </a:solidFill>
                <a:latin typeface="Segoe UI"/>
              </a:defRPr>
            </a:pPr>
            <a:r>
              <a:t>128-bit (32 hex)</a:t>
            </a:r>
          </a:p>
        </p:txBody>
      </p:sp>
      <p:sp>
        <p:nvSpPr>
          <p:cNvPr id="25" name="TextBox 24">
            <a:extLst>
              <a:ext uri="{FF2B5EF4-FFF2-40B4-BE49-F238E27FC236}">
                <a16:creationId xmlns:a16="http://schemas.microsoft.com/office/drawing/2014/main" id="{DE2C5DF8-EEA1-19D0-6AF0-7C5DD33219A5}"/>
              </a:ext>
            </a:extLst>
          </p:cNvPr>
          <p:cNvSpPr txBox="1"/>
          <p:nvPr/>
        </p:nvSpPr>
        <p:spPr>
          <a:xfrm>
            <a:off x="6217920" y="1783080"/>
            <a:ext cx="2560320" cy="365760"/>
          </a:xfrm>
          <a:prstGeom prst="rect">
            <a:avLst/>
          </a:prstGeom>
          <a:noFill/>
        </p:spPr>
        <p:txBody>
          <a:bodyPr wrap="square">
            <a:spAutoFit/>
          </a:bodyPr>
          <a:lstStyle/>
          <a:p>
            <a:pPr algn="l">
              <a:defRPr sz="1200" b="0">
                <a:solidFill>
                  <a:srgbClr val="1A1A2E"/>
                </a:solidFill>
                <a:latin typeface="Segoe UI"/>
              </a:defRPr>
            </a:pPr>
            <a:r>
              <a:t>❌ Broken — collisions feasible</a:t>
            </a:r>
          </a:p>
        </p:txBody>
      </p:sp>
      <p:sp>
        <p:nvSpPr>
          <p:cNvPr id="26" name="TextBox 25">
            <a:extLst>
              <a:ext uri="{FF2B5EF4-FFF2-40B4-BE49-F238E27FC236}">
                <a16:creationId xmlns:a16="http://schemas.microsoft.com/office/drawing/2014/main" id="{FA209E32-EC6E-4064-0C9A-CD717515A099}"/>
              </a:ext>
            </a:extLst>
          </p:cNvPr>
          <p:cNvSpPr txBox="1"/>
          <p:nvPr/>
        </p:nvSpPr>
        <p:spPr>
          <a:xfrm>
            <a:off x="8961120" y="1783080"/>
            <a:ext cx="2560320" cy="365760"/>
          </a:xfrm>
          <a:prstGeom prst="rect">
            <a:avLst/>
          </a:prstGeom>
          <a:noFill/>
        </p:spPr>
        <p:txBody>
          <a:bodyPr wrap="square">
            <a:spAutoFit/>
          </a:bodyPr>
          <a:lstStyle/>
          <a:p>
            <a:pPr algn="l">
              <a:defRPr sz="1200" b="0">
                <a:solidFill>
                  <a:srgbClr val="1A1A2E"/>
                </a:solidFill>
                <a:latin typeface="Segoe UI"/>
              </a:defRPr>
            </a:pPr>
            <a:r>
              <a:t>Legacy only</a:t>
            </a:r>
          </a:p>
        </p:txBody>
      </p:sp>
      <p:sp>
        <p:nvSpPr>
          <p:cNvPr id="27" name="Rectangle 26">
            <a:extLst>
              <a:ext uri="{FF2B5EF4-FFF2-40B4-BE49-F238E27FC236}">
                <a16:creationId xmlns:a16="http://schemas.microsoft.com/office/drawing/2014/main" id="{4D45E43B-E418-545C-7385-1B394102468B}"/>
              </a:ext>
            </a:extLst>
          </p:cNvPr>
          <p:cNvSpPr/>
          <p:nvPr/>
        </p:nvSpPr>
        <p:spPr>
          <a:xfrm>
            <a:off x="731520" y="2286000"/>
            <a:ext cx="10515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36DC8A6D-B951-196E-5C9B-287D4A53832F}"/>
              </a:ext>
            </a:extLst>
          </p:cNvPr>
          <p:cNvSpPr txBox="1"/>
          <p:nvPr/>
        </p:nvSpPr>
        <p:spPr>
          <a:xfrm>
            <a:off x="731520" y="2377440"/>
            <a:ext cx="2560320" cy="365760"/>
          </a:xfrm>
          <a:prstGeom prst="rect">
            <a:avLst/>
          </a:prstGeom>
          <a:noFill/>
        </p:spPr>
        <p:txBody>
          <a:bodyPr wrap="square">
            <a:spAutoFit/>
          </a:bodyPr>
          <a:lstStyle/>
          <a:p>
            <a:pPr algn="l">
              <a:defRPr sz="1200" b="0">
                <a:solidFill>
                  <a:srgbClr val="007ACC"/>
                </a:solidFill>
                <a:latin typeface="Segoe UI"/>
              </a:defRPr>
            </a:pPr>
            <a:r>
              <a:t>SHA-1</a:t>
            </a:r>
          </a:p>
        </p:txBody>
      </p:sp>
      <p:sp>
        <p:nvSpPr>
          <p:cNvPr id="29" name="TextBox 28">
            <a:extLst>
              <a:ext uri="{FF2B5EF4-FFF2-40B4-BE49-F238E27FC236}">
                <a16:creationId xmlns:a16="http://schemas.microsoft.com/office/drawing/2014/main" id="{B644C494-3F82-0B8F-E5E4-7B3CFCA7786B}"/>
              </a:ext>
            </a:extLst>
          </p:cNvPr>
          <p:cNvSpPr txBox="1"/>
          <p:nvPr/>
        </p:nvSpPr>
        <p:spPr>
          <a:xfrm>
            <a:off x="3474720" y="2377440"/>
            <a:ext cx="2560320" cy="365760"/>
          </a:xfrm>
          <a:prstGeom prst="rect">
            <a:avLst/>
          </a:prstGeom>
          <a:noFill/>
        </p:spPr>
        <p:txBody>
          <a:bodyPr wrap="square">
            <a:spAutoFit/>
          </a:bodyPr>
          <a:lstStyle/>
          <a:p>
            <a:pPr algn="l">
              <a:defRPr sz="1200" b="0">
                <a:solidFill>
                  <a:srgbClr val="1A1A2E"/>
                </a:solidFill>
                <a:latin typeface="Segoe UI"/>
              </a:defRPr>
            </a:pPr>
            <a:r>
              <a:t>160-bit (40 hex)</a:t>
            </a:r>
          </a:p>
        </p:txBody>
      </p:sp>
      <p:sp>
        <p:nvSpPr>
          <p:cNvPr id="30" name="TextBox 29">
            <a:extLst>
              <a:ext uri="{FF2B5EF4-FFF2-40B4-BE49-F238E27FC236}">
                <a16:creationId xmlns:a16="http://schemas.microsoft.com/office/drawing/2014/main" id="{8EDC43B0-0457-FB37-AF01-9B8719F2E1DE}"/>
              </a:ext>
            </a:extLst>
          </p:cNvPr>
          <p:cNvSpPr txBox="1"/>
          <p:nvPr/>
        </p:nvSpPr>
        <p:spPr>
          <a:xfrm>
            <a:off x="6217920" y="2377440"/>
            <a:ext cx="2560320" cy="365760"/>
          </a:xfrm>
          <a:prstGeom prst="rect">
            <a:avLst/>
          </a:prstGeom>
          <a:noFill/>
        </p:spPr>
        <p:txBody>
          <a:bodyPr wrap="square">
            <a:spAutoFit/>
          </a:bodyPr>
          <a:lstStyle/>
          <a:p>
            <a:pPr algn="l">
              <a:defRPr sz="1200" b="0">
                <a:solidFill>
                  <a:srgbClr val="1A1A2E"/>
                </a:solidFill>
                <a:latin typeface="Segoe UI"/>
              </a:defRPr>
            </a:pPr>
            <a:r>
              <a:t>⚠️ Weakened — SHAttered 2017</a:t>
            </a:r>
          </a:p>
        </p:txBody>
      </p:sp>
      <p:sp>
        <p:nvSpPr>
          <p:cNvPr id="31" name="TextBox 30">
            <a:extLst>
              <a:ext uri="{FF2B5EF4-FFF2-40B4-BE49-F238E27FC236}">
                <a16:creationId xmlns:a16="http://schemas.microsoft.com/office/drawing/2014/main" id="{603DAE83-D7B7-B868-3FFC-D27159A2F057}"/>
              </a:ext>
            </a:extLst>
          </p:cNvPr>
          <p:cNvSpPr txBox="1"/>
          <p:nvPr/>
        </p:nvSpPr>
        <p:spPr>
          <a:xfrm>
            <a:off x="8961120" y="2377440"/>
            <a:ext cx="2560320" cy="365760"/>
          </a:xfrm>
          <a:prstGeom prst="rect">
            <a:avLst/>
          </a:prstGeom>
          <a:noFill/>
        </p:spPr>
        <p:txBody>
          <a:bodyPr wrap="square">
            <a:spAutoFit/>
          </a:bodyPr>
          <a:lstStyle/>
          <a:p>
            <a:pPr algn="l">
              <a:defRPr sz="1200" b="0">
                <a:solidFill>
                  <a:srgbClr val="1A1A2E"/>
                </a:solidFill>
                <a:latin typeface="Segoe UI"/>
              </a:defRPr>
            </a:pPr>
            <a:r>
              <a:t>Being phased out</a:t>
            </a:r>
          </a:p>
        </p:txBody>
      </p:sp>
      <p:sp>
        <p:nvSpPr>
          <p:cNvPr id="32" name="Rectangle 31">
            <a:extLst>
              <a:ext uri="{FF2B5EF4-FFF2-40B4-BE49-F238E27FC236}">
                <a16:creationId xmlns:a16="http://schemas.microsoft.com/office/drawing/2014/main" id="{2ED7CBE8-025D-3719-04C6-A01488836243}"/>
              </a:ext>
            </a:extLst>
          </p:cNvPr>
          <p:cNvSpPr/>
          <p:nvPr/>
        </p:nvSpPr>
        <p:spPr>
          <a:xfrm>
            <a:off x="731520" y="2880360"/>
            <a:ext cx="10515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1C4A6F19-3410-7AD5-4764-8EF1D362069F}"/>
              </a:ext>
            </a:extLst>
          </p:cNvPr>
          <p:cNvSpPr txBox="1"/>
          <p:nvPr/>
        </p:nvSpPr>
        <p:spPr>
          <a:xfrm>
            <a:off x="731520" y="2971800"/>
            <a:ext cx="2560320" cy="365760"/>
          </a:xfrm>
          <a:prstGeom prst="rect">
            <a:avLst/>
          </a:prstGeom>
          <a:noFill/>
        </p:spPr>
        <p:txBody>
          <a:bodyPr wrap="square">
            <a:spAutoFit/>
          </a:bodyPr>
          <a:lstStyle/>
          <a:p>
            <a:pPr algn="l">
              <a:defRPr sz="1200" b="0">
                <a:solidFill>
                  <a:srgbClr val="007ACC"/>
                </a:solidFill>
                <a:latin typeface="Segoe UI"/>
              </a:defRPr>
            </a:pPr>
            <a:r>
              <a:t>SHA-256</a:t>
            </a:r>
          </a:p>
        </p:txBody>
      </p:sp>
      <p:sp>
        <p:nvSpPr>
          <p:cNvPr id="34" name="TextBox 33">
            <a:extLst>
              <a:ext uri="{FF2B5EF4-FFF2-40B4-BE49-F238E27FC236}">
                <a16:creationId xmlns:a16="http://schemas.microsoft.com/office/drawing/2014/main" id="{1669D07A-EFB2-5744-813E-EE0FF42F0874}"/>
              </a:ext>
            </a:extLst>
          </p:cNvPr>
          <p:cNvSpPr txBox="1"/>
          <p:nvPr/>
        </p:nvSpPr>
        <p:spPr>
          <a:xfrm>
            <a:off x="3474720" y="2971800"/>
            <a:ext cx="2560320" cy="365760"/>
          </a:xfrm>
          <a:prstGeom prst="rect">
            <a:avLst/>
          </a:prstGeom>
          <a:noFill/>
        </p:spPr>
        <p:txBody>
          <a:bodyPr wrap="square">
            <a:spAutoFit/>
          </a:bodyPr>
          <a:lstStyle/>
          <a:p>
            <a:pPr algn="l">
              <a:defRPr sz="1200" b="0">
                <a:solidFill>
                  <a:srgbClr val="1A1A2E"/>
                </a:solidFill>
                <a:latin typeface="Segoe UI"/>
              </a:defRPr>
            </a:pPr>
            <a:r>
              <a:t>256-bit (64 hex)</a:t>
            </a:r>
          </a:p>
        </p:txBody>
      </p:sp>
      <p:sp>
        <p:nvSpPr>
          <p:cNvPr id="35" name="TextBox 34">
            <a:extLst>
              <a:ext uri="{FF2B5EF4-FFF2-40B4-BE49-F238E27FC236}">
                <a16:creationId xmlns:a16="http://schemas.microsoft.com/office/drawing/2014/main" id="{1EE986EB-DE60-6148-AC6A-FFF9ADB97C80}"/>
              </a:ext>
            </a:extLst>
          </p:cNvPr>
          <p:cNvSpPr txBox="1"/>
          <p:nvPr/>
        </p:nvSpPr>
        <p:spPr>
          <a:xfrm>
            <a:off x="6217920" y="2971800"/>
            <a:ext cx="2560320" cy="365760"/>
          </a:xfrm>
          <a:prstGeom prst="rect">
            <a:avLst/>
          </a:prstGeom>
          <a:noFill/>
        </p:spPr>
        <p:txBody>
          <a:bodyPr wrap="square">
            <a:spAutoFit/>
          </a:bodyPr>
          <a:lstStyle/>
          <a:p>
            <a:pPr algn="l">
              <a:defRPr sz="1200" b="0">
                <a:solidFill>
                  <a:srgbClr val="1A1A2E"/>
                </a:solidFill>
                <a:latin typeface="Segoe UI"/>
              </a:defRPr>
            </a:pPr>
            <a:r>
              <a:t>✅ Secure — no known attacks</a:t>
            </a:r>
          </a:p>
        </p:txBody>
      </p:sp>
      <p:sp>
        <p:nvSpPr>
          <p:cNvPr id="36" name="TextBox 35">
            <a:extLst>
              <a:ext uri="{FF2B5EF4-FFF2-40B4-BE49-F238E27FC236}">
                <a16:creationId xmlns:a16="http://schemas.microsoft.com/office/drawing/2014/main" id="{4E5E6240-8A2E-0FD2-BF5C-448033D87F08}"/>
              </a:ext>
            </a:extLst>
          </p:cNvPr>
          <p:cNvSpPr txBox="1"/>
          <p:nvPr/>
        </p:nvSpPr>
        <p:spPr>
          <a:xfrm>
            <a:off x="8961120" y="2971800"/>
            <a:ext cx="2560320" cy="365760"/>
          </a:xfrm>
          <a:prstGeom prst="rect">
            <a:avLst/>
          </a:prstGeom>
          <a:noFill/>
        </p:spPr>
        <p:txBody>
          <a:bodyPr wrap="square">
            <a:spAutoFit/>
          </a:bodyPr>
          <a:lstStyle/>
          <a:p>
            <a:pPr algn="l">
              <a:defRPr sz="1200" b="0">
                <a:solidFill>
                  <a:srgbClr val="1A1A2E"/>
                </a:solidFill>
                <a:latin typeface="Segoe UI"/>
              </a:defRPr>
            </a:pPr>
            <a:r>
              <a:t>Industry standard</a:t>
            </a:r>
          </a:p>
        </p:txBody>
      </p:sp>
      <p:sp>
        <p:nvSpPr>
          <p:cNvPr id="37" name="Rectangle 36">
            <a:extLst>
              <a:ext uri="{FF2B5EF4-FFF2-40B4-BE49-F238E27FC236}">
                <a16:creationId xmlns:a16="http://schemas.microsoft.com/office/drawing/2014/main" id="{5B7B0B5F-5912-4C07-6571-94D3DAD66C64}"/>
              </a:ext>
            </a:extLst>
          </p:cNvPr>
          <p:cNvSpPr/>
          <p:nvPr/>
        </p:nvSpPr>
        <p:spPr>
          <a:xfrm>
            <a:off x="731520" y="3474720"/>
            <a:ext cx="10515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1646B44E-48A4-C11E-1792-F7BAE8529E82}"/>
              </a:ext>
            </a:extLst>
          </p:cNvPr>
          <p:cNvSpPr txBox="1"/>
          <p:nvPr/>
        </p:nvSpPr>
        <p:spPr>
          <a:xfrm>
            <a:off x="731520" y="3566160"/>
            <a:ext cx="2560320" cy="365760"/>
          </a:xfrm>
          <a:prstGeom prst="rect">
            <a:avLst/>
          </a:prstGeom>
          <a:noFill/>
        </p:spPr>
        <p:txBody>
          <a:bodyPr wrap="square">
            <a:spAutoFit/>
          </a:bodyPr>
          <a:lstStyle/>
          <a:p>
            <a:pPr algn="l">
              <a:defRPr sz="1200" b="0">
                <a:solidFill>
                  <a:srgbClr val="007ACC"/>
                </a:solidFill>
                <a:latin typeface="Segoe UI"/>
              </a:defRPr>
            </a:pPr>
            <a:r>
              <a:t>SHA-512</a:t>
            </a:r>
          </a:p>
        </p:txBody>
      </p:sp>
      <p:sp>
        <p:nvSpPr>
          <p:cNvPr id="39" name="TextBox 38">
            <a:extLst>
              <a:ext uri="{FF2B5EF4-FFF2-40B4-BE49-F238E27FC236}">
                <a16:creationId xmlns:a16="http://schemas.microsoft.com/office/drawing/2014/main" id="{3029FFA0-A64B-D3C0-6AF8-3D24E1EF9A14}"/>
              </a:ext>
            </a:extLst>
          </p:cNvPr>
          <p:cNvSpPr txBox="1"/>
          <p:nvPr/>
        </p:nvSpPr>
        <p:spPr>
          <a:xfrm>
            <a:off x="3474720" y="3566160"/>
            <a:ext cx="2560320" cy="365760"/>
          </a:xfrm>
          <a:prstGeom prst="rect">
            <a:avLst/>
          </a:prstGeom>
          <a:noFill/>
        </p:spPr>
        <p:txBody>
          <a:bodyPr wrap="square">
            <a:spAutoFit/>
          </a:bodyPr>
          <a:lstStyle/>
          <a:p>
            <a:pPr algn="l">
              <a:defRPr sz="1200" b="0">
                <a:solidFill>
                  <a:srgbClr val="1A1A2E"/>
                </a:solidFill>
                <a:latin typeface="Segoe UI"/>
              </a:defRPr>
            </a:pPr>
            <a:r>
              <a:t>512-bit (128 hex)</a:t>
            </a:r>
          </a:p>
        </p:txBody>
      </p:sp>
      <p:sp>
        <p:nvSpPr>
          <p:cNvPr id="40" name="TextBox 39">
            <a:extLst>
              <a:ext uri="{FF2B5EF4-FFF2-40B4-BE49-F238E27FC236}">
                <a16:creationId xmlns:a16="http://schemas.microsoft.com/office/drawing/2014/main" id="{AA273DA6-E815-8B89-3A63-C85C4585EC61}"/>
              </a:ext>
            </a:extLst>
          </p:cNvPr>
          <p:cNvSpPr txBox="1"/>
          <p:nvPr/>
        </p:nvSpPr>
        <p:spPr>
          <a:xfrm>
            <a:off x="6217920" y="3566160"/>
            <a:ext cx="2560320" cy="365760"/>
          </a:xfrm>
          <a:prstGeom prst="rect">
            <a:avLst/>
          </a:prstGeom>
          <a:noFill/>
        </p:spPr>
        <p:txBody>
          <a:bodyPr wrap="square">
            <a:spAutoFit/>
          </a:bodyPr>
          <a:lstStyle/>
          <a:p>
            <a:pPr algn="l">
              <a:defRPr sz="1200" b="0">
                <a:solidFill>
                  <a:srgbClr val="1A1A2E"/>
                </a:solidFill>
                <a:latin typeface="Segoe UI"/>
              </a:defRPr>
            </a:pPr>
            <a:r>
              <a:t>✅ Strongest common option</a:t>
            </a:r>
          </a:p>
        </p:txBody>
      </p:sp>
      <p:sp>
        <p:nvSpPr>
          <p:cNvPr id="41" name="TextBox 40">
            <a:extLst>
              <a:ext uri="{FF2B5EF4-FFF2-40B4-BE49-F238E27FC236}">
                <a16:creationId xmlns:a16="http://schemas.microsoft.com/office/drawing/2014/main" id="{7E555D67-9AAF-DE6D-0DF6-3EB39323E6CB}"/>
              </a:ext>
            </a:extLst>
          </p:cNvPr>
          <p:cNvSpPr txBox="1"/>
          <p:nvPr/>
        </p:nvSpPr>
        <p:spPr>
          <a:xfrm>
            <a:off x="8961120" y="3566160"/>
            <a:ext cx="2560320" cy="365760"/>
          </a:xfrm>
          <a:prstGeom prst="rect">
            <a:avLst/>
          </a:prstGeom>
          <a:noFill/>
        </p:spPr>
        <p:txBody>
          <a:bodyPr wrap="square">
            <a:spAutoFit/>
          </a:bodyPr>
          <a:lstStyle/>
          <a:p>
            <a:pPr algn="l">
              <a:defRPr sz="1200" b="0">
                <a:solidFill>
                  <a:srgbClr val="1A1A2E"/>
                </a:solidFill>
                <a:latin typeface="Segoe UI"/>
              </a:defRPr>
            </a:pPr>
            <a:r>
              <a:t>High-security</a:t>
            </a:r>
          </a:p>
        </p:txBody>
      </p:sp>
      <p:sp>
        <p:nvSpPr>
          <p:cNvPr id="42" name="Rectangle 41">
            <a:extLst>
              <a:ext uri="{FF2B5EF4-FFF2-40B4-BE49-F238E27FC236}">
                <a16:creationId xmlns:a16="http://schemas.microsoft.com/office/drawing/2014/main" id="{803EEB60-A35D-123F-7CEE-71FFACB454EB}"/>
              </a:ext>
            </a:extLst>
          </p:cNvPr>
          <p:cNvSpPr/>
          <p:nvPr/>
        </p:nvSpPr>
        <p:spPr>
          <a:xfrm>
            <a:off x="731520" y="4069080"/>
            <a:ext cx="10515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27">
            <a:extLst>
              <a:ext uri="{FF2B5EF4-FFF2-40B4-BE49-F238E27FC236}">
                <a16:creationId xmlns:a16="http://schemas.microsoft.com/office/drawing/2014/main" id="{D8B27DB4-B5C9-D69D-F5B4-1C3F3305AF34}"/>
              </a:ext>
            </a:extLst>
          </p:cNvPr>
          <p:cNvSpPr/>
          <p:nvPr/>
        </p:nvSpPr>
        <p:spPr>
          <a:xfrm>
            <a:off x="826475" y="4572000"/>
            <a:ext cx="2926080" cy="1097280"/>
          </a:xfrm>
          <a:prstGeom prst="roundRect">
            <a:avLst/>
          </a:prstGeom>
          <a:solidFill>
            <a:srgbClr val="F4F6F9"/>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032F2563-D2C9-9022-BC0F-F4836DFF9018}"/>
              </a:ext>
            </a:extLst>
          </p:cNvPr>
          <p:cNvSpPr txBox="1"/>
          <p:nvPr/>
        </p:nvSpPr>
        <p:spPr>
          <a:xfrm>
            <a:off x="826475" y="4832252"/>
            <a:ext cx="2926080" cy="492443"/>
          </a:xfrm>
          <a:prstGeom prst="rect">
            <a:avLst/>
          </a:prstGeom>
          <a:noFill/>
        </p:spPr>
        <p:txBody>
          <a:bodyPr wrap="square">
            <a:spAutoFit/>
          </a:bodyPr>
          <a:lstStyle/>
          <a:p>
            <a:pPr algn="ctr">
              <a:defRPr sz="1300" b="1">
                <a:solidFill>
                  <a:srgbClr val="007ACC"/>
                </a:solidFill>
                <a:latin typeface="Segoe UI"/>
              </a:defRPr>
            </a:pPr>
            <a:r>
              <a:rPr dirty="0"/>
              <a:t>Input File</a:t>
            </a:r>
            <a:br>
              <a:rPr dirty="0"/>
            </a:br>
            <a:r>
              <a:rPr dirty="0"/>
              <a:t>(any size)</a:t>
            </a:r>
          </a:p>
        </p:txBody>
      </p:sp>
      <p:sp>
        <p:nvSpPr>
          <p:cNvPr id="45" name="TextBox 44">
            <a:extLst>
              <a:ext uri="{FF2B5EF4-FFF2-40B4-BE49-F238E27FC236}">
                <a16:creationId xmlns:a16="http://schemas.microsoft.com/office/drawing/2014/main" id="{1E8B3FCC-09D7-B16A-16F3-76BD5E0B90E0}"/>
              </a:ext>
            </a:extLst>
          </p:cNvPr>
          <p:cNvSpPr txBox="1"/>
          <p:nvPr/>
        </p:nvSpPr>
        <p:spPr>
          <a:xfrm>
            <a:off x="3752555" y="4846320"/>
            <a:ext cx="548640" cy="548640"/>
          </a:xfrm>
          <a:prstGeom prst="rect">
            <a:avLst/>
          </a:prstGeom>
          <a:noFill/>
        </p:spPr>
        <p:txBody>
          <a:bodyPr wrap="square">
            <a:spAutoFit/>
          </a:bodyPr>
          <a:lstStyle/>
          <a:p>
            <a:pPr algn="ctr">
              <a:defRPr sz="2200" b="0">
                <a:solidFill>
                  <a:srgbClr val="8890A0"/>
                </a:solidFill>
                <a:latin typeface="Segoe UI"/>
              </a:defRPr>
            </a:pPr>
            <a:r>
              <a:t>→</a:t>
            </a:r>
          </a:p>
        </p:txBody>
      </p:sp>
      <p:sp>
        <p:nvSpPr>
          <p:cNvPr id="46" name="Rounded Rectangle 30">
            <a:extLst>
              <a:ext uri="{FF2B5EF4-FFF2-40B4-BE49-F238E27FC236}">
                <a16:creationId xmlns:a16="http://schemas.microsoft.com/office/drawing/2014/main" id="{48D39967-08EF-7F4A-6FBF-E71E0AA64B39}"/>
              </a:ext>
            </a:extLst>
          </p:cNvPr>
          <p:cNvSpPr/>
          <p:nvPr/>
        </p:nvSpPr>
        <p:spPr>
          <a:xfrm>
            <a:off x="4301195" y="4572000"/>
            <a:ext cx="2926080" cy="1097280"/>
          </a:xfrm>
          <a:prstGeom prst="roundRect">
            <a:avLst/>
          </a:prstGeom>
          <a:solidFill>
            <a:srgbClr val="F4F6F9"/>
          </a:solidFill>
          <a:ln w="12700">
            <a:solidFill>
              <a:srgbClr val="00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1800FBFA-B330-36FF-52D9-9F6E3DDD695C}"/>
              </a:ext>
            </a:extLst>
          </p:cNvPr>
          <p:cNvSpPr txBox="1"/>
          <p:nvPr/>
        </p:nvSpPr>
        <p:spPr>
          <a:xfrm>
            <a:off x="4301195" y="4832252"/>
            <a:ext cx="2926080" cy="914400"/>
          </a:xfrm>
          <a:prstGeom prst="rect">
            <a:avLst/>
          </a:prstGeom>
          <a:noFill/>
        </p:spPr>
        <p:txBody>
          <a:bodyPr wrap="square">
            <a:spAutoFit/>
          </a:bodyPr>
          <a:lstStyle/>
          <a:p>
            <a:pPr algn="ctr">
              <a:defRPr sz="1300" b="1">
                <a:solidFill>
                  <a:srgbClr val="008A4E"/>
                </a:solidFill>
                <a:latin typeface="Segoe UI"/>
              </a:defRPr>
            </a:pPr>
            <a:r>
              <a:rPr dirty="0"/>
              <a:t>SHA-256</a:t>
            </a:r>
            <a:br>
              <a:rPr dirty="0"/>
            </a:br>
            <a:r>
              <a:rPr dirty="0"/>
              <a:t>hashlib.sha256()</a:t>
            </a:r>
          </a:p>
        </p:txBody>
      </p:sp>
      <p:sp>
        <p:nvSpPr>
          <p:cNvPr id="48" name="TextBox 47">
            <a:extLst>
              <a:ext uri="{FF2B5EF4-FFF2-40B4-BE49-F238E27FC236}">
                <a16:creationId xmlns:a16="http://schemas.microsoft.com/office/drawing/2014/main" id="{88AFD714-1736-1F73-E08B-920031F69824}"/>
              </a:ext>
            </a:extLst>
          </p:cNvPr>
          <p:cNvSpPr txBox="1"/>
          <p:nvPr/>
        </p:nvSpPr>
        <p:spPr>
          <a:xfrm>
            <a:off x="7227275" y="4846320"/>
            <a:ext cx="548640" cy="548640"/>
          </a:xfrm>
          <a:prstGeom prst="rect">
            <a:avLst/>
          </a:prstGeom>
          <a:noFill/>
        </p:spPr>
        <p:txBody>
          <a:bodyPr wrap="square">
            <a:spAutoFit/>
          </a:bodyPr>
          <a:lstStyle/>
          <a:p>
            <a:pPr algn="ctr">
              <a:defRPr sz="2200" b="0">
                <a:solidFill>
                  <a:srgbClr val="8890A0"/>
                </a:solidFill>
                <a:latin typeface="Segoe UI"/>
              </a:defRPr>
            </a:pPr>
            <a:r>
              <a:t>→</a:t>
            </a:r>
          </a:p>
        </p:txBody>
      </p:sp>
      <p:sp>
        <p:nvSpPr>
          <p:cNvPr id="49" name="Rounded Rectangle 33">
            <a:extLst>
              <a:ext uri="{FF2B5EF4-FFF2-40B4-BE49-F238E27FC236}">
                <a16:creationId xmlns:a16="http://schemas.microsoft.com/office/drawing/2014/main" id="{050468D3-DBFB-BC9E-4967-4064DB90AD5F}"/>
              </a:ext>
            </a:extLst>
          </p:cNvPr>
          <p:cNvSpPr/>
          <p:nvPr/>
        </p:nvSpPr>
        <p:spPr>
          <a:xfrm>
            <a:off x="7775915" y="4572000"/>
            <a:ext cx="2926080" cy="1097280"/>
          </a:xfrm>
          <a:prstGeom prst="roundRect">
            <a:avLst/>
          </a:prstGeom>
          <a:solidFill>
            <a:srgbClr val="F4F6F9"/>
          </a:solidFill>
          <a:ln w="12700">
            <a:solidFill>
              <a:srgbClr val="BB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a:extLst>
              <a:ext uri="{FF2B5EF4-FFF2-40B4-BE49-F238E27FC236}">
                <a16:creationId xmlns:a16="http://schemas.microsoft.com/office/drawing/2014/main" id="{98901322-8074-D6F0-F07D-D8B52D1E9D34}"/>
              </a:ext>
            </a:extLst>
          </p:cNvPr>
          <p:cNvSpPr txBox="1"/>
          <p:nvPr/>
        </p:nvSpPr>
        <p:spPr>
          <a:xfrm>
            <a:off x="7775915" y="4832252"/>
            <a:ext cx="2926080" cy="914400"/>
          </a:xfrm>
          <a:prstGeom prst="rect">
            <a:avLst/>
          </a:prstGeom>
          <a:noFill/>
        </p:spPr>
        <p:txBody>
          <a:bodyPr wrap="square">
            <a:spAutoFit/>
          </a:bodyPr>
          <a:lstStyle/>
          <a:p>
            <a:pPr algn="ctr">
              <a:defRPr sz="1300" b="1">
                <a:solidFill>
                  <a:srgbClr val="BB7700"/>
                </a:solidFill>
                <a:latin typeface="Segoe UI"/>
              </a:defRPr>
            </a:pPr>
            <a:r>
              <a:rPr dirty="0"/>
              <a:t>64-char hex</a:t>
            </a:r>
            <a:br>
              <a:rPr dirty="0"/>
            </a:br>
            <a:r>
              <a:rPr dirty="0"/>
              <a:t>fingerprint</a:t>
            </a:r>
          </a:p>
        </p:txBody>
      </p:sp>
    </p:spTree>
    <p:extLst>
      <p:ext uri="{BB962C8B-B14F-4D97-AF65-F5344CB8AC3E}">
        <p14:creationId xmlns:p14="http://schemas.microsoft.com/office/powerpoint/2010/main" val="2410732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D9B74D-A047-08E6-C496-57543D481FA2}"/>
              </a:ext>
            </a:extLst>
          </p:cNvPr>
          <p:cNvSpPr/>
          <p:nvPr/>
        </p:nvSpPr>
        <p:spPr>
          <a:xfrm>
            <a:off x="687256" y="2737376"/>
            <a:ext cx="2399572" cy="1467699"/>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B16E086-ACBD-E6A8-AE4F-FD6EBC79544E}"/>
              </a:ext>
            </a:extLst>
          </p:cNvPr>
          <p:cNvSpPr txBox="1"/>
          <p:nvPr/>
        </p:nvSpPr>
        <p:spPr>
          <a:xfrm>
            <a:off x="407694" y="2737376"/>
            <a:ext cx="2958696" cy="954107"/>
          </a:xfrm>
          <a:prstGeom prst="rect">
            <a:avLst/>
          </a:prstGeom>
          <a:noFill/>
        </p:spPr>
        <p:txBody>
          <a:bodyPr wrap="square" rtlCol="0">
            <a:spAutoFit/>
          </a:bodyPr>
          <a:lstStyle/>
          <a:p>
            <a:r>
              <a:rPr lang="en-IN" sz="2800" dirty="0">
                <a:solidFill>
                  <a:schemeClr val="bg1"/>
                </a:solidFill>
              </a:rPr>
              <a:t>SHA-256 vs MD5 Deep Dive</a:t>
            </a:r>
            <a:endParaRPr lang="en-IN" dirty="0">
              <a:solidFill>
                <a:schemeClr val="bg1"/>
              </a:solidFill>
            </a:endParaRPr>
          </a:p>
        </p:txBody>
      </p:sp>
      <p:sp>
        <p:nvSpPr>
          <p:cNvPr id="12" name="Rounded Rectangle 3">
            <a:extLst>
              <a:ext uri="{FF2B5EF4-FFF2-40B4-BE49-F238E27FC236}">
                <a16:creationId xmlns:a16="http://schemas.microsoft.com/office/drawing/2014/main" id="{E1F060E9-A71A-0759-1CAF-ED81A05E373B}"/>
              </a:ext>
            </a:extLst>
          </p:cNvPr>
          <p:cNvSpPr/>
          <p:nvPr/>
        </p:nvSpPr>
        <p:spPr>
          <a:xfrm>
            <a:off x="4223364" y="726142"/>
            <a:ext cx="3791691" cy="4507312"/>
          </a:xfrm>
          <a:prstGeom prst="roundRect">
            <a:avLst/>
          </a:prstGeom>
          <a:solidFill>
            <a:srgbClr val="FFF0F0"/>
          </a:solidFill>
          <a:ln w="1270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CD82A802-75AE-A83C-8251-F1F246A0E675}"/>
              </a:ext>
            </a:extLst>
          </p:cNvPr>
          <p:cNvSpPr txBox="1"/>
          <p:nvPr/>
        </p:nvSpPr>
        <p:spPr>
          <a:xfrm>
            <a:off x="4982963" y="1267171"/>
            <a:ext cx="3497484" cy="399712"/>
          </a:xfrm>
          <a:prstGeom prst="rect">
            <a:avLst/>
          </a:prstGeom>
          <a:noFill/>
        </p:spPr>
        <p:txBody>
          <a:bodyPr wrap="square">
            <a:spAutoFit/>
          </a:bodyPr>
          <a:lstStyle/>
          <a:p>
            <a:pPr algn="l">
              <a:defRPr sz="2000" b="1">
                <a:solidFill>
                  <a:srgbClr val="CC2244"/>
                </a:solidFill>
                <a:latin typeface="Segoe UI"/>
              </a:defRPr>
            </a:pPr>
            <a:r>
              <a:rPr dirty="0"/>
              <a:t>MD5 (Broken)</a:t>
            </a:r>
          </a:p>
        </p:txBody>
      </p:sp>
      <p:sp>
        <p:nvSpPr>
          <p:cNvPr id="14" name="TextBox 13">
            <a:extLst>
              <a:ext uri="{FF2B5EF4-FFF2-40B4-BE49-F238E27FC236}">
                <a16:creationId xmlns:a16="http://schemas.microsoft.com/office/drawing/2014/main" id="{19699898-FD60-617A-7E84-45BD46BDB9A3}"/>
              </a:ext>
            </a:extLst>
          </p:cNvPr>
          <p:cNvSpPr txBox="1"/>
          <p:nvPr/>
        </p:nvSpPr>
        <p:spPr>
          <a:xfrm>
            <a:off x="4552657" y="1937824"/>
            <a:ext cx="3497484" cy="292388"/>
          </a:xfrm>
          <a:prstGeom prst="rect">
            <a:avLst/>
          </a:prstGeom>
          <a:noFill/>
        </p:spPr>
        <p:txBody>
          <a:bodyPr wrap="square">
            <a:spAutoFit/>
          </a:bodyPr>
          <a:lstStyle/>
          <a:p>
            <a:pPr algn="l">
              <a:defRPr sz="1300" b="0">
                <a:solidFill>
                  <a:srgbClr val="1A1A2E"/>
                </a:solidFill>
                <a:latin typeface="Segoe UI"/>
              </a:defRPr>
            </a:pPr>
            <a:r>
              <a:rPr dirty="0"/>
              <a:t>✗  128-bit output (32 hex characters)</a:t>
            </a:r>
          </a:p>
        </p:txBody>
      </p:sp>
      <p:sp>
        <p:nvSpPr>
          <p:cNvPr id="15" name="TextBox 14">
            <a:extLst>
              <a:ext uri="{FF2B5EF4-FFF2-40B4-BE49-F238E27FC236}">
                <a16:creationId xmlns:a16="http://schemas.microsoft.com/office/drawing/2014/main" id="{E3B1AF54-C832-2562-84B5-77F2A2021292}"/>
              </a:ext>
            </a:extLst>
          </p:cNvPr>
          <p:cNvSpPr txBox="1"/>
          <p:nvPr/>
        </p:nvSpPr>
        <p:spPr>
          <a:xfrm>
            <a:off x="4552657" y="2486464"/>
            <a:ext cx="3497484" cy="292388"/>
          </a:xfrm>
          <a:prstGeom prst="rect">
            <a:avLst/>
          </a:prstGeom>
          <a:noFill/>
        </p:spPr>
        <p:txBody>
          <a:bodyPr wrap="square">
            <a:spAutoFit/>
          </a:bodyPr>
          <a:lstStyle/>
          <a:p>
            <a:pPr algn="l">
              <a:defRPr sz="1300" b="0">
                <a:solidFill>
                  <a:srgbClr val="1A1A2E"/>
                </a:solidFill>
                <a:latin typeface="Segoe UI"/>
              </a:defRPr>
            </a:pPr>
            <a:r>
              <a:rPr dirty="0"/>
              <a:t>✗  Created by Ron Rivest in 1991</a:t>
            </a:r>
          </a:p>
        </p:txBody>
      </p:sp>
      <p:sp>
        <p:nvSpPr>
          <p:cNvPr id="16" name="TextBox 15">
            <a:extLst>
              <a:ext uri="{FF2B5EF4-FFF2-40B4-BE49-F238E27FC236}">
                <a16:creationId xmlns:a16="http://schemas.microsoft.com/office/drawing/2014/main" id="{129086F1-2DE9-B4D7-74EF-080B678EEE26}"/>
              </a:ext>
            </a:extLst>
          </p:cNvPr>
          <p:cNvSpPr txBox="1"/>
          <p:nvPr/>
        </p:nvSpPr>
        <p:spPr>
          <a:xfrm>
            <a:off x="4552657" y="3035104"/>
            <a:ext cx="3497484" cy="292388"/>
          </a:xfrm>
          <a:prstGeom prst="rect">
            <a:avLst/>
          </a:prstGeom>
          <a:noFill/>
        </p:spPr>
        <p:txBody>
          <a:bodyPr wrap="square">
            <a:spAutoFit/>
          </a:bodyPr>
          <a:lstStyle/>
          <a:p>
            <a:pPr algn="l">
              <a:defRPr sz="1300" b="0">
                <a:solidFill>
                  <a:srgbClr val="1A1A2E"/>
                </a:solidFill>
                <a:latin typeface="Segoe UI"/>
              </a:defRPr>
            </a:pPr>
            <a:r>
              <a:rPr dirty="0"/>
              <a:t>✗  Collision attacks proven feasible</a:t>
            </a:r>
          </a:p>
        </p:txBody>
      </p:sp>
      <p:sp>
        <p:nvSpPr>
          <p:cNvPr id="17" name="TextBox 16">
            <a:extLst>
              <a:ext uri="{FF2B5EF4-FFF2-40B4-BE49-F238E27FC236}">
                <a16:creationId xmlns:a16="http://schemas.microsoft.com/office/drawing/2014/main" id="{D654BDD9-BF35-A6FE-6806-30FEB522D329}"/>
              </a:ext>
            </a:extLst>
          </p:cNvPr>
          <p:cNvSpPr txBox="1"/>
          <p:nvPr/>
        </p:nvSpPr>
        <p:spPr>
          <a:xfrm>
            <a:off x="4552657" y="3583744"/>
            <a:ext cx="3497484" cy="292388"/>
          </a:xfrm>
          <a:prstGeom prst="rect">
            <a:avLst/>
          </a:prstGeom>
          <a:noFill/>
        </p:spPr>
        <p:txBody>
          <a:bodyPr wrap="square">
            <a:spAutoFit/>
          </a:bodyPr>
          <a:lstStyle/>
          <a:p>
            <a:pPr algn="l">
              <a:defRPr sz="1300" b="0">
                <a:solidFill>
                  <a:srgbClr val="1A1A2E"/>
                </a:solidFill>
                <a:latin typeface="Segoe UI"/>
              </a:defRPr>
            </a:pPr>
            <a:r>
              <a:rPr dirty="0"/>
              <a:t>✗  Fast but insecure for FIM</a:t>
            </a:r>
          </a:p>
        </p:txBody>
      </p:sp>
      <p:sp>
        <p:nvSpPr>
          <p:cNvPr id="18" name="TextBox 17">
            <a:extLst>
              <a:ext uri="{FF2B5EF4-FFF2-40B4-BE49-F238E27FC236}">
                <a16:creationId xmlns:a16="http://schemas.microsoft.com/office/drawing/2014/main" id="{778D95C6-5F55-0E85-40E3-F95065662BD2}"/>
              </a:ext>
            </a:extLst>
          </p:cNvPr>
          <p:cNvSpPr txBox="1"/>
          <p:nvPr/>
        </p:nvSpPr>
        <p:spPr>
          <a:xfrm>
            <a:off x="4552657" y="4132384"/>
            <a:ext cx="3497484" cy="292388"/>
          </a:xfrm>
          <a:prstGeom prst="rect">
            <a:avLst/>
          </a:prstGeom>
          <a:noFill/>
        </p:spPr>
        <p:txBody>
          <a:bodyPr wrap="square">
            <a:spAutoFit/>
          </a:bodyPr>
          <a:lstStyle/>
          <a:p>
            <a:pPr algn="l">
              <a:defRPr sz="1300" b="0">
                <a:solidFill>
                  <a:srgbClr val="1A1A2E"/>
                </a:solidFill>
                <a:latin typeface="Segoe UI"/>
              </a:defRPr>
            </a:pPr>
            <a:r>
              <a:rPr dirty="0"/>
              <a:t>✗  Used only for backward compatibility</a:t>
            </a:r>
          </a:p>
        </p:txBody>
      </p:sp>
      <p:sp>
        <p:nvSpPr>
          <p:cNvPr id="19" name="TextBox 18">
            <a:extLst>
              <a:ext uri="{FF2B5EF4-FFF2-40B4-BE49-F238E27FC236}">
                <a16:creationId xmlns:a16="http://schemas.microsoft.com/office/drawing/2014/main" id="{1E55F30B-5041-44B6-DBC3-2C81F2A9D7EF}"/>
              </a:ext>
            </a:extLst>
          </p:cNvPr>
          <p:cNvSpPr txBox="1"/>
          <p:nvPr/>
        </p:nvSpPr>
        <p:spPr>
          <a:xfrm>
            <a:off x="4552657" y="4681024"/>
            <a:ext cx="3497484" cy="292388"/>
          </a:xfrm>
          <a:prstGeom prst="rect">
            <a:avLst/>
          </a:prstGeom>
          <a:noFill/>
        </p:spPr>
        <p:txBody>
          <a:bodyPr wrap="square">
            <a:spAutoFit/>
          </a:bodyPr>
          <a:lstStyle/>
          <a:p>
            <a:pPr algn="l">
              <a:defRPr sz="1300" b="0">
                <a:solidFill>
                  <a:srgbClr val="1A1A2E"/>
                </a:solidFill>
                <a:latin typeface="Segoe UI"/>
              </a:defRPr>
            </a:pPr>
            <a:r>
              <a:rPr dirty="0"/>
              <a:t>✗  NOT suitable for security use</a:t>
            </a:r>
          </a:p>
        </p:txBody>
      </p:sp>
      <p:sp>
        <p:nvSpPr>
          <p:cNvPr id="20" name="Rounded Rectangle 11">
            <a:extLst>
              <a:ext uri="{FF2B5EF4-FFF2-40B4-BE49-F238E27FC236}">
                <a16:creationId xmlns:a16="http://schemas.microsoft.com/office/drawing/2014/main" id="{DEDCBB22-4388-88AE-C7C4-04BB6319538B}"/>
              </a:ext>
            </a:extLst>
          </p:cNvPr>
          <p:cNvSpPr/>
          <p:nvPr/>
        </p:nvSpPr>
        <p:spPr>
          <a:xfrm>
            <a:off x="8194431" y="726142"/>
            <a:ext cx="3791691" cy="4507312"/>
          </a:xfrm>
          <a:prstGeom prst="roundRect">
            <a:avLst/>
          </a:prstGeom>
          <a:solidFill>
            <a:srgbClr val="F0FFF0"/>
          </a:solidFill>
          <a:ln w="12700">
            <a:solidFill>
              <a:srgbClr val="00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9CCAEF71-1DE2-53F4-77D5-1C3E2FDD1127}"/>
              </a:ext>
            </a:extLst>
          </p:cNvPr>
          <p:cNvSpPr txBox="1"/>
          <p:nvPr/>
        </p:nvSpPr>
        <p:spPr>
          <a:xfrm>
            <a:off x="9088798" y="1252151"/>
            <a:ext cx="3497484" cy="399712"/>
          </a:xfrm>
          <a:prstGeom prst="rect">
            <a:avLst/>
          </a:prstGeom>
          <a:noFill/>
        </p:spPr>
        <p:txBody>
          <a:bodyPr wrap="square">
            <a:spAutoFit/>
          </a:bodyPr>
          <a:lstStyle/>
          <a:p>
            <a:pPr algn="l">
              <a:defRPr sz="2000" b="1">
                <a:solidFill>
                  <a:srgbClr val="008A4E"/>
                </a:solidFill>
                <a:latin typeface="Segoe UI"/>
              </a:defRPr>
            </a:pPr>
            <a:r>
              <a:rPr dirty="0"/>
              <a:t>SHA-256 (Secure)</a:t>
            </a:r>
          </a:p>
        </p:txBody>
      </p:sp>
      <p:sp>
        <p:nvSpPr>
          <p:cNvPr id="22" name="TextBox 21">
            <a:extLst>
              <a:ext uri="{FF2B5EF4-FFF2-40B4-BE49-F238E27FC236}">
                <a16:creationId xmlns:a16="http://schemas.microsoft.com/office/drawing/2014/main" id="{4F7ADAC5-A574-CF28-69AA-578AAB6089BB}"/>
              </a:ext>
            </a:extLst>
          </p:cNvPr>
          <p:cNvSpPr txBox="1"/>
          <p:nvPr/>
        </p:nvSpPr>
        <p:spPr>
          <a:xfrm>
            <a:off x="8480447" y="1940312"/>
            <a:ext cx="3497484" cy="292388"/>
          </a:xfrm>
          <a:prstGeom prst="rect">
            <a:avLst/>
          </a:prstGeom>
          <a:noFill/>
        </p:spPr>
        <p:txBody>
          <a:bodyPr wrap="square">
            <a:spAutoFit/>
          </a:bodyPr>
          <a:lstStyle/>
          <a:p>
            <a:pPr algn="l">
              <a:defRPr sz="1300" b="0">
                <a:solidFill>
                  <a:srgbClr val="1A1A2E"/>
                </a:solidFill>
                <a:latin typeface="Segoe UI"/>
              </a:defRPr>
            </a:pPr>
            <a:r>
              <a:rPr dirty="0"/>
              <a:t>✓  256-bit output (64 hex characters)</a:t>
            </a:r>
          </a:p>
        </p:txBody>
      </p:sp>
      <p:sp>
        <p:nvSpPr>
          <p:cNvPr id="23" name="TextBox 22">
            <a:extLst>
              <a:ext uri="{FF2B5EF4-FFF2-40B4-BE49-F238E27FC236}">
                <a16:creationId xmlns:a16="http://schemas.microsoft.com/office/drawing/2014/main" id="{EB2DA284-F864-756E-12E2-D1199EBCE408}"/>
              </a:ext>
            </a:extLst>
          </p:cNvPr>
          <p:cNvSpPr txBox="1"/>
          <p:nvPr/>
        </p:nvSpPr>
        <p:spPr>
          <a:xfrm>
            <a:off x="8480447" y="2486464"/>
            <a:ext cx="3497484" cy="292388"/>
          </a:xfrm>
          <a:prstGeom prst="rect">
            <a:avLst/>
          </a:prstGeom>
          <a:noFill/>
        </p:spPr>
        <p:txBody>
          <a:bodyPr wrap="square">
            <a:spAutoFit/>
          </a:bodyPr>
          <a:lstStyle/>
          <a:p>
            <a:pPr algn="l">
              <a:defRPr sz="1300" b="0">
                <a:solidFill>
                  <a:srgbClr val="1A1A2E"/>
                </a:solidFill>
                <a:latin typeface="Segoe UI"/>
              </a:defRPr>
            </a:pPr>
            <a:r>
              <a:rPr dirty="0"/>
              <a:t>✓  Designed by NSA in 2001 (SHA-2)</a:t>
            </a:r>
          </a:p>
        </p:txBody>
      </p:sp>
      <p:sp>
        <p:nvSpPr>
          <p:cNvPr id="24" name="TextBox 23">
            <a:extLst>
              <a:ext uri="{FF2B5EF4-FFF2-40B4-BE49-F238E27FC236}">
                <a16:creationId xmlns:a16="http://schemas.microsoft.com/office/drawing/2014/main" id="{B583349B-05CD-64F6-3414-6DC137DFDC2E}"/>
              </a:ext>
            </a:extLst>
          </p:cNvPr>
          <p:cNvSpPr txBox="1"/>
          <p:nvPr/>
        </p:nvSpPr>
        <p:spPr>
          <a:xfrm>
            <a:off x="8488638" y="3031314"/>
            <a:ext cx="3497484" cy="292388"/>
          </a:xfrm>
          <a:prstGeom prst="rect">
            <a:avLst/>
          </a:prstGeom>
          <a:noFill/>
        </p:spPr>
        <p:txBody>
          <a:bodyPr wrap="square">
            <a:spAutoFit/>
          </a:bodyPr>
          <a:lstStyle/>
          <a:p>
            <a:pPr algn="l">
              <a:defRPr sz="1300" b="0">
                <a:solidFill>
                  <a:srgbClr val="1A1A2E"/>
                </a:solidFill>
                <a:latin typeface="Segoe UI"/>
              </a:defRPr>
            </a:pPr>
            <a:r>
              <a:rPr dirty="0"/>
              <a:t>✓  No known practical collisions</a:t>
            </a:r>
          </a:p>
        </p:txBody>
      </p:sp>
      <p:sp>
        <p:nvSpPr>
          <p:cNvPr id="25" name="TextBox 24">
            <a:extLst>
              <a:ext uri="{FF2B5EF4-FFF2-40B4-BE49-F238E27FC236}">
                <a16:creationId xmlns:a16="http://schemas.microsoft.com/office/drawing/2014/main" id="{10B24B59-2600-34A3-B74C-C96EDBFACA08}"/>
              </a:ext>
            </a:extLst>
          </p:cNvPr>
          <p:cNvSpPr txBox="1"/>
          <p:nvPr/>
        </p:nvSpPr>
        <p:spPr>
          <a:xfrm>
            <a:off x="8480447" y="3583744"/>
            <a:ext cx="3497484" cy="292388"/>
          </a:xfrm>
          <a:prstGeom prst="rect">
            <a:avLst/>
          </a:prstGeom>
          <a:noFill/>
        </p:spPr>
        <p:txBody>
          <a:bodyPr wrap="square">
            <a:spAutoFit/>
          </a:bodyPr>
          <a:lstStyle/>
          <a:p>
            <a:pPr algn="l">
              <a:defRPr sz="1300" b="0">
                <a:solidFill>
                  <a:srgbClr val="1A1A2E"/>
                </a:solidFill>
                <a:latin typeface="Segoe UI"/>
              </a:defRPr>
            </a:pPr>
            <a:r>
              <a:rPr dirty="0"/>
              <a:t>✓  Used in Bitcoin, SSL/TLS, code signing</a:t>
            </a:r>
          </a:p>
        </p:txBody>
      </p:sp>
      <p:sp>
        <p:nvSpPr>
          <p:cNvPr id="26" name="TextBox 25">
            <a:extLst>
              <a:ext uri="{FF2B5EF4-FFF2-40B4-BE49-F238E27FC236}">
                <a16:creationId xmlns:a16="http://schemas.microsoft.com/office/drawing/2014/main" id="{290E47BB-A836-367C-0605-A8E2C6AE7BE0}"/>
              </a:ext>
            </a:extLst>
          </p:cNvPr>
          <p:cNvSpPr txBox="1"/>
          <p:nvPr/>
        </p:nvSpPr>
        <p:spPr>
          <a:xfrm>
            <a:off x="8488638" y="4132384"/>
            <a:ext cx="3497484" cy="292388"/>
          </a:xfrm>
          <a:prstGeom prst="rect">
            <a:avLst/>
          </a:prstGeom>
          <a:noFill/>
        </p:spPr>
        <p:txBody>
          <a:bodyPr wrap="square">
            <a:spAutoFit/>
          </a:bodyPr>
          <a:lstStyle/>
          <a:p>
            <a:pPr algn="l">
              <a:defRPr sz="1300" b="0">
                <a:solidFill>
                  <a:srgbClr val="1A1A2E"/>
                </a:solidFill>
                <a:latin typeface="Segoe UI"/>
              </a:defRPr>
            </a:pPr>
            <a:r>
              <a:rPr dirty="0"/>
              <a:t>✓  Industry standard for modern FIM</a:t>
            </a:r>
          </a:p>
        </p:txBody>
      </p:sp>
      <p:sp>
        <p:nvSpPr>
          <p:cNvPr id="27" name="TextBox 26">
            <a:extLst>
              <a:ext uri="{FF2B5EF4-FFF2-40B4-BE49-F238E27FC236}">
                <a16:creationId xmlns:a16="http://schemas.microsoft.com/office/drawing/2014/main" id="{55E20246-21A3-EDAB-CC4A-31700A47F6CE}"/>
              </a:ext>
            </a:extLst>
          </p:cNvPr>
          <p:cNvSpPr txBox="1"/>
          <p:nvPr/>
        </p:nvSpPr>
        <p:spPr>
          <a:xfrm>
            <a:off x="8488638" y="4681024"/>
            <a:ext cx="3497484" cy="292388"/>
          </a:xfrm>
          <a:prstGeom prst="rect">
            <a:avLst/>
          </a:prstGeom>
          <a:noFill/>
        </p:spPr>
        <p:txBody>
          <a:bodyPr wrap="square">
            <a:spAutoFit/>
          </a:bodyPr>
          <a:lstStyle/>
          <a:p>
            <a:pPr algn="l">
              <a:defRPr sz="1300" b="0">
                <a:solidFill>
                  <a:srgbClr val="1A1A2E"/>
                </a:solidFill>
                <a:latin typeface="Segoe UI"/>
              </a:defRPr>
            </a:pPr>
            <a:r>
              <a:rPr dirty="0"/>
              <a:t>✓  Our primary algorithm ✓</a:t>
            </a:r>
          </a:p>
        </p:txBody>
      </p:sp>
    </p:spTree>
    <p:extLst>
      <p:ext uri="{BB962C8B-B14F-4D97-AF65-F5344CB8AC3E}">
        <p14:creationId xmlns:p14="http://schemas.microsoft.com/office/powerpoint/2010/main" val="1594365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87206" y="274193"/>
            <a:ext cx="10834234" cy="612775"/>
          </a:xfrm>
        </p:spPr>
        <p:txBody>
          <a:bodyPr>
            <a:normAutofit/>
          </a:bodyPr>
          <a:lstStyle/>
          <a:p>
            <a:r>
              <a:rPr lang="en-IN" dirty="0">
                <a:solidFill>
                  <a:schemeClr val="accent1"/>
                </a:solidFill>
              </a:rPr>
              <a:t>Impact Analysis: Attack Targets</a:t>
            </a:r>
            <a:endParaRPr lang="en-US" dirty="0">
              <a:solidFill>
                <a:schemeClr val="accent1"/>
              </a:solidFill>
            </a:endParaRPr>
          </a:p>
        </p:txBody>
      </p:sp>
      <p:sp>
        <p:nvSpPr>
          <p:cNvPr id="8" name="Rectangle 7">
            <a:extLst>
              <a:ext uri="{FF2B5EF4-FFF2-40B4-BE49-F238E27FC236}">
                <a16:creationId xmlns:a16="http://schemas.microsoft.com/office/drawing/2014/main" id="{861891EC-A4E9-CE25-7E43-E1F38EFB3857}"/>
              </a:ext>
            </a:extLst>
          </p:cNvPr>
          <p:cNvSpPr/>
          <p:nvPr/>
        </p:nvSpPr>
        <p:spPr>
          <a:xfrm>
            <a:off x="731520" y="868680"/>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3BC25B3D-93B6-0705-B2AE-90A4EF749004}"/>
              </a:ext>
            </a:extLst>
          </p:cNvPr>
          <p:cNvSpPr txBox="1"/>
          <p:nvPr/>
        </p:nvSpPr>
        <p:spPr>
          <a:xfrm>
            <a:off x="731520" y="1188720"/>
            <a:ext cx="2926080" cy="365760"/>
          </a:xfrm>
          <a:prstGeom prst="rect">
            <a:avLst/>
          </a:prstGeom>
          <a:noFill/>
        </p:spPr>
        <p:txBody>
          <a:bodyPr wrap="square">
            <a:spAutoFit/>
          </a:bodyPr>
          <a:lstStyle/>
          <a:p>
            <a:pPr algn="l">
              <a:defRPr sz="1200" b="1">
                <a:solidFill>
                  <a:srgbClr val="007ACC"/>
                </a:solidFill>
                <a:latin typeface="Consolas"/>
              </a:defRPr>
            </a:pPr>
            <a:r>
              <a:t>/etc/passwd &amp; shadow</a:t>
            </a:r>
          </a:p>
        </p:txBody>
      </p:sp>
      <p:sp>
        <p:nvSpPr>
          <p:cNvPr id="10" name="TextBox 9">
            <a:extLst>
              <a:ext uri="{FF2B5EF4-FFF2-40B4-BE49-F238E27FC236}">
                <a16:creationId xmlns:a16="http://schemas.microsoft.com/office/drawing/2014/main" id="{6D6456FF-AD46-936F-8C6B-1328037C21DB}"/>
              </a:ext>
            </a:extLst>
          </p:cNvPr>
          <p:cNvSpPr txBox="1"/>
          <p:nvPr/>
        </p:nvSpPr>
        <p:spPr>
          <a:xfrm>
            <a:off x="3840480" y="1188720"/>
            <a:ext cx="5943600" cy="365760"/>
          </a:xfrm>
          <a:prstGeom prst="rect">
            <a:avLst/>
          </a:prstGeom>
          <a:noFill/>
        </p:spPr>
        <p:txBody>
          <a:bodyPr wrap="square">
            <a:spAutoFit/>
          </a:bodyPr>
          <a:lstStyle/>
          <a:p>
            <a:pPr algn="l">
              <a:defRPr sz="1200" b="0">
                <a:solidFill>
                  <a:srgbClr val="555E70"/>
                </a:solidFill>
                <a:latin typeface="Segoe UI"/>
              </a:defRPr>
            </a:pPr>
            <a:r>
              <a:t>Create backdoor accounts, weaken passwords</a:t>
            </a:r>
          </a:p>
        </p:txBody>
      </p:sp>
      <p:sp>
        <p:nvSpPr>
          <p:cNvPr id="11" name="TextBox 10">
            <a:extLst>
              <a:ext uri="{FF2B5EF4-FFF2-40B4-BE49-F238E27FC236}">
                <a16:creationId xmlns:a16="http://schemas.microsoft.com/office/drawing/2014/main" id="{6CCBEDDE-F31C-ECBB-AE0E-8ADC343EBE2C}"/>
              </a:ext>
            </a:extLst>
          </p:cNvPr>
          <p:cNvSpPr txBox="1"/>
          <p:nvPr/>
        </p:nvSpPr>
        <p:spPr>
          <a:xfrm>
            <a:off x="10058400" y="1188720"/>
            <a:ext cx="1371600" cy="365760"/>
          </a:xfrm>
          <a:prstGeom prst="rect">
            <a:avLst/>
          </a:prstGeom>
          <a:noFill/>
        </p:spPr>
        <p:txBody>
          <a:bodyPr wrap="square">
            <a:spAutoFit/>
          </a:bodyPr>
          <a:lstStyle/>
          <a:p>
            <a:pPr algn="l">
              <a:defRPr sz="1000" b="1">
                <a:solidFill>
                  <a:srgbClr val="CC2244"/>
                </a:solidFill>
                <a:latin typeface="Segoe UI"/>
              </a:defRPr>
            </a:pPr>
            <a:r>
              <a:t>CRITICAL</a:t>
            </a:r>
          </a:p>
        </p:txBody>
      </p:sp>
      <p:sp>
        <p:nvSpPr>
          <p:cNvPr id="12" name="Rectangle 11">
            <a:extLst>
              <a:ext uri="{FF2B5EF4-FFF2-40B4-BE49-F238E27FC236}">
                <a16:creationId xmlns:a16="http://schemas.microsoft.com/office/drawing/2014/main" id="{21548A07-7DC9-C194-0C1D-AA77BFCC065B}"/>
              </a:ext>
            </a:extLst>
          </p:cNvPr>
          <p:cNvSpPr/>
          <p:nvPr/>
        </p:nvSpPr>
        <p:spPr>
          <a:xfrm>
            <a:off x="731520" y="1737360"/>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AF087FB2-C75C-ABED-B9E1-6BEDAC731073}"/>
              </a:ext>
            </a:extLst>
          </p:cNvPr>
          <p:cNvSpPr txBox="1"/>
          <p:nvPr/>
        </p:nvSpPr>
        <p:spPr>
          <a:xfrm>
            <a:off x="731520" y="1828800"/>
            <a:ext cx="2926080" cy="365760"/>
          </a:xfrm>
          <a:prstGeom prst="rect">
            <a:avLst/>
          </a:prstGeom>
          <a:noFill/>
        </p:spPr>
        <p:txBody>
          <a:bodyPr wrap="square">
            <a:spAutoFit/>
          </a:bodyPr>
          <a:lstStyle/>
          <a:p>
            <a:pPr algn="l">
              <a:defRPr sz="1200" b="1">
                <a:solidFill>
                  <a:srgbClr val="007ACC"/>
                </a:solidFill>
                <a:latin typeface="Consolas"/>
              </a:defRPr>
            </a:pPr>
            <a:r>
              <a:t>cmd.exe / powershell.exe</a:t>
            </a:r>
          </a:p>
        </p:txBody>
      </p:sp>
      <p:sp>
        <p:nvSpPr>
          <p:cNvPr id="14" name="TextBox 13">
            <a:extLst>
              <a:ext uri="{FF2B5EF4-FFF2-40B4-BE49-F238E27FC236}">
                <a16:creationId xmlns:a16="http://schemas.microsoft.com/office/drawing/2014/main" id="{6DD4C699-54EB-A0C5-8A6E-424FF5A1D749}"/>
              </a:ext>
            </a:extLst>
          </p:cNvPr>
          <p:cNvSpPr txBox="1"/>
          <p:nvPr/>
        </p:nvSpPr>
        <p:spPr>
          <a:xfrm>
            <a:off x="3840480" y="1828800"/>
            <a:ext cx="5943600" cy="365760"/>
          </a:xfrm>
          <a:prstGeom prst="rect">
            <a:avLst/>
          </a:prstGeom>
          <a:noFill/>
        </p:spPr>
        <p:txBody>
          <a:bodyPr wrap="square">
            <a:spAutoFit/>
          </a:bodyPr>
          <a:lstStyle/>
          <a:p>
            <a:pPr algn="l">
              <a:defRPr sz="1200" b="0">
                <a:solidFill>
                  <a:srgbClr val="555E70"/>
                </a:solidFill>
                <a:latin typeface="Segoe UI"/>
              </a:defRPr>
            </a:pPr>
            <a:r>
              <a:t>Replace with trojanized versions capturing creds</a:t>
            </a:r>
          </a:p>
        </p:txBody>
      </p:sp>
      <p:sp>
        <p:nvSpPr>
          <p:cNvPr id="15" name="TextBox 14">
            <a:extLst>
              <a:ext uri="{FF2B5EF4-FFF2-40B4-BE49-F238E27FC236}">
                <a16:creationId xmlns:a16="http://schemas.microsoft.com/office/drawing/2014/main" id="{22BBE30C-015C-F3E4-7332-2A7630EE5331}"/>
              </a:ext>
            </a:extLst>
          </p:cNvPr>
          <p:cNvSpPr txBox="1"/>
          <p:nvPr/>
        </p:nvSpPr>
        <p:spPr>
          <a:xfrm>
            <a:off x="10058400" y="1828800"/>
            <a:ext cx="1371600" cy="365760"/>
          </a:xfrm>
          <a:prstGeom prst="rect">
            <a:avLst/>
          </a:prstGeom>
          <a:noFill/>
        </p:spPr>
        <p:txBody>
          <a:bodyPr wrap="square">
            <a:spAutoFit/>
          </a:bodyPr>
          <a:lstStyle/>
          <a:p>
            <a:pPr algn="l">
              <a:defRPr sz="1000" b="1">
                <a:solidFill>
                  <a:srgbClr val="CC2244"/>
                </a:solidFill>
                <a:latin typeface="Segoe UI"/>
              </a:defRPr>
            </a:pPr>
            <a:r>
              <a:t>CRITICAL</a:t>
            </a:r>
          </a:p>
        </p:txBody>
      </p:sp>
      <p:sp>
        <p:nvSpPr>
          <p:cNvPr id="16" name="Rectangle 15">
            <a:extLst>
              <a:ext uri="{FF2B5EF4-FFF2-40B4-BE49-F238E27FC236}">
                <a16:creationId xmlns:a16="http://schemas.microsoft.com/office/drawing/2014/main" id="{EB645022-5B3F-0316-F62A-599EA5E699F6}"/>
              </a:ext>
            </a:extLst>
          </p:cNvPr>
          <p:cNvSpPr/>
          <p:nvPr/>
        </p:nvSpPr>
        <p:spPr>
          <a:xfrm>
            <a:off x="731520" y="2377440"/>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D6ACEDA5-C77E-B499-202D-B67515E8F89C}"/>
              </a:ext>
            </a:extLst>
          </p:cNvPr>
          <p:cNvSpPr txBox="1"/>
          <p:nvPr/>
        </p:nvSpPr>
        <p:spPr>
          <a:xfrm>
            <a:off x="731520" y="2468880"/>
            <a:ext cx="2926080" cy="365760"/>
          </a:xfrm>
          <a:prstGeom prst="rect">
            <a:avLst/>
          </a:prstGeom>
          <a:noFill/>
        </p:spPr>
        <p:txBody>
          <a:bodyPr wrap="square">
            <a:spAutoFit/>
          </a:bodyPr>
          <a:lstStyle/>
          <a:p>
            <a:pPr algn="l">
              <a:defRPr sz="1200" b="1">
                <a:solidFill>
                  <a:srgbClr val="007ACC"/>
                </a:solidFill>
                <a:latin typeface="Consolas"/>
              </a:defRPr>
            </a:pPr>
            <a:r>
              <a:t>svchost.exe / kernel32.dll</a:t>
            </a:r>
          </a:p>
        </p:txBody>
      </p:sp>
      <p:sp>
        <p:nvSpPr>
          <p:cNvPr id="18" name="TextBox 17">
            <a:extLst>
              <a:ext uri="{FF2B5EF4-FFF2-40B4-BE49-F238E27FC236}">
                <a16:creationId xmlns:a16="http://schemas.microsoft.com/office/drawing/2014/main" id="{3D101A03-A025-8A25-7781-156B84D8DC31}"/>
              </a:ext>
            </a:extLst>
          </p:cNvPr>
          <p:cNvSpPr txBox="1"/>
          <p:nvPr/>
        </p:nvSpPr>
        <p:spPr>
          <a:xfrm>
            <a:off x="3840480" y="2468880"/>
            <a:ext cx="5943600" cy="365760"/>
          </a:xfrm>
          <a:prstGeom prst="rect">
            <a:avLst/>
          </a:prstGeom>
          <a:noFill/>
        </p:spPr>
        <p:txBody>
          <a:bodyPr wrap="square">
            <a:spAutoFit/>
          </a:bodyPr>
          <a:lstStyle/>
          <a:p>
            <a:pPr algn="l">
              <a:defRPr sz="1200" b="0">
                <a:solidFill>
                  <a:srgbClr val="555E70"/>
                </a:solidFill>
                <a:latin typeface="Segoe UI"/>
              </a:defRPr>
            </a:pPr>
            <a:r>
              <a:t>DLL hijacking, rootkit installation</a:t>
            </a:r>
          </a:p>
        </p:txBody>
      </p:sp>
      <p:sp>
        <p:nvSpPr>
          <p:cNvPr id="19" name="TextBox 18">
            <a:extLst>
              <a:ext uri="{FF2B5EF4-FFF2-40B4-BE49-F238E27FC236}">
                <a16:creationId xmlns:a16="http://schemas.microsoft.com/office/drawing/2014/main" id="{0D0124C3-133E-EFB6-0DF9-E33A6950B7FB}"/>
              </a:ext>
            </a:extLst>
          </p:cNvPr>
          <p:cNvSpPr txBox="1"/>
          <p:nvPr/>
        </p:nvSpPr>
        <p:spPr>
          <a:xfrm>
            <a:off x="10058400" y="2468880"/>
            <a:ext cx="1371600" cy="365760"/>
          </a:xfrm>
          <a:prstGeom prst="rect">
            <a:avLst/>
          </a:prstGeom>
          <a:noFill/>
        </p:spPr>
        <p:txBody>
          <a:bodyPr wrap="square">
            <a:spAutoFit/>
          </a:bodyPr>
          <a:lstStyle/>
          <a:p>
            <a:pPr algn="l">
              <a:defRPr sz="1000" b="1">
                <a:solidFill>
                  <a:srgbClr val="CC2244"/>
                </a:solidFill>
                <a:latin typeface="Segoe UI"/>
              </a:defRPr>
            </a:pPr>
            <a:r>
              <a:t>CRITICAL</a:t>
            </a:r>
          </a:p>
        </p:txBody>
      </p:sp>
      <p:sp>
        <p:nvSpPr>
          <p:cNvPr id="20" name="Rectangle 19">
            <a:extLst>
              <a:ext uri="{FF2B5EF4-FFF2-40B4-BE49-F238E27FC236}">
                <a16:creationId xmlns:a16="http://schemas.microsoft.com/office/drawing/2014/main" id="{B4E854DC-4244-AE7E-959F-2EA108D9EC5A}"/>
              </a:ext>
            </a:extLst>
          </p:cNvPr>
          <p:cNvSpPr/>
          <p:nvPr/>
        </p:nvSpPr>
        <p:spPr>
          <a:xfrm>
            <a:off x="731520" y="3017520"/>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01D526D1-CE26-A918-68FC-23C0D944A335}"/>
              </a:ext>
            </a:extLst>
          </p:cNvPr>
          <p:cNvSpPr txBox="1"/>
          <p:nvPr/>
        </p:nvSpPr>
        <p:spPr>
          <a:xfrm>
            <a:off x="731520" y="3108959"/>
            <a:ext cx="2926080" cy="365760"/>
          </a:xfrm>
          <a:prstGeom prst="rect">
            <a:avLst/>
          </a:prstGeom>
          <a:noFill/>
        </p:spPr>
        <p:txBody>
          <a:bodyPr wrap="square">
            <a:spAutoFit/>
          </a:bodyPr>
          <a:lstStyle/>
          <a:p>
            <a:pPr algn="l">
              <a:defRPr sz="1200" b="1">
                <a:solidFill>
                  <a:srgbClr val="007ACC"/>
                </a:solidFill>
                <a:latin typeface="Consolas"/>
              </a:defRPr>
            </a:pPr>
            <a:r>
              <a:t>hosts file</a:t>
            </a:r>
          </a:p>
        </p:txBody>
      </p:sp>
      <p:sp>
        <p:nvSpPr>
          <p:cNvPr id="22" name="TextBox 21">
            <a:extLst>
              <a:ext uri="{FF2B5EF4-FFF2-40B4-BE49-F238E27FC236}">
                <a16:creationId xmlns:a16="http://schemas.microsoft.com/office/drawing/2014/main" id="{084B4A19-BD7D-6956-0AC8-29A9DBF9FB4D}"/>
              </a:ext>
            </a:extLst>
          </p:cNvPr>
          <p:cNvSpPr txBox="1"/>
          <p:nvPr/>
        </p:nvSpPr>
        <p:spPr>
          <a:xfrm>
            <a:off x="3840480" y="3108959"/>
            <a:ext cx="5943600" cy="365760"/>
          </a:xfrm>
          <a:prstGeom prst="rect">
            <a:avLst/>
          </a:prstGeom>
          <a:noFill/>
        </p:spPr>
        <p:txBody>
          <a:bodyPr wrap="square">
            <a:spAutoFit/>
          </a:bodyPr>
          <a:lstStyle/>
          <a:p>
            <a:pPr algn="l">
              <a:defRPr sz="1200" b="0">
                <a:solidFill>
                  <a:srgbClr val="555E70"/>
                </a:solidFill>
                <a:latin typeface="Segoe UI"/>
              </a:defRPr>
            </a:pPr>
            <a:r>
              <a:t>DNS poisoning, redirect traffic to malicious sites</a:t>
            </a:r>
          </a:p>
        </p:txBody>
      </p:sp>
      <p:sp>
        <p:nvSpPr>
          <p:cNvPr id="23" name="TextBox 22">
            <a:extLst>
              <a:ext uri="{FF2B5EF4-FFF2-40B4-BE49-F238E27FC236}">
                <a16:creationId xmlns:a16="http://schemas.microsoft.com/office/drawing/2014/main" id="{46669984-4CF7-3C6D-F9CE-FF3D2EAE0FC7}"/>
              </a:ext>
            </a:extLst>
          </p:cNvPr>
          <p:cNvSpPr txBox="1"/>
          <p:nvPr/>
        </p:nvSpPr>
        <p:spPr>
          <a:xfrm>
            <a:off x="10058400" y="3108959"/>
            <a:ext cx="1371600" cy="365760"/>
          </a:xfrm>
          <a:prstGeom prst="rect">
            <a:avLst/>
          </a:prstGeom>
          <a:noFill/>
        </p:spPr>
        <p:txBody>
          <a:bodyPr wrap="square">
            <a:spAutoFit/>
          </a:bodyPr>
          <a:lstStyle/>
          <a:p>
            <a:pPr algn="l">
              <a:defRPr sz="1000" b="1">
                <a:solidFill>
                  <a:srgbClr val="BB7700"/>
                </a:solidFill>
                <a:latin typeface="Segoe UI"/>
              </a:defRPr>
            </a:pPr>
            <a:r>
              <a:t>HIGH</a:t>
            </a:r>
          </a:p>
        </p:txBody>
      </p:sp>
      <p:sp>
        <p:nvSpPr>
          <p:cNvPr id="24" name="Rectangle 23">
            <a:extLst>
              <a:ext uri="{FF2B5EF4-FFF2-40B4-BE49-F238E27FC236}">
                <a16:creationId xmlns:a16="http://schemas.microsoft.com/office/drawing/2014/main" id="{799D9767-54E5-5AD7-4839-BFF8E44FAE64}"/>
              </a:ext>
            </a:extLst>
          </p:cNvPr>
          <p:cNvSpPr/>
          <p:nvPr/>
        </p:nvSpPr>
        <p:spPr>
          <a:xfrm>
            <a:off x="731520" y="3657599"/>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583A67CD-CFCE-A117-6C59-97E6BCDD20C7}"/>
              </a:ext>
            </a:extLst>
          </p:cNvPr>
          <p:cNvSpPr txBox="1"/>
          <p:nvPr/>
        </p:nvSpPr>
        <p:spPr>
          <a:xfrm>
            <a:off x="731520" y="3749039"/>
            <a:ext cx="2926080" cy="365760"/>
          </a:xfrm>
          <a:prstGeom prst="rect">
            <a:avLst/>
          </a:prstGeom>
          <a:noFill/>
        </p:spPr>
        <p:txBody>
          <a:bodyPr wrap="square">
            <a:spAutoFit/>
          </a:bodyPr>
          <a:lstStyle/>
          <a:p>
            <a:pPr algn="l">
              <a:defRPr sz="1200" b="1">
                <a:solidFill>
                  <a:srgbClr val="007ACC"/>
                </a:solidFill>
                <a:latin typeface="Consolas"/>
              </a:defRPr>
            </a:pPr>
            <a:r>
              <a:t>crontab / scheduled tasks</a:t>
            </a:r>
          </a:p>
        </p:txBody>
      </p:sp>
      <p:sp>
        <p:nvSpPr>
          <p:cNvPr id="26" name="TextBox 25">
            <a:extLst>
              <a:ext uri="{FF2B5EF4-FFF2-40B4-BE49-F238E27FC236}">
                <a16:creationId xmlns:a16="http://schemas.microsoft.com/office/drawing/2014/main" id="{1107441B-EB53-51C7-AE90-5A298ED8F63E}"/>
              </a:ext>
            </a:extLst>
          </p:cNvPr>
          <p:cNvSpPr txBox="1"/>
          <p:nvPr/>
        </p:nvSpPr>
        <p:spPr>
          <a:xfrm>
            <a:off x="3840480" y="3749039"/>
            <a:ext cx="5943600" cy="365760"/>
          </a:xfrm>
          <a:prstGeom prst="rect">
            <a:avLst/>
          </a:prstGeom>
          <a:noFill/>
        </p:spPr>
        <p:txBody>
          <a:bodyPr wrap="square">
            <a:spAutoFit/>
          </a:bodyPr>
          <a:lstStyle/>
          <a:p>
            <a:pPr algn="l">
              <a:defRPr sz="1200" b="0">
                <a:solidFill>
                  <a:srgbClr val="555E70"/>
                </a:solidFill>
                <a:latin typeface="Segoe UI"/>
              </a:defRPr>
            </a:pPr>
            <a:r>
              <a:t>Establish persistence via scheduled malicious tasks</a:t>
            </a:r>
          </a:p>
        </p:txBody>
      </p:sp>
      <p:sp>
        <p:nvSpPr>
          <p:cNvPr id="27" name="TextBox 26">
            <a:extLst>
              <a:ext uri="{FF2B5EF4-FFF2-40B4-BE49-F238E27FC236}">
                <a16:creationId xmlns:a16="http://schemas.microsoft.com/office/drawing/2014/main" id="{B75F061F-204D-B7BF-8A1B-B1CBB6BE8D08}"/>
              </a:ext>
            </a:extLst>
          </p:cNvPr>
          <p:cNvSpPr txBox="1"/>
          <p:nvPr/>
        </p:nvSpPr>
        <p:spPr>
          <a:xfrm>
            <a:off x="10058400" y="3749039"/>
            <a:ext cx="1371600" cy="365760"/>
          </a:xfrm>
          <a:prstGeom prst="rect">
            <a:avLst/>
          </a:prstGeom>
          <a:noFill/>
        </p:spPr>
        <p:txBody>
          <a:bodyPr wrap="square">
            <a:spAutoFit/>
          </a:bodyPr>
          <a:lstStyle/>
          <a:p>
            <a:pPr algn="l">
              <a:defRPr sz="1000" b="1">
                <a:solidFill>
                  <a:srgbClr val="BB7700"/>
                </a:solidFill>
                <a:latin typeface="Segoe UI"/>
              </a:defRPr>
            </a:pPr>
            <a:r>
              <a:t>HIGH</a:t>
            </a:r>
          </a:p>
        </p:txBody>
      </p:sp>
      <p:sp>
        <p:nvSpPr>
          <p:cNvPr id="28" name="Rectangle 27">
            <a:extLst>
              <a:ext uri="{FF2B5EF4-FFF2-40B4-BE49-F238E27FC236}">
                <a16:creationId xmlns:a16="http://schemas.microsoft.com/office/drawing/2014/main" id="{1C62656C-9C92-F44B-59DC-B3B1543EA235}"/>
              </a:ext>
            </a:extLst>
          </p:cNvPr>
          <p:cNvSpPr/>
          <p:nvPr/>
        </p:nvSpPr>
        <p:spPr>
          <a:xfrm>
            <a:off x="731520" y="4297679"/>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9D91166C-3EB1-1BC3-8819-B6493D4D1C22}"/>
              </a:ext>
            </a:extLst>
          </p:cNvPr>
          <p:cNvSpPr txBox="1"/>
          <p:nvPr/>
        </p:nvSpPr>
        <p:spPr>
          <a:xfrm>
            <a:off x="731520" y="4389120"/>
            <a:ext cx="2926080" cy="365760"/>
          </a:xfrm>
          <a:prstGeom prst="rect">
            <a:avLst/>
          </a:prstGeom>
          <a:noFill/>
        </p:spPr>
        <p:txBody>
          <a:bodyPr wrap="square">
            <a:spAutoFit/>
          </a:bodyPr>
          <a:lstStyle/>
          <a:p>
            <a:pPr algn="l">
              <a:defRPr sz="1200" b="1">
                <a:solidFill>
                  <a:srgbClr val="007ACC"/>
                </a:solidFill>
                <a:latin typeface="Consolas"/>
              </a:defRPr>
            </a:pPr>
            <a:r>
              <a:t>firewall rules (iptables)</a:t>
            </a:r>
          </a:p>
        </p:txBody>
      </p:sp>
      <p:sp>
        <p:nvSpPr>
          <p:cNvPr id="30" name="TextBox 29">
            <a:extLst>
              <a:ext uri="{FF2B5EF4-FFF2-40B4-BE49-F238E27FC236}">
                <a16:creationId xmlns:a16="http://schemas.microsoft.com/office/drawing/2014/main" id="{7E71A4CF-7619-D1D0-587D-CF9E111C03BE}"/>
              </a:ext>
            </a:extLst>
          </p:cNvPr>
          <p:cNvSpPr txBox="1"/>
          <p:nvPr/>
        </p:nvSpPr>
        <p:spPr>
          <a:xfrm>
            <a:off x="3840480" y="4389120"/>
            <a:ext cx="5943600" cy="365760"/>
          </a:xfrm>
          <a:prstGeom prst="rect">
            <a:avLst/>
          </a:prstGeom>
          <a:noFill/>
        </p:spPr>
        <p:txBody>
          <a:bodyPr wrap="square">
            <a:spAutoFit/>
          </a:bodyPr>
          <a:lstStyle/>
          <a:p>
            <a:pPr algn="l">
              <a:defRPr sz="1200" b="0">
                <a:solidFill>
                  <a:srgbClr val="555E70"/>
                </a:solidFill>
                <a:latin typeface="Segoe UI"/>
              </a:defRPr>
            </a:pPr>
            <a:r>
              <a:t>Disable network protection, open access</a:t>
            </a:r>
          </a:p>
        </p:txBody>
      </p:sp>
      <p:sp>
        <p:nvSpPr>
          <p:cNvPr id="31" name="TextBox 30">
            <a:extLst>
              <a:ext uri="{FF2B5EF4-FFF2-40B4-BE49-F238E27FC236}">
                <a16:creationId xmlns:a16="http://schemas.microsoft.com/office/drawing/2014/main" id="{575CAF2D-9D34-DA2B-29E1-9129E6D1CD9A}"/>
              </a:ext>
            </a:extLst>
          </p:cNvPr>
          <p:cNvSpPr txBox="1"/>
          <p:nvPr/>
        </p:nvSpPr>
        <p:spPr>
          <a:xfrm>
            <a:off x="10058400" y="4389120"/>
            <a:ext cx="1371600" cy="365760"/>
          </a:xfrm>
          <a:prstGeom prst="rect">
            <a:avLst/>
          </a:prstGeom>
          <a:noFill/>
        </p:spPr>
        <p:txBody>
          <a:bodyPr wrap="square">
            <a:spAutoFit/>
          </a:bodyPr>
          <a:lstStyle/>
          <a:p>
            <a:pPr algn="l">
              <a:defRPr sz="1000" b="1">
                <a:solidFill>
                  <a:srgbClr val="CC2244"/>
                </a:solidFill>
                <a:latin typeface="Segoe UI"/>
              </a:defRPr>
            </a:pPr>
            <a:r>
              <a:t>CRITICAL</a:t>
            </a:r>
          </a:p>
        </p:txBody>
      </p:sp>
      <p:sp>
        <p:nvSpPr>
          <p:cNvPr id="32" name="Rectangle 31">
            <a:extLst>
              <a:ext uri="{FF2B5EF4-FFF2-40B4-BE49-F238E27FC236}">
                <a16:creationId xmlns:a16="http://schemas.microsoft.com/office/drawing/2014/main" id="{8182A7DA-2BF5-76B2-4D99-FFEEB261789A}"/>
              </a:ext>
            </a:extLst>
          </p:cNvPr>
          <p:cNvSpPr/>
          <p:nvPr/>
        </p:nvSpPr>
        <p:spPr>
          <a:xfrm>
            <a:off x="731520" y="4937759"/>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525A76B8-C648-5B93-0E4B-C2608BBEF284}"/>
              </a:ext>
            </a:extLst>
          </p:cNvPr>
          <p:cNvSpPr txBox="1"/>
          <p:nvPr/>
        </p:nvSpPr>
        <p:spPr>
          <a:xfrm>
            <a:off x="731520" y="5029199"/>
            <a:ext cx="2926080" cy="365760"/>
          </a:xfrm>
          <a:prstGeom prst="rect">
            <a:avLst/>
          </a:prstGeom>
          <a:noFill/>
        </p:spPr>
        <p:txBody>
          <a:bodyPr wrap="square">
            <a:spAutoFit/>
          </a:bodyPr>
          <a:lstStyle/>
          <a:p>
            <a:pPr algn="l">
              <a:defRPr sz="1200" b="1">
                <a:solidFill>
                  <a:srgbClr val="007ACC"/>
                </a:solidFill>
                <a:latin typeface="Consolas"/>
              </a:defRPr>
            </a:pPr>
            <a:r>
              <a:t>SSH config / sshd_config</a:t>
            </a:r>
          </a:p>
        </p:txBody>
      </p:sp>
      <p:sp>
        <p:nvSpPr>
          <p:cNvPr id="34" name="TextBox 33">
            <a:extLst>
              <a:ext uri="{FF2B5EF4-FFF2-40B4-BE49-F238E27FC236}">
                <a16:creationId xmlns:a16="http://schemas.microsoft.com/office/drawing/2014/main" id="{B488FF5F-590C-004A-2324-90CAC7D4126D}"/>
              </a:ext>
            </a:extLst>
          </p:cNvPr>
          <p:cNvSpPr txBox="1"/>
          <p:nvPr/>
        </p:nvSpPr>
        <p:spPr>
          <a:xfrm>
            <a:off x="3840480" y="5029199"/>
            <a:ext cx="5943600" cy="365760"/>
          </a:xfrm>
          <a:prstGeom prst="rect">
            <a:avLst/>
          </a:prstGeom>
          <a:noFill/>
        </p:spPr>
        <p:txBody>
          <a:bodyPr wrap="square">
            <a:spAutoFit/>
          </a:bodyPr>
          <a:lstStyle/>
          <a:p>
            <a:pPr algn="l">
              <a:defRPr sz="1200" b="0">
                <a:solidFill>
                  <a:srgbClr val="555E70"/>
                </a:solidFill>
                <a:latin typeface="Segoe UI"/>
              </a:defRPr>
            </a:pPr>
            <a:r>
              <a:t>Weaken SSH security, allow unauthorized access</a:t>
            </a:r>
          </a:p>
        </p:txBody>
      </p:sp>
      <p:sp>
        <p:nvSpPr>
          <p:cNvPr id="35" name="TextBox 34">
            <a:extLst>
              <a:ext uri="{FF2B5EF4-FFF2-40B4-BE49-F238E27FC236}">
                <a16:creationId xmlns:a16="http://schemas.microsoft.com/office/drawing/2014/main" id="{03022C65-81D0-B4A9-7485-0FD0BDA55D08}"/>
              </a:ext>
            </a:extLst>
          </p:cNvPr>
          <p:cNvSpPr txBox="1"/>
          <p:nvPr/>
        </p:nvSpPr>
        <p:spPr>
          <a:xfrm>
            <a:off x="10058400" y="5029199"/>
            <a:ext cx="1371600" cy="365760"/>
          </a:xfrm>
          <a:prstGeom prst="rect">
            <a:avLst/>
          </a:prstGeom>
          <a:noFill/>
        </p:spPr>
        <p:txBody>
          <a:bodyPr wrap="square">
            <a:spAutoFit/>
          </a:bodyPr>
          <a:lstStyle/>
          <a:p>
            <a:pPr algn="l">
              <a:defRPr sz="1000" b="1">
                <a:solidFill>
                  <a:srgbClr val="BB7700"/>
                </a:solidFill>
                <a:latin typeface="Segoe UI"/>
              </a:defRPr>
            </a:pPr>
            <a:r>
              <a:t>HIGH</a:t>
            </a:r>
          </a:p>
        </p:txBody>
      </p:sp>
      <p:sp>
        <p:nvSpPr>
          <p:cNvPr id="36" name="Rectangle 35">
            <a:extLst>
              <a:ext uri="{FF2B5EF4-FFF2-40B4-BE49-F238E27FC236}">
                <a16:creationId xmlns:a16="http://schemas.microsoft.com/office/drawing/2014/main" id="{1DD9FD6C-3C9E-D80A-82F5-93BE662990D8}"/>
              </a:ext>
            </a:extLst>
          </p:cNvPr>
          <p:cNvSpPr/>
          <p:nvPr/>
        </p:nvSpPr>
        <p:spPr>
          <a:xfrm>
            <a:off x="731520" y="5577839"/>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42414815-72B1-7F4D-378D-76AF6DE45C4A}"/>
              </a:ext>
            </a:extLst>
          </p:cNvPr>
          <p:cNvSpPr txBox="1"/>
          <p:nvPr/>
        </p:nvSpPr>
        <p:spPr>
          <a:xfrm>
            <a:off x="731520" y="5669279"/>
            <a:ext cx="2926080" cy="365760"/>
          </a:xfrm>
          <a:prstGeom prst="rect">
            <a:avLst/>
          </a:prstGeom>
          <a:noFill/>
        </p:spPr>
        <p:txBody>
          <a:bodyPr wrap="square">
            <a:spAutoFit/>
          </a:bodyPr>
          <a:lstStyle/>
          <a:p>
            <a:pPr algn="l">
              <a:defRPr sz="1200" b="1">
                <a:solidFill>
                  <a:srgbClr val="007ACC"/>
                </a:solidFill>
                <a:latin typeface="Consolas"/>
              </a:defRPr>
            </a:pPr>
            <a:r>
              <a:t>/boot/vmlinuz (kernel)</a:t>
            </a:r>
          </a:p>
        </p:txBody>
      </p:sp>
      <p:sp>
        <p:nvSpPr>
          <p:cNvPr id="38" name="TextBox 37">
            <a:extLst>
              <a:ext uri="{FF2B5EF4-FFF2-40B4-BE49-F238E27FC236}">
                <a16:creationId xmlns:a16="http://schemas.microsoft.com/office/drawing/2014/main" id="{D1ED1A83-C092-2925-0E50-74F1C7874A1E}"/>
              </a:ext>
            </a:extLst>
          </p:cNvPr>
          <p:cNvSpPr txBox="1"/>
          <p:nvPr/>
        </p:nvSpPr>
        <p:spPr>
          <a:xfrm>
            <a:off x="3840480" y="5669279"/>
            <a:ext cx="5943600" cy="365760"/>
          </a:xfrm>
          <a:prstGeom prst="rect">
            <a:avLst/>
          </a:prstGeom>
          <a:noFill/>
        </p:spPr>
        <p:txBody>
          <a:bodyPr wrap="square">
            <a:spAutoFit/>
          </a:bodyPr>
          <a:lstStyle/>
          <a:p>
            <a:pPr algn="l">
              <a:defRPr sz="1200" b="0">
                <a:solidFill>
                  <a:srgbClr val="555E70"/>
                </a:solidFill>
                <a:latin typeface="Segoe UI"/>
              </a:defRPr>
            </a:pPr>
            <a:r>
              <a:t>Install kernel-level rootkits</a:t>
            </a:r>
          </a:p>
        </p:txBody>
      </p:sp>
      <p:sp>
        <p:nvSpPr>
          <p:cNvPr id="39" name="TextBox 38">
            <a:extLst>
              <a:ext uri="{FF2B5EF4-FFF2-40B4-BE49-F238E27FC236}">
                <a16:creationId xmlns:a16="http://schemas.microsoft.com/office/drawing/2014/main" id="{5AF6457C-E9A1-FB82-4636-938CFA55D862}"/>
              </a:ext>
            </a:extLst>
          </p:cNvPr>
          <p:cNvSpPr txBox="1"/>
          <p:nvPr/>
        </p:nvSpPr>
        <p:spPr>
          <a:xfrm>
            <a:off x="10058400" y="5669279"/>
            <a:ext cx="1371600" cy="365760"/>
          </a:xfrm>
          <a:prstGeom prst="rect">
            <a:avLst/>
          </a:prstGeom>
          <a:noFill/>
        </p:spPr>
        <p:txBody>
          <a:bodyPr wrap="square">
            <a:spAutoFit/>
          </a:bodyPr>
          <a:lstStyle/>
          <a:p>
            <a:pPr algn="l">
              <a:defRPr sz="1000" b="1">
                <a:solidFill>
                  <a:srgbClr val="CC2244"/>
                </a:solidFill>
                <a:latin typeface="Segoe UI"/>
              </a:defRPr>
            </a:pPr>
            <a:r>
              <a:t>CRITICAL</a:t>
            </a:r>
          </a:p>
        </p:txBody>
      </p:sp>
    </p:spTree>
    <p:extLst>
      <p:ext uri="{BB962C8B-B14F-4D97-AF65-F5344CB8AC3E}">
        <p14:creationId xmlns:p14="http://schemas.microsoft.com/office/powerpoint/2010/main" val="2845992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2533E-18BC-5B75-A771-A1357D30D5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15CDE3-30E5-E403-494F-2A5AD74B7A31}"/>
              </a:ext>
            </a:extLst>
          </p:cNvPr>
          <p:cNvSpPr>
            <a:spLocks noGrp="1"/>
          </p:cNvSpPr>
          <p:nvPr>
            <p:ph type="title"/>
          </p:nvPr>
        </p:nvSpPr>
        <p:spPr>
          <a:xfrm>
            <a:off x="731520" y="265049"/>
            <a:ext cx="10834234" cy="612775"/>
          </a:xfrm>
        </p:spPr>
        <p:txBody>
          <a:bodyPr>
            <a:normAutofit/>
          </a:bodyPr>
          <a:lstStyle/>
          <a:p>
            <a:r>
              <a:rPr lang="en-US" dirty="0">
                <a:solidFill>
                  <a:schemeClr val="accent1"/>
                </a:solidFill>
              </a:rPr>
              <a:t>Business Impact of Undetected Tampering</a:t>
            </a:r>
          </a:p>
        </p:txBody>
      </p:sp>
      <p:sp>
        <p:nvSpPr>
          <p:cNvPr id="6" name="Rectangle 5">
            <a:extLst>
              <a:ext uri="{FF2B5EF4-FFF2-40B4-BE49-F238E27FC236}">
                <a16:creationId xmlns:a16="http://schemas.microsoft.com/office/drawing/2014/main" id="{0A7486B8-78E3-36B8-6345-98970805822C}"/>
              </a:ext>
            </a:extLst>
          </p:cNvPr>
          <p:cNvSpPr/>
          <p:nvPr/>
        </p:nvSpPr>
        <p:spPr>
          <a:xfrm>
            <a:off x="731520" y="868680"/>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3">
            <a:extLst>
              <a:ext uri="{FF2B5EF4-FFF2-40B4-BE49-F238E27FC236}">
                <a16:creationId xmlns:a16="http://schemas.microsoft.com/office/drawing/2014/main" id="{D68C0089-4920-3CAB-3D79-3EC1D43313D5}"/>
              </a:ext>
            </a:extLst>
          </p:cNvPr>
          <p:cNvSpPr/>
          <p:nvPr/>
        </p:nvSpPr>
        <p:spPr>
          <a:xfrm>
            <a:off x="731520" y="1188720"/>
            <a:ext cx="3474720" cy="210312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00A9B4D-FF60-C8C9-DD94-9A9B64F5F754}"/>
              </a:ext>
            </a:extLst>
          </p:cNvPr>
          <p:cNvSpPr txBox="1"/>
          <p:nvPr/>
        </p:nvSpPr>
        <p:spPr>
          <a:xfrm>
            <a:off x="731520" y="1371600"/>
            <a:ext cx="3474720" cy="457200"/>
          </a:xfrm>
          <a:prstGeom prst="rect">
            <a:avLst/>
          </a:prstGeom>
          <a:noFill/>
        </p:spPr>
        <p:txBody>
          <a:bodyPr wrap="square">
            <a:spAutoFit/>
          </a:bodyPr>
          <a:lstStyle/>
          <a:p>
            <a:pPr algn="ctr">
              <a:defRPr sz="2800" b="0">
                <a:solidFill>
                  <a:srgbClr val="1A1A2E"/>
                </a:solidFill>
                <a:latin typeface="Segoe UI"/>
              </a:defRPr>
            </a:pPr>
            <a:r>
              <a:t>🔓</a:t>
            </a:r>
          </a:p>
        </p:txBody>
      </p:sp>
      <p:sp>
        <p:nvSpPr>
          <p:cNvPr id="9" name="TextBox 8">
            <a:extLst>
              <a:ext uri="{FF2B5EF4-FFF2-40B4-BE49-F238E27FC236}">
                <a16:creationId xmlns:a16="http://schemas.microsoft.com/office/drawing/2014/main" id="{65E6420C-CD95-1A2B-E780-663BC8377CB8}"/>
              </a:ext>
            </a:extLst>
          </p:cNvPr>
          <p:cNvSpPr txBox="1"/>
          <p:nvPr/>
        </p:nvSpPr>
        <p:spPr>
          <a:xfrm>
            <a:off x="731520" y="1920240"/>
            <a:ext cx="3474720" cy="365760"/>
          </a:xfrm>
          <a:prstGeom prst="rect">
            <a:avLst/>
          </a:prstGeom>
          <a:noFill/>
        </p:spPr>
        <p:txBody>
          <a:bodyPr wrap="square">
            <a:spAutoFit/>
          </a:bodyPr>
          <a:lstStyle/>
          <a:p>
            <a:pPr algn="ctr">
              <a:defRPr sz="1500" b="1">
                <a:solidFill>
                  <a:srgbClr val="CC2244"/>
                </a:solidFill>
                <a:latin typeface="Segoe UI"/>
              </a:defRPr>
            </a:pPr>
            <a:r>
              <a:t>Data Breach</a:t>
            </a:r>
          </a:p>
        </p:txBody>
      </p:sp>
      <p:sp>
        <p:nvSpPr>
          <p:cNvPr id="10" name="TextBox 9">
            <a:extLst>
              <a:ext uri="{FF2B5EF4-FFF2-40B4-BE49-F238E27FC236}">
                <a16:creationId xmlns:a16="http://schemas.microsoft.com/office/drawing/2014/main" id="{85145C1B-83C5-EF50-BCCD-8E1B622F2C83}"/>
              </a:ext>
            </a:extLst>
          </p:cNvPr>
          <p:cNvSpPr txBox="1"/>
          <p:nvPr/>
        </p:nvSpPr>
        <p:spPr>
          <a:xfrm>
            <a:off x="914400" y="2377440"/>
            <a:ext cx="3108960" cy="640080"/>
          </a:xfrm>
          <a:prstGeom prst="rect">
            <a:avLst/>
          </a:prstGeom>
          <a:noFill/>
        </p:spPr>
        <p:txBody>
          <a:bodyPr wrap="square">
            <a:spAutoFit/>
          </a:bodyPr>
          <a:lstStyle/>
          <a:p>
            <a:pPr algn="ctr">
              <a:defRPr sz="1200" b="0">
                <a:solidFill>
                  <a:srgbClr val="555E70"/>
                </a:solidFill>
                <a:latin typeface="Segoe UI"/>
              </a:defRPr>
            </a:pPr>
            <a:r>
              <a:t>Stolen credentials, customer data exfiltration</a:t>
            </a:r>
          </a:p>
        </p:txBody>
      </p:sp>
      <p:sp>
        <p:nvSpPr>
          <p:cNvPr id="11" name="Rounded Rectangle 7">
            <a:extLst>
              <a:ext uri="{FF2B5EF4-FFF2-40B4-BE49-F238E27FC236}">
                <a16:creationId xmlns:a16="http://schemas.microsoft.com/office/drawing/2014/main" id="{66EDE00F-2622-E40E-20DB-3EBF3FF1B8E9}"/>
              </a:ext>
            </a:extLst>
          </p:cNvPr>
          <p:cNvSpPr/>
          <p:nvPr/>
        </p:nvSpPr>
        <p:spPr>
          <a:xfrm>
            <a:off x="4480559" y="1188720"/>
            <a:ext cx="3474720" cy="210312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F1A49942-E93F-D8B3-BE32-01471EA1F441}"/>
              </a:ext>
            </a:extLst>
          </p:cNvPr>
          <p:cNvSpPr txBox="1"/>
          <p:nvPr/>
        </p:nvSpPr>
        <p:spPr>
          <a:xfrm>
            <a:off x="4480559" y="1371600"/>
            <a:ext cx="3474720" cy="457200"/>
          </a:xfrm>
          <a:prstGeom prst="rect">
            <a:avLst/>
          </a:prstGeom>
          <a:noFill/>
        </p:spPr>
        <p:txBody>
          <a:bodyPr wrap="square">
            <a:spAutoFit/>
          </a:bodyPr>
          <a:lstStyle/>
          <a:p>
            <a:pPr algn="ctr">
              <a:defRPr sz="2800" b="0">
                <a:solidFill>
                  <a:srgbClr val="1A1A2E"/>
                </a:solidFill>
                <a:latin typeface="Segoe UI"/>
              </a:defRPr>
            </a:pPr>
            <a:r>
              <a:t>💥</a:t>
            </a:r>
          </a:p>
        </p:txBody>
      </p:sp>
      <p:sp>
        <p:nvSpPr>
          <p:cNvPr id="13" name="TextBox 12">
            <a:extLst>
              <a:ext uri="{FF2B5EF4-FFF2-40B4-BE49-F238E27FC236}">
                <a16:creationId xmlns:a16="http://schemas.microsoft.com/office/drawing/2014/main" id="{4909A64A-7287-0FA3-9384-F2FEEC6A7859}"/>
              </a:ext>
            </a:extLst>
          </p:cNvPr>
          <p:cNvSpPr txBox="1"/>
          <p:nvPr/>
        </p:nvSpPr>
        <p:spPr>
          <a:xfrm>
            <a:off x="4480559" y="1920240"/>
            <a:ext cx="3474720" cy="365760"/>
          </a:xfrm>
          <a:prstGeom prst="rect">
            <a:avLst/>
          </a:prstGeom>
          <a:noFill/>
        </p:spPr>
        <p:txBody>
          <a:bodyPr wrap="square">
            <a:spAutoFit/>
          </a:bodyPr>
          <a:lstStyle/>
          <a:p>
            <a:pPr algn="ctr">
              <a:defRPr sz="1500" b="1">
                <a:solidFill>
                  <a:srgbClr val="BB7700"/>
                </a:solidFill>
                <a:latin typeface="Segoe UI"/>
              </a:defRPr>
            </a:pPr>
            <a:r>
              <a:t>Service Disruption</a:t>
            </a:r>
          </a:p>
        </p:txBody>
      </p:sp>
      <p:sp>
        <p:nvSpPr>
          <p:cNvPr id="14" name="TextBox 13">
            <a:extLst>
              <a:ext uri="{FF2B5EF4-FFF2-40B4-BE49-F238E27FC236}">
                <a16:creationId xmlns:a16="http://schemas.microsoft.com/office/drawing/2014/main" id="{3DF10382-A664-46F2-6F2A-B0CF08D2BB51}"/>
              </a:ext>
            </a:extLst>
          </p:cNvPr>
          <p:cNvSpPr txBox="1"/>
          <p:nvPr/>
        </p:nvSpPr>
        <p:spPr>
          <a:xfrm>
            <a:off x="4663440" y="2377440"/>
            <a:ext cx="3108960" cy="640080"/>
          </a:xfrm>
          <a:prstGeom prst="rect">
            <a:avLst/>
          </a:prstGeom>
          <a:noFill/>
        </p:spPr>
        <p:txBody>
          <a:bodyPr wrap="square">
            <a:spAutoFit/>
          </a:bodyPr>
          <a:lstStyle/>
          <a:p>
            <a:pPr algn="ctr">
              <a:defRPr sz="1200" b="0">
                <a:solidFill>
                  <a:srgbClr val="555E70"/>
                </a:solidFill>
                <a:latin typeface="Segoe UI"/>
              </a:defRPr>
            </a:pPr>
            <a:r>
              <a:t>Modified binaries causing system instability</a:t>
            </a:r>
          </a:p>
        </p:txBody>
      </p:sp>
      <p:sp>
        <p:nvSpPr>
          <p:cNvPr id="15" name="Rounded Rectangle 11">
            <a:extLst>
              <a:ext uri="{FF2B5EF4-FFF2-40B4-BE49-F238E27FC236}">
                <a16:creationId xmlns:a16="http://schemas.microsoft.com/office/drawing/2014/main" id="{C2326DD8-4A59-12FD-A38F-281E0C425EA2}"/>
              </a:ext>
            </a:extLst>
          </p:cNvPr>
          <p:cNvSpPr/>
          <p:nvPr/>
        </p:nvSpPr>
        <p:spPr>
          <a:xfrm>
            <a:off x="8229600" y="1188720"/>
            <a:ext cx="3474720" cy="210312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2CB5F205-8B86-86EA-CFE7-4CFCD958FE91}"/>
              </a:ext>
            </a:extLst>
          </p:cNvPr>
          <p:cNvSpPr txBox="1"/>
          <p:nvPr/>
        </p:nvSpPr>
        <p:spPr>
          <a:xfrm>
            <a:off x="8229600" y="1371600"/>
            <a:ext cx="3474720" cy="457200"/>
          </a:xfrm>
          <a:prstGeom prst="rect">
            <a:avLst/>
          </a:prstGeom>
          <a:noFill/>
        </p:spPr>
        <p:txBody>
          <a:bodyPr wrap="square">
            <a:spAutoFit/>
          </a:bodyPr>
          <a:lstStyle/>
          <a:p>
            <a:pPr algn="ctr">
              <a:defRPr sz="2800" b="0">
                <a:solidFill>
                  <a:srgbClr val="1A1A2E"/>
                </a:solidFill>
                <a:latin typeface="Segoe UI"/>
              </a:defRPr>
            </a:pPr>
            <a:r>
              <a:t>📋</a:t>
            </a:r>
          </a:p>
        </p:txBody>
      </p:sp>
      <p:sp>
        <p:nvSpPr>
          <p:cNvPr id="17" name="TextBox 16">
            <a:extLst>
              <a:ext uri="{FF2B5EF4-FFF2-40B4-BE49-F238E27FC236}">
                <a16:creationId xmlns:a16="http://schemas.microsoft.com/office/drawing/2014/main" id="{EAD47C26-741C-C5BA-26D0-E5086E7DDE0B}"/>
              </a:ext>
            </a:extLst>
          </p:cNvPr>
          <p:cNvSpPr txBox="1"/>
          <p:nvPr/>
        </p:nvSpPr>
        <p:spPr>
          <a:xfrm>
            <a:off x="8229600" y="1920240"/>
            <a:ext cx="3474720" cy="365760"/>
          </a:xfrm>
          <a:prstGeom prst="rect">
            <a:avLst/>
          </a:prstGeom>
          <a:noFill/>
        </p:spPr>
        <p:txBody>
          <a:bodyPr wrap="square">
            <a:spAutoFit/>
          </a:bodyPr>
          <a:lstStyle/>
          <a:p>
            <a:pPr algn="ctr">
              <a:defRPr sz="1500" b="1">
                <a:solidFill>
                  <a:srgbClr val="BB7700"/>
                </a:solidFill>
                <a:latin typeface="Segoe UI"/>
              </a:defRPr>
            </a:pPr>
            <a:r>
              <a:t>Compliance Failure</a:t>
            </a:r>
          </a:p>
        </p:txBody>
      </p:sp>
      <p:sp>
        <p:nvSpPr>
          <p:cNvPr id="18" name="TextBox 17">
            <a:extLst>
              <a:ext uri="{FF2B5EF4-FFF2-40B4-BE49-F238E27FC236}">
                <a16:creationId xmlns:a16="http://schemas.microsoft.com/office/drawing/2014/main" id="{513F040A-ECFC-2430-D8F5-9DA557AA8441}"/>
              </a:ext>
            </a:extLst>
          </p:cNvPr>
          <p:cNvSpPr txBox="1"/>
          <p:nvPr/>
        </p:nvSpPr>
        <p:spPr>
          <a:xfrm>
            <a:off x="8412480" y="2377440"/>
            <a:ext cx="3108960" cy="640080"/>
          </a:xfrm>
          <a:prstGeom prst="rect">
            <a:avLst/>
          </a:prstGeom>
          <a:noFill/>
        </p:spPr>
        <p:txBody>
          <a:bodyPr wrap="square">
            <a:spAutoFit/>
          </a:bodyPr>
          <a:lstStyle/>
          <a:p>
            <a:pPr algn="ctr">
              <a:defRPr sz="1200" b="0">
                <a:solidFill>
                  <a:srgbClr val="555E70"/>
                </a:solidFill>
                <a:latin typeface="Segoe UI"/>
              </a:defRPr>
            </a:pPr>
            <a:r>
              <a:t>Audit failures under PCI DSS, HIPAA, SOX</a:t>
            </a:r>
          </a:p>
        </p:txBody>
      </p:sp>
      <p:sp>
        <p:nvSpPr>
          <p:cNvPr id="19" name="Rounded Rectangle 15">
            <a:extLst>
              <a:ext uri="{FF2B5EF4-FFF2-40B4-BE49-F238E27FC236}">
                <a16:creationId xmlns:a16="http://schemas.microsoft.com/office/drawing/2014/main" id="{D8201D74-B335-B14F-32C5-2D6221CE3C91}"/>
              </a:ext>
            </a:extLst>
          </p:cNvPr>
          <p:cNvSpPr/>
          <p:nvPr/>
        </p:nvSpPr>
        <p:spPr>
          <a:xfrm>
            <a:off x="731520" y="3749039"/>
            <a:ext cx="3474720" cy="210312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EA91968D-CBA3-9F8D-FB86-387D027E7892}"/>
              </a:ext>
            </a:extLst>
          </p:cNvPr>
          <p:cNvSpPr txBox="1"/>
          <p:nvPr/>
        </p:nvSpPr>
        <p:spPr>
          <a:xfrm>
            <a:off x="731520" y="3931920"/>
            <a:ext cx="3474720" cy="457200"/>
          </a:xfrm>
          <a:prstGeom prst="rect">
            <a:avLst/>
          </a:prstGeom>
          <a:noFill/>
        </p:spPr>
        <p:txBody>
          <a:bodyPr wrap="square">
            <a:spAutoFit/>
          </a:bodyPr>
          <a:lstStyle/>
          <a:p>
            <a:pPr algn="ctr">
              <a:defRPr sz="2800" b="0">
                <a:solidFill>
                  <a:srgbClr val="1A1A2E"/>
                </a:solidFill>
                <a:latin typeface="Segoe UI"/>
              </a:defRPr>
            </a:pPr>
            <a:r>
              <a:t>📉</a:t>
            </a:r>
          </a:p>
        </p:txBody>
      </p:sp>
      <p:sp>
        <p:nvSpPr>
          <p:cNvPr id="21" name="TextBox 20">
            <a:extLst>
              <a:ext uri="{FF2B5EF4-FFF2-40B4-BE49-F238E27FC236}">
                <a16:creationId xmlns:a16="http://schemas.microsoft.com/office/drawing/2014/main" id="{C0665DD8-7E45-2947-BB9D-3A3376AFC047}"/>
              </a:ext>
            </a:extLst>
          </p:cNvPr>
          <p:cNvSpPr txBox="1"/>
          <p:nvPr/>
        </p:nvSpPr>
        <p:spPr>
          <a:xfrm>
            <a:off x="731520" y="4480559"/>
            <a:ext cx="3474720" cy="365760"/>
          </a:xfrm>
          <a:prstGeom prst="rect">
            <a:avLst/>
          </a:prstGeom>
          <a:noFill/>
        </p:spPr>
        <p:txBody>
          <a:bodyPr wrap="square">
            <a:spAutoFit/>
          </a:bodyPr>
          <a:lstStyle/>
          <a:p>
            <a:pPr algn="ctr">
              <a:defRPr sz="1500" b="1">
                <a:solidFill>
                  <a:srgbClr val="CC2244"/>
                </a:solidFill>
                <a:latin typeface="Segoe UI"/>
              </a:defRPr>
            </a:pPr>
            <a:r>
              <a:t>Reputation Damage</a:t>
            </a:r>
          </a:p>
        </p:txBody>
      </p:sp>
      <p:sp>
        <p:nvSpPr>
          <p:cNvPr id="22" name="TextBox 21">
            <a:extLst>
              <a:ext uri="{FF2B5EF4-FFF2-40B4-BE49-F238E27FC236}">
                <a16:creationId xmlns:a16="http://schemas.microsoft.com/office/drawing/2014/main" id="{C57EE59B-7889-2BD3-A2FB-A524B9A94E8F}"/>
              </a:ext>
            </a:extLst>
          </p:cNvPr>
          <p:cNvSpPr txBox="1"/>
          <p:nvPr/>
        </p:nvSpPr>
        <p:spPr>
          <a:xfrm>
            <a:off x="914400" y="4937759"/>
            <a:ext cx="3108960" cy="640080"/>
          </a:xfrm>
          <a:prstGeom prst="rect">
            <a:avLst/>
          </a:prstGeom>
          <a:noFill/>
        </p:spPr>
        <p:txBody>
          <a:bodyPr wrap="square">
            <a:spAutoFit/>
          </a:bodyPr>
          <a:lstStyle/>
          <a:p>
            <a:pPr algn="ctr">
              <a:defRPr sz="1200" b="0">
                <a:solidFill>
                  <a:srgbClr val="555E70"/>
                </a:solidFill>
                <a:latin typeface="Segoe UI"/>
              </a:defRPr>
            </a:pPr>
            <a:r>
              <a:t>Loss of customer trust after breach disclosure</a:t>
            </a:r>
          </a:p>
        </p:txBody>
      </p:sp>
      <p:sp>
        <p:nvSpPr>
          <p:cNvPr id="23" name="Rounded Rectangle 19">
            <a:extLst>
              <a:ext uri="{FF2B5EF4-FFF2-40B4-BE49-F238E27FC236}">
                <a16:creationId xmlns:a16="http://schemas.microsoft.com/office/drawing/2014/main" id="{E9373B8A-9574-6A5C-C4AA-34427ABB1EA9}"/>
              </a:ext>
            </a:extLst>
          </p:cNvPr>
          <p:cNvSpPr/>
          <p:nvPr/>
        </p:nvSpPr>
        <p:spPr>
          <a:xfrm>
            <a:off x="4480559" y="3749039"/>
            <a:ext cx="3474720" cy="210312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1CF4FD69-DE44-7CA9-F964-385587C6F3D1}"/>
              </a:ext>
            </a:extLst>
          </p:cNvPr>
          <p:cNvSpPr txBox="1"/>
          <p:nvPr/>
        </p:nvSpPr>
        <p:spPr>
          <a:xfrm>
            <a:off x="4480559" y="3931920"/>
            <a:ext cx="3474720" cy="457200"/>
          </a:xfrm>
          <a:prstGeom prst="rect">
            <a:avLst/>
          </a:prstGeom>
          <a:noFill/>
        </p:spPr>
        <p:txBody>
          <a:bodyPr wrap="square">
            <a:spAutoFit/>
          </a:bodyPr>
          <a:lstStyle/>
          <a:p>
            <a:pPr algn="ctr">
              <a:defRPr sz="2800" b="0">
                <a:solidFill>
                  <a:srgbClr val="1A1A2E"/>
                </a:solidFill>
                <a:latin typeface="Segoe UI"/>
              </a:defRPr>
            </a:pPr>
            <a:r>
              <a:t>💰</a:t>
            </a:r>
          </a:p>
        </p:txBody>
      </p:sp>
      <p:sp>
        <p:nvSpPr>
          <p:cNvPr id="25" name="TextBox 24">
            <a:extLst>
              <a:ext uri="{FF2B5EF4-FFF2-40B4-BE49-F238E27FC236}">
                <a16:creationId xmlns:a16="http://schemas.microsoft.com/office/drawing/2014/main" id="{A83FE133-53F0-1AEA-8919-53A5D6856FD4}"/>
              </a:ext>
            </a:extLst>
          </p:cNvPr>
          <p:cNvSpPr txBox="1"/>
          <p:nvPr/>
        </p:nvSpPr>
        <p:spPr>
          <a:xfrm>
            <a:off x="4480559" y="4480559"/>
            <a:ext cx="3474720" cy="365760"/>
          </a:xfrm>
          <a:prstGeom prst="rect">
            <a:avLst/>
          </a:prstGeom>
          <a:noFill/>
        </p:spPr>
        <p:txBody>
          <a:bodyPr wrap="square">
            <a:spAutoFit/>
          </a:bodyPr>
          <a:lstStyle/>
          <a:p>
            <a:pPr algn="ctr">
              <a:defRPr sz="1500" b="1">
                <a:solidFill>
                  <a:srgbClr val="CC2244"/>
                </a:solidFill>
                <a:latin typeface="Segoe UI"/>
              </a:defRPr>
            </a:pPr>
            <a:r>
              <a:t>Financial Loss</a:t>
            </a:r>
          </a:p>
        </p:txBody>
      </p:sp>
      <p:sp>
        <p:nvSpPr>
          <p:cNvPr id="26" name="TextBox 25">
            <a:extLst>
              <a:ext uri="{FF2B5EF4-FFF2-40B4-BE49-F238E27FC236}">
                <a16:creationId xmlns:a16="http://schemas.microsoft.com/office/drawing/2014/main" id="{21E0A17F-9CFB-521C-17D5-63F5ADA414F0}"/>
              </a:ext>
            </a:extLst>
          </p:cNvPr>
          <p:cNvSpPr txBox="1"/>
          <p:nvPr/>
        </p:nvSpPr>
        <p:spPr>
          <a:xfrm>
            <a:off x="4663440" y="4937759"/>
            <a:ext cx="3108960" cy="640080"/>
          </a:xfrm>
          <a:prstGeom prst="rect">
            <a:avLst/>
          </a:prstGeom>
          <a:noFill/>
        </p:spPr>
        <p:txBody>
          <a:bodyPr wrap="square">
            <a:spAutoFit/>
          </a:bodyPr>
          <a:lstStyle/>
          <a:p>
            <a:pPr algn="ctr">
              <a:defRPr sz="1200" b="0">
                <a:solidFill>
                  <a:srgbClr val="555E70"/>
                </a:solidFill>
                <a:latin typeface="Segoe UI"/>
              </a:defRPr>
            </a:pPr>
            <a:r>
              <a:t>Incident response costs, regulatory fines, lawsuits</a:t>
            </a:r>
          </a:p>
        </p:txBody>
      </p:sp>
      <p:sp>
        <p:nvSpPr>
          <p:cNvPr id="27" name="Rounded Rectangle 23">
            <a:extLst>
              <a:ext uri="{FF2B5EF4-FFF2-40B4-BE49-F238E27FC236}">
                <a16:creationId xmlns:a16="http://schemas.microsoft.com/office/drawing/2014/main" id="{6C81A571-177D-C5BB-BB9E-4088115288D5}"/>
              </a:ext>
            </a:extLst>
          </p:cNvPr>
          <p:cNvSpPr/>
          <p:nvPr/>
        </p:nvSpPr>
        <p:spPr>
          <a:xfrm>
            <a:off x="8229600" y="3749039"/>
            <a:ext cx="3474720" cy="210312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0418A6DB-3D04-2B30-12E3-585A75A803B4}"/>
              </a:ext>
            </a:extLst>
          </p:cNvPr>
          <p:cNvSpPr txBox="1"/>
          <p:nvPr/>
        </p:nvSpPr>
        <p:spPr>
          <a:xfrm>
            <a:off x="8229600" y="3931920"/>
            <a:ext cx="3474720" cy="457200"/>
          </a:xfrm>
          <a:prstGeom prst="rect">
            <a:avLst/>
          </a:prstGeom>
          <a:noFill/>
        </p:spPr>
        <p:txBody>
          <a:bodyPr wrap="square">
            <a:spAutoFit/>
          </a:bodyPr>
          <a:lstStyle/>
          <a:p>
            <a:pPr algn="ctr">
              <a:defRPr sz="2800" b="0">
                <a:solidFill>
                  <a:srgbClr val="1A1A2E"/>
                </a:solidFill>
                <a:latin typeface="Segoe UI"/>
              </a:defRPr>
            </a:pPr>
            <a:r>
              <a:t>⏱️</a:t>
            </a:r>
          </a:p>
        </p:txBody>
      </p:sp>
      <p:sp>
        <p:nvSpPr>
          <p:cNvPr id="29" name="TextBox 28">
            <a:extLst>
              <a:ext uri="{FF2B5EF4-FFF2-40B4-BE49-F238E27FC236}">
                <a16:creationId xmlns:a16="http://schemas.microsoft.com/office/drawing/2014/main" id="{F6408EBA-0CF3-2907-B771-F25B0E67675F}"/>
              </a:ext>
            </a:extLst>
          </p:cNvPr>
          <p:cNvSpPr txBox="1"/>
          <p:nvPr/>
        </p:nvSpPr>
        <p:spPr>
          <a:xfrm>
            <a:off x="8229600" y="4480559"/>
            <a:ext cx="3474720" cy="365760"/>
          </a:xfrm>
          <a:prstGeom prst="rect">
            <a:avLst/>
          </a:prstGeom>
          <a:noFill/>
        </p:spPr>
        <p:txBody>
          <a:bodyPr wrap="square">
            <a:spAutoFit/>
          </a:bodyPr>
          <a:lstStyle/>
          <a:p>
            <a:pPr algn="ctr">
              <a:defRPr sz="1500" b="1">
                <a:solidFill>
                  <a:srgbClr val="BB7700"/>
                </a:solidFill>
                <a:latin typeface="Segoe UI"/>
              </a:defRPr>
            </a:pPr>
            <a:r>
              <a:t>Operational Downtime</a:t>
            </a:r>
          </a:p>
        </p:txBody>
      </p:sp>
      <p:sp>
        <p:nvSpPr>
          <p:cNvPr id="30" name="TextBox 29">
            <a:extLst>
              <a:ext uri="{FF2B5EF4-FFF2-40B4-BE49-F238E27FC236}">
                <a16:creationId xmlns:a16="http://schemas.microsoft.com/office/drawing/2014/main" id="{C631FFFE-59B7-D130-192F-DAE05FFE1E4B}"/>
              </a:ext>
            </a:extLst>
          </p:cNvPr>
          <p:cNvSpPr txBox="1"/>
          <p:nvPr/>
        </p:nvSpPr>
        <p:spPr>
          <a:xfrm>
            <a:off x="8412480" y="4937759"/>
            <a:ext cx="3108960" cy="640080"/>
          </a:xfrm>
          <a:prstGeom prst="rect">
            <a:avLst/>
          </a:prstGeom>
          <a:noFill/>
        </p:spPr>
        <p:txBody>
          <a:bodyPr wrap="square">
            <a:spAutoFit/>
          </a:bodyPr>
          <a:lstStyle/>
          <a:p>
            <a:pPr algn="ctr">
              <a:defRPr sz="1200" b="0">
                <a:solidFill>
                  <a:srgbClr val="555E70"/>
                </a:solidFill>
                <a:latin typeface="Segoe UI"/>
              </a:defRPr>
            </a:pPr>
            <a:r>
              <a:t>Systems offline during investigation &amp; recovery</a:t>
            </a:r>
          </a:p>
        </p:txBody>
      </p:sp>
    </p:spTree>
    <p:extLst>
      <p:ext uri="{BB962C8B-B14F-4D97-AF65-F5344CB8AC3E}">
        <p14:creationId xmlns:p14="http://schemas.microsoft.com/office/powerpoint/2010/main" val="3681287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E781-4948-3FE6-91C8-8B297E0D08C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0812F4-9EF9-7826-1D7D-737C52C3A7F1}"/>
              </a:ext>
            </a:extLst>
          </p:cNvPr>
          <p:cNvSpPr>
            <a:spLocks noGrp="1"/>
          </p:cNvSpPr>
          <p:nvPr>
            <p:ph type="title"/>
          </p:nvPr>
        </p:nvSpPr>
        <p:spPr>
          <a:xfrm>
            <a:off x="731520" y="265049"/>
            <a:ext cx="10834234" cy="612775"/>
          </a:xfrm>
        </p:spPr>
        <p:txBody>
          <a:bodyPr>
            <a:normAutofit/>
          </a:bodyPr>
          <a:lstStyle/>
          <a:p>
            <a:r>
              <a:rPr lang="en-IN" dirty="0">
                <a:solidFill>
                  <a:schemeClr val="accent1"/>
                </a:solidFill>
              </a:rPr>
              <a:t>System Architecture Diagram</a:t>
            </a:r>
            <a:endParaRPr lang="en-US" dirty="0">
              <a:solidFill>
                <a:schemeClr val="accent1"/>
              </a:solidFill>
            </a:endParaRPr>
          </a:p>
        </p:txBody>
      </p:sp>
      <p:sp>
        <p:nvSpPr>
          <p:cNvPr id="6" name="Rectangle 5">
            <a:extLst>
              <a:ext uri="{FF2B5EF4-FFF2-40B4-BE49-F238E27FC236}">
                <a16:creationId xmlns:a16="http://schemas.microsoft.com/office/drawing/2014/main" id="{D8B99191-228F-83A0-10F3-F4F8B8C1D9CC}"/>
              </a:ext>
            </a:extLst>
          </p:cNvPr>
          <p:cNvSpPr/>
          <p:nvPr/>
        </p:nvSpPr>
        <p:spPr>
          <a:xfrm>
            <a:off x="731520" y="868680"/>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ounded Rectangle 3">
            <a:extLst>
              <a:ext uri="{FF2B5EF4-FFF2-40B4-BE49-F238E27FC236}">
                <a16:creationId xmlns:a16="http://schemas.microsoft.com/office/drawing/2014/main" id="{7B8E08E3-6FDC-9A42-7E01-38D657247A24}"/>
              </a:ext>
            </a:extLst>
          </p:cNvPr>
          <p:cNvSpPr/>
          <p:nvPr/>
        </p:nvSpPr>
        <p:spPr>
          <a:xfrm>
            <a:off x="457200" y="1065630"/>
            <a:ext cx="5029200" cy="5029200"/>
          </a:xfrm>
          <a:prstGeom prst="roundRect">
            <a:avLst/>
          </a:prstGeom>
          <a:solidFill>
            <a:srgbClr val="F0F8FF"/>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D350CD6-26D5-8542-6B24-6C692D38FE44}"/>
              </a:ext>
            </a:extLst>
          </p:cNvPr>
          <p:cNvSpPr txBox="1"/>
          <p:nvPr/>
        </p:nvSpPr>
        <p:spPr>
          <a:xfrm>
            <a:off x="457200" y="1157070"/>
            <a:ext cx="5029200" cy="457200"/>
          </a:xfrm>
          <a:prstGeom prst="rect">
            <a:avLst/>
          </a:prstGeom>
          <a:noFill/>
        </p:spPr>
        <p:txBody>
          <a:bodyPr wrap="square">
            <a:spAutoFit/>
          </a:bodyPr>
          <a:lstStyle/>
          <a:p>
            <a:pPr algn="ctr">
              <a:defRPr sz="1800" b="1">
                <a:solidFill>
                  <a:srgbClr val="007ACC"/>
                </a:solidFill>
                <a:latin typeface="Segoe UI"/>
              </a:defRPr>
            </a:pPr>
            <a:r>
              <a:t>React Frontend (:5173)</a:t>
            </a:r>
          </a:p>
        </p:txBody>
      </p:sp>
      <p:sp>
        <p:nvSpPr>
          <p:cNvPr id="5" name="Rounded Rectangle 5">
            <a:extLst>
              <a:ext uri="{FF2B5EF4-FFF2-40B4-BE49-F238E27FC236}">
                <a16:creationId xmlns:a16="http://schemas.microsoft.com/office/drawing/2014/main" id="{B588A55C-B895-E634-D50A-66FF34C002EB}"/>
              </a:ext>
            </a:extLst>
          </p:cNvPr>
          <p:cNvSpPr/>
          <p:nvPr/>
        </p:nvSpPr>
        <p:spPr>
          <a:xfrm>
            <a:off x="822960" y="1797150"/>
            <a:ext cx="4297680" cy="59436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D59CF82C-14C4-78C7-2375-53522DEA2375}"/>
              </a:ext>
            </a:extLst>
          </p:cNvPr>
          <p:cNvSpPr txBox="1"/>
          <p:nvPr/>
        </p:nvSpPr>
        <p:spPr>
          <a:xfrm>
            <a:off x="1005840" y="1842870"/>
            <a:ext cx="3931920" cy="457200"/>
          </a:xfrm>
          <a:prstGeom prst="rect">
            <a:avLst/>
          </a:prstGeom>
          <a:noFill/>
        </p:spPr>
        <p:txBody>
          <a:bodyPr wrap="square">
            <a:spAutoFit/>
          </a:bodyPr>
          <a:lstStyle/>
          <a:p>
            <a:pPr algn="l">
              <a:defRPr sz="1300" b="0">
                <a:solidFill>
                  <a:srgbClr val="1A1A2E"/>
                </a:solidFill>
                <a:latin typeface="Segoe UI"/>
              </a:defRPr>
            </a:pPr>
            <a:r>
              <a:t>Dashboard + 5-Level Status</a:t>
            </a:r>
          </a:p>
        </p:txBody>
      </p:sp>
      <p:sp>
        <p:nvSpPr>
          <p:cNvPr id="32" name="Rounded Rectangle 7">
            <a:extLst>
              <a:ext uri="{FF2B5EF4-FFF2-40B4-BE49-F238E27FC236}">
                <a16:creationId xmlns:a16="http://schemas.microsoft.com/office/drawing/2014/main" id="{6BABF99A-BE41-1AE9-8DB7-118D3C370BA9}"/>
              </a:ext>
            </a:extLst>
          </p:cNvPr>
          <p:cNvSpPr/>
          <p:nvPr/>
        </p:nvSpPr>
        <p:spPr>
          <a:xfrm>
            <a:off x="822960" y="2574390"/>
            <a:ext cx="4297680" cy="59436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D9BBC45A-DC14-743E-57CB-306382FB2EEF}"/>
              </a:ext>
            </a:extLst>
          </p:cNvPr>
          <p:cNvSpPr txBox="1"/>
          <p:nvPr/>
        </p:nvSpPr>
        <p:spPr>
          <a:xfrm>
            <a:off x="1005840" y="2620110"/>
            <a:ext cx="3931920" cy="457200"/>
          </a:xfrm>
          <a:prstGeom prst="rect">
            <a:avLst/>
          </a:prstGeom>
          <a:noFill/>
        </p:spPr>
        <p:txBody>
          <a:bodyPr wrap="square">
            <a:spAutoFit/>
          </a:bodyPr>
          <a:lstStyle/>
          <a:p>
            <a:pPr algn="l">
              <a:defRPr sz="1300" b="0">
                <a:solidFill>
                  <a:srgbClr val="1A1A2E"/>
                </a:solidFill>
                <a:latin typeface="Segoe UI"/>
              </a:defRPr>
            </a:pPr>
            <a:r>
              <a:t>File Table + Hash Viewer</a:t>
            </a:r>
          </a:p>
        </p:txBody>
      </p:sp>
      <p:sp>
        <p:nvSpPr>
          <p:cNvPr id="34" name="Rounded Rectangle 9">
            <a:extLst>
              <a:ext uri="{FF2B5EF4-FFF2-40B4-BE49-F238E27FC236}">
                <a16:creationId xmlns:a16="http://schemas.microsoft.com/office/drawing/2014/main" id="{093CCC15-2EE8-D018-31FF-FA8898A82C82}"/>
              </a:ext>
            </a:extLst>
          </p:cNvPr>
          <p:cNvSpPr/>
          <p:nvPr/>
        </p:nvSpPr>
        <p:spPr>
          <a:xfrm>
            <a:off x="822960" y="3351630"/>
            <a:ext cx="4297680" cy="59436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F2B6AA8E-2309-A2EA-99B0-85063BE81E24}"/>
              </a:ext>
            </a:extLst>
          </p:cNvPr>
          <p:cNvSpPr txBox="1"/>
          <p:nvPr/>
        </p:nvSpPr>
        <p:spPr>
          <a:xfrm>
            <a:off x="1005840" y="3397349"/>
            <a:ext cx="3931920" cy="457200"/>
          </a:xfrm>
          <a:prstGeom prst="rect">
            <a:avLst/>
          </a:prstGeom>
          <a:noFill/>
        </p:spPr>
        <p:txBody>
          <a:bodyPr wrap="square">
            <a:spAutoFit/>
          </a:bodyPr>
          <a:lstStyle/>
          <a:p>
            <a:pPr algn="l">
              <a:defRPr sz="1300" b="0">
                <a:solidFill>
                  <a:srgbClr val="1A1A2E"/>
                </a:solidFill>
                <a:latin typeface="Segoe UI"/>
              </a:defRPr>
            </a:pPr>
            <a:r>
              <a:t>Alert Feed + Scan History</a:t>
            </a:r>
          </a:p>
        </p:txBody>
      </p:sp>
      <p:sp>
        <p:nvSpPr>
          <p:cNvPr id="36" name="Rounded Rectangle 11">
            <a:extLst>
              <a:ext uri="{FF2B5EF4-FFF2-40B4-BE49-F238E27FC236}">
                <a16:creationId xmlns:a16="http://schemas.microsoft.com/office/drawing/2014/main" id="{B392D6F9-3C48-AA63-3641-7DB280C35404}"/>
              </a:ext>
            </a:extLst>
          </p:cNvPr>
          <p:cNvSpPr/>
          <p:nvPr/>
        </p:nvSpPr>
        <p:spPr>
          <a:xfrm>
            <a:off x="822960" y="4128870"/>
            <a:ext cx="4297680" cy="59436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53B6B741-2CAA-30C9-4CD8-18DA206DEAC8}"/>
              </a:ext>
            </a:extLst>
          </p:cNvPr>
          <p:cNvSpPr txBox="1"/>
          <p:nvPr/>
        </p:nvSpPr>
        <p:spPr>
          <a:xfrm>
            <a:off x="1005840" y="4174589"/>
            <a:ext cx="3931920" cy="457200"/>
          </a:xfrm>
          <a:prstGeom prst="rect">
            <a:avLst/>
          </a:prstGeom>
          <a:noFill/>
        </p:spPr>
        <p:txBody>
          <a:bodyPr wrap="square">
            <a:spAutoFit/>
          </a:bodyPr>
          <a:lstStyle/>
          <a:p>
            <a:pPr algn="l">
              <a:defRPr sz="1300" b="0">
                <a:solidFill>
                  <a:srgbClr val="1A1A2E"/>
                </a:solidFill>
                <a:latin typeface="Segoe UI"/>
              </a:defRPr>
            </a:pPr>
            <a:r>
              <a:t>File Browser Modal Popup</a:t>
            </a:r>
          </a:p>
        </p:txBody>
      </p:sp>
      <p:sp>
        <p:nvSpPr>
          <p:cNvPr id="38" name="Rounded Rectangle 13">
            <a:extLst>
              <a:ext uri="{FF2B5EF4-FFF2-40B4-BE49-F238E27FC236}">
                <a16:creationId xmlns:a16="http://schemas.microsoft.com/office/drawing/2014/main" id="{43E68D8C-AD65-9289-8875-C281ECA3D247}"/>
              </a:ext>
            </a:extLst>
          </p:cNvPr>
          <p:cNvSpPr/>
          <p:nvPr/>
        </p:nvSpPr>
        <p:spPr>
          <a:xfrm>
            <a:off x="822960" y="4906110"/>
            <a:ext cx="4297680" cy="59436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92A0253B-40B7-895A-503D-FF4244618775}"/>
              </a:ext>
            </a:extLst>
          </p:cNvPr>
          <p:cNvSpPr txBox="1"/>
          <p:nvPr/>
        </p:nvSpPr>
        <p:spPr>
          <a:xfrm>
            <a:off x="1005840" y="4951830"/>
            <a:ext cx="3931920" cy="457200"/>
          </a:xfrm>
          <a:prstGeom prst="rect">
            <a:avLst/>
          </a:prstGeom>
          <a:noFill/>
        </p:spPr>
        <p:txBody>
          <a:bodyPr wrap="square">
            <a:spAutoFit/>
          </a:bodyPr>
          <a:lstStyle/>
          <a:p>
            <a:pPr algn="l">
              <a:defRPr sz="1300" b="0">
                <a:solidFill>
                  <a:srgbClr val="1A1A2E"/>
                </a:solidFill>
                <a:latin typeface="Segoe UI"/>
              </a:defRPr>
            </a:pPr>
            <a:r>
              <a:t>Auto-Scan Scheduler</a:t>
            </a:r>
          </a:p>
        </p:txBody>
      </p:sp>
      <p:sp>
        <p:nvSpPr>
          <p:cNvPr id="40" name="TextBox 39">
            <a:extLst>
              <a:ext uri="{FF2B5EF4-FFF2-40B4-BE49-F238E27FC236}">
                <a16:creationId xmlns:a16="http://schemas.microsoft.com/office/drawing/2014/main" id="{3DFBB091-3902-A1BC-057F-B8C7EF4552CE}"/>
              </a:ext>
            </a:extLst>
          </p:cNvPr>
          <p:cNvSpPr txBox="1"/>
          <p:nvPr/>
        </p:nvSpPr>
        <p:spPr>
          <a:xfrm>
            <a:off x="5577840" y="3077310"/>
            <a:ext cx="914400" cy="548640"/>
          </a:xfrm>
          <a:prstGeom prst="rect">
            <a:avLst/>
          </a:prstGeom>
          <a:noFill/>
        </p:spPr>
        <p:txBody>
          <a:bodyPr wrap="square">
            <a:spAutoFit/>
          </a:bodyPr>
          <a:lstStyle/>
          <a:p>
            <a:pPr algn="ctr">
              <a:defRPr sz="3600" b="0">
                <a:solidFill>
                  <a:srgbClr val="007ACC"/>
                </a:solidFill>
                <a:latin typeface="Segoe UI"/>
              </a:defRPr>
            </a:pPr>
            <a:r>
              <a:t>⇄</a:t>
            </a:r>
          </a:p>
        </p:txBody>
      </p:sp>
      <p:sp>
        <p:nvSpPr>
          <p:cNvPr id="41" name="TextBox 40">
            <a:extLst>
              <a:ext uri="{FF2B5EF4-FFF2-40B4-BE49-F238E27FC236}">
                <a16:creationId xmlns:a16="http://schemas.microsoft.com/office/drawing/2014/main" id="{B4C1A0D6-1FE1-C5B0-4105-E8849AAAFFE8}"/>
              </a:ext>
            </a:extLst>
          </p:cNvPr>
          <p:cNvSpPr txBox="1"/>
          <p:nvPr/>
        </p:nvSpPr>
        <p:spPr>
          <a:xfrm>
            <a:off x="5577840" y="3625949"/>
            <a:ext cx="914400" cy="365760"/>
          </a:xfrm>
          <a:prstGeom prst="rect">
            <a:avLst/>
          </a:prstGeom>
          <a:noFill/>
        </p:spPr>
        <p:txBody>
          <a:bodyPr wrap="square">
            <a:spAutoFit/>
          </a:bodyPr>
          <a:lstStyle/>
          <a:p>
            <a:pPr algn="ctr">
              <a:defRPr sz="1100" b="0">
                <a:solidFill>
                  <a:srgbClr val="8890A0"/>
                </a:solidFill>
                <a:latin typeface="Segoe UI"/>
              </a:defRPr>
            </a:pPr>
            <a:r>
              <a:t>REST API</a:t>
            </a:r>
          </a:p>
        </p:txBody>
      </p:sp>
      <p:sp>
        <p:nvSpPr>
          <p:cNvPr id="42" name="Rounded Rectangle 17">
            <a:extLst>
              <a:ext uri="{FF2B5EF4-FFF2-40B4-BE49-F238E27FC236}">
                <a16:creationId xmlns:a16="http://schemas.microsoft.com/office/drawing/2014/main" id="{4902CF1A-935E-4E79-1C57-574B24E9E5C3}"/>
              </a:ext>
            </a:extLst>
          </p:cNvPr>
          <p:cNvSpPr/>
          <p:nvPr/>
        </p:nvSpPr>
        <p:spPr>
          <a:xfrm>
            <a:off x="6675120" y="1065630"/>
            <a:ext cx="5029200" cy="5029200"/>
          </a:xfrm>
          <a:prstGeom prst="roundRect">
            <a:avLst/>
          </a:prstGeom>
          <a:solidFill>
            <a:srgbClr val="F5F0FF"/>
          </a:solidFill>
          <a:ln w="12700">
            <a:solidFill>
              <a:srgbClr val="6B4F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C2579EF4-FCB0-0639-D64F-139B2857A9BB}"/>
              </a:ext>
            </a:extLst>
          </p:cNvPr>
          <p:cNvSpPr txBox="1"/>
          <p:nvPr/>
        </p:nvSpPr>
        <p:spPr>
          <a:xfrm>
            <a:off x="6675120" y="1157070"/>
            <a:ext cx="5029200" cy="457200"/>
          </a:xfrm>
          <a:prstGeom prst="rect">
            <a:avLst/>
          </a:prstGeom>
          <a:noFill/>
        </p:spPr>
        <p:txBody>
          <a:bodyPr wrap="square">
            <a:spAutoFit/>
          </a:bodyPr>
          <a:lstStyle/>
          <a:p>
            <a:pPr algn="ctr">
              <a:defRPr sz="1800" b="1">
                <a:solidFill>
                  <a:srgbClr val="6B4FBB"/>
                </a:solidFill>
                <a:latin typeface="Segoe UI"/>
              </a:defRPr>
            </a:pPr>
            <a:r>
              <a:t>Python Backend (:5000)</a:t>
            </a:r>
          </a:p>
        </p:txBody>
      </p:sp>
      <p:sp>
        <p:nvSpPr>
          <p:cNvPr id="44" name="Rounded Rectangle 19">
            <a:extLst>
              <a:ext uri="{FF2B5EF4-FFF2-40B4-BE49-F238E27FC236}">
                <a16:creationId xmlns:a16="http://schemas.microsoft.com/office/drawing/2014/main" id="{B507A2F0-8E82-9A72-8BB6-4AC931986352}"/>
              </a:ext>
            </a:extLst>
          </p:cNvPr>
          <p:cNvSpPr/>
          <p:nvPr/>
        </p:nvSpPr>
        <p:spPr>
          <a:xfrm>
            <a:off x="7040880" y="1797150"/>
            <a:ext cx="4297680" cy="59436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E5B58F92-A886-EED9-783A-8B5051CFF37C}"/>
              </a:ext>
            </a:extLst>
          </p:cNvPr>
          <p:cNvSpPr txBox="1"/>
          <p:nvPr/>
        </p:nvSpPr>
        <p:spPr>
          <a:xfrm>
            <a:off x="7223760" y="1842870"/>
            <a:ext cx="3931920" cy="457200"/>
          </a:xfrm>
          <a:prstGeom prst="rect">
            <a:avLst/>
          </a:prstGeom>
          <a:noFill/>
        </p:spPr>
        <p:txBody>
          <a:bodyPr wrap="square">
            <a:spAutoFit/>
          </a:bodyPr>
          <a:lstStyle/>
          <a:p>
            <a:pPr algn="l">
              <a:defRPr sz="1300" b="0">
                <a:solidFill>
                  <a:srgbClr val="6B4FBB"/>
                </a:solidFill>
                <a:latin typeface="Segoe UI"/>
              </a:defRPr>
            </a:pPr>
            <a:r>
              <a:t>hashlib SHA-256 / MD5</a:t>
            </a:r>
          </a:p>
        </p:txBody>
      </p:sp>
      <p:sp>
        <p:nvSpPr>
          <p:cNvPr id="46" name="Rounded Rectangle 21">
            <a:extLst>
              <a:ext uri="{FF2B5EF4-FFF2-40B4-BE49-F238E27FC236}">
                <a16:creationId xmlns:a16="http://schemas.microsoft.com/office/drawing/2014/main" id="{D4A3BB72-4EC2-91E1-E5E4-4DBDA4C3A737}"/>
              </a:ext>
            </a:extLst>
          </p:cNvPr>
          <p:cNvSpPr/>
          <p:nvPr/>
        </p:nvSpPr>
        <p:spPr>
          <a:xfrm>
            <a:off x="7040880" y="2574390"/>
            <a:ext cx="4297680" cy="59436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343DE31C-6B5D-A48A-B853-8E2F6E45BEDD}"/>
              </a:ext>
            </a:extLst>
          </p:cNvPr>
          <p:cNvSpPr txBox="1"/>
          <p:nvPr/>
        </p:nvSpPr>
        <p:spPr>
          <a:xfrm>
            <a:off x="7223760" y="2620110"/>
            <a:ext cx="3931920" cy="457200"/>
          </a:xfrm>
          <a:prstGeom prst="rect">
            <a:avLst/>
          </a:prstGeom>
          <a:noFill/>
        </p:spPr>
        <p:txBody>
          <a:bodyPr wrap="square">
            <a:spAutoFit/>
          </a:bodyPr>
          <a:lstStyle/>
          <a:p>
            <a:pPr algn="l">
              <a:defRPr sz="1300" b="0">
                <a:solidFill>
                  <a:srgbClr val="6B4FBB"/>
                </a:solidFill>
                <a:latin typeface="Segoe UI"/>
              </a:defRPr>
            </a:pPr>
            <a:r>
              <a:t>os.stat() File Metadata</a:t>
            </a:r>
          </a:p>
        </p:txBody>
      </p:sp>
      <p:sp>
        <p:nvSpPr>
          <p:cNvPr id="48" name="Rounded Rectangle 23">
            <a:extLst>
              <a:ext uri="{FF2B5EF4-FFF2-40B4-BE49-F238E27FC236}">
                <a16:creationId xmlns:a16="http://schemas.microsoft.com/office/drawing/2014/main" id="{F59A323F-17B4-0134-78EB-0EF11DA86D01}"/>
              </a:ext>
            </a:extLst>
          </p:cNvPr>
          <p:cNvSpPr/>
          <p:nvPr/>
        </p:nvSpPr>
        <p:spPr>
          <a:xfrm>
            <a:off x="7040880" y="3351630"/>
            <a:ext cx="4297680" cy="59436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a:extLst>
              <a:ext uri="{FF2B5EF4-FFF2-40B4-BE49-F238E27FC236}">
                <a16:creationId xmlns:a16="http://schemas.microsoft.com/office/drawing/2014/main" id="{02A97999-CDF3-3DB0-ADA1-E213DD59D7A3}"/>
              </a:ext>
            </a:extLst>
          </p:cNvPr>
          <p:cNvSpPr txBox="1"/>
          <p:nvPr/>
        </p:nvSpPr>
        <p:spPr>
          <a:xfrm>
            <a:off x="7223760" y="3397349"/>
            <a:ext cx="3931920" cy="457200"/>
          </a:xfrm>
          <a:prstGeom prst="rect">
            <a:avLst/>
          </a:prstGeom>
          <a:noFill/>
        </p:spPr>
        <p:txBody>
          <a:bodyPr wrap="square">
            <a:spAutoFit/>
          </a:bodyPr>
          <a:lstStyle/>
          <a:p>
            <a:pPr algn="l">
              <a:defRPr sz="1300" b="0">
                <a:solidFill>
                  <a:srgbClr val="6B4FBB"/>
                </a:solidFill>
                <a:latin typeface="Segoe UI"/>
              </a:defRPr>
            </a:pPr>
            <a:r>
              <a:t>Real OS File Scanner</a:t>
            </a:r>
          </a:p>
        </p:txBody>
      </p:sp>
      <p:sp>
        <p:nvSpPr>
          <p:cNvPr id="50" name="Rounded Rectangle 25">
            <a:extLst>
              <a:ext uri="{FF2B5EF4-FFF2-40B4-BE49-F238E27FC236}">
                <a16:creationId xmlns:a16="http://schemas.microsoft.com/office/drawing/2014/main" id="{5929E692-09A4-CFDD-6821-26D798D401BA}"/>
              </a:ext>
            </a:extLst>
          </p:cNvPr>
          <p:cNvSpPr/>
          <p:nvPr/>
        </p:nvSpPr>
        <p:spPr>
          <a:xfrm>
            <a:off x="7040880" y="4128870"/>
            <a:ext cx="4297680" cy="59436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F4506040-581F-9E0F-1FC7-868299EAB00F}"/>
              </a:ext>
            </a:extLst>
          </p:cNvPr>
          <p:cNvSpPr txBox="1"/>
          <p:nvPr/>
        </p:nvSpPr>
        <p:spPr>
          <a:xfrm>
            <a:off x="7223760" y="4174589"/>
            <a:ext cx="3931920" cy="457200"/>
          </a:xfrm>
          <a:prstGeom prst="rect">
            <a:avLst/>
          </a:prstGeom>
          <a:noFill/>
        </p:spPr>
        <p:txBody>
          <a:bodyPr wrap="square">
            <a:spAutoFit/>
          </a:bodyPr>
          <a:lstStyle/>
          <a:p>
            <a:pPr algn="l">
              <a:defRPr sz="1300" b="0">
                <a:solidFill>
                  <a:srgbClr val="6B4FBB"/>
                </a:solidFill>
                <a:latin typeface="Segoe UI"/>
              </a:defRPr>
            </a:pPr>
            <a:r>
              <a:t>Baseline Comparison Engine</a:t>
            </a:r>
          </a:p>
        </p:txBody>
      </p:sp>
      <p:sp>
        <p:nvSpPr>
          <p:cNvPr id="52" name="Rounded Rectangle 27">
            <a:extLst>
              <a:ext uri="{FF2B5EF4-FFF2-40B4-BE49-F238E27FC236}">
                <a16:creationId xmlns:a16="http://schemas.microsoft.com/office/drawing/2014/main" id="{A463C78E-75C1-21CC-5CF2-9383E8007468}"/>
              </a:ext>
            </a:extLst>
          </p:cNvPr>
          <p:cNvSpPr/>
          <p:nvPr/>
        </p:nvSpPr>
        <p:spPr>
          <a:xfrm>
            <a:off x="7040880" y="4906110"/>
            <a:ext cx="4297680" cy="594360"/>
          </a:xfrm>
          <a:prstGeom prst="roundRect">
            <a:avLst/>
          </a:prstGeom>
          <a:solidFill>
            <a:srgbClr val="F4F6F9"/>
          </a:solidFill>
          <a:ln w="12700">
            <a:solidFill>
              <a:srgbClr val="DD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a:extLst>
              <a:ext uri="{FF2B5EF4-FFF2-40B4-BE49-F238E27FC236}">
                <a16:creationId xmlns:a16="http://schemas.microsoft.com/office/drawing/2014/main" id="{BA2CCA00-8853-09E1-AD7D-1ADECDF6DAD8}"/>
              </a:ext>
            </a:extLst>
          </p:cNvPr>
          <p:cNvSpPr txBox="1"/>
          <p:nvPr/>
        </p:nvSpPr>
        <p:spPr>
          <a:xfrm>
            <a:off x="7223760" y="4951830"/>
            <a:ext cx="3931920" cy="457200"/>
          </a:xfrm>
          <a:prstGeom prst="rect">
            <a:avLst/>
          </a:prstGeom>
          <a:noFill/>
        </p:spPr>
        <p:txBody>
          <a:bodyPr wrap="square">
            <a:spAutoFit/>
          </a:bodyPr>
          <a:lstStyle/>
          <a:p>
            <a:pPr algn="l">
              <a:defRPr sz="1300" b="0">
                <a:solidFill>
                  <a:srgbClr val="6B4FBB"/>
                </a:solidFill>
                <a:latin typeface="Segoe UI"/>
              </a:defRPr>
            </a:pPr>
            <a:r>
              <a:t>JSON Data Persistence</a:t>
            </a:r>
          </a:p>
        </p:txBody>
      </p:sp>
    </p:spTree>
    <p:extLst>
      <p:ext uri="{BB962C8B-B14F-4D97-AF65-F5344CB8AC3E}">
        <p14:creationId xmlns:p14="http://schemas.microsoft.com/office/powerpoint/2010/main" val="69577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50A3D-11C5-675B-E54B-7A4C5318D4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66A7F60-0CB2-0679-4689-D16FC353634B}"/>
              </a:ext>
            </a:extLst>
          </p:cNvPr>
          <p:cNvSpPr>
            <a:spLocks noGrp="1"/>
          </p:cNvSpPr>
          <p:nvPr>
            <p:ph type="title"/>
          </p:nvPr>
        </p:nvSpPr>
        <p:spPr>
          <a:xfrm>
            <a:off x="678883" y="178118"/>
            <a:ext cx="10834234" cy="612775"/>
          </a:xfrm>
        </p:spPr>
        <p:txBody>
          <a:bodyPr>
            <a:normAutofit/>
          </a:bodyPr>
          <a:lstStyle/>
          <a:p>
            <a:r>
              <a:rPr lang="en-IN" dirty="0">
                <a:solidFill>
                  <a:schemeClr val="accent1"/>
                </a:solidFill>
              </a:rPr>
              <a:t>Data Flow Diagram</a:t>
            </a:r>
            <a:endParaRPr lang="en-US" dirty="0">
              <a:solidFill>
                <a:schemeClr val="accent1"/>
              </a:solidFill>
            </a:endParaRPr>
          </a:p>
        </p:txBody>
      </p:sp>
      <p:sp>
        <p:nvSpPr>
          <p:cNvPr id="6" name="Rounded Rectangle 3">
            <a:extLst>
              <a:ext uri="{FF2B5EF4-FFF2-40B4-BE49-F238E27FC236}">
                <a16:creationId xmlns:a16="http://schemas.microsoft.com/office/drawing/2014/main" id="{CB368954-CE0E-7A3E-6F4D-699167042D37}"/>
              </a:ext>
            </a:extLst>
          </p:cNvPr>
          <p:cNvSpPr/>
          <p:nvPr/>
        </p:nvSpPr>
        <p:spPr>
          <a:xfrm>
            <a:off x="4114800" y="973773"/>
            <a:ext cx="3657600" cy="640080"/>
          </a:xfrm>
          <a:prstGeom prst="roundRect">
            <a:avLst/>
          </a:prstGeom>
          <a:solidFill>
            <a:srgbClr val="F4F6F9"/>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BD4E2B1-14AE-4DB9-CF17-0E4C121F37B1}"/>
              </a:ext>
            </a:extLst>
          </p:cNvPr>
          <p:cNvSpPr txBox="1"/>
          <p:nvPr/>
        </p:nvSpPr>
        <p:spPr>
          <a:xfrm>
            <a:off x="4114800" y="1097280"/>
            <a:ext cx="3657600" cy="548640"/>
          </a:xfrm>
          <a:prstGeom prst="rect">
            <a:avLst/>
          </a:prstGeom>
          <a:noFill/>
        </p:spPr>
        <p:txBody>
          <a:bodyPr wrap="square">
            <a:spAutoFit/>
          </a:bodyPr>
          <a:lstStyle/>
          <a:p>
            <a:pPr algn="ctr">
              <a:defRPr sz="1400" b="1">
                <a:solidFill>
                  <a:srgbClr val="007ACC"/>
                </a:solidFill>
                <a:latin typeface="Segoe UI"/>
              </a:defRPr>
            </a:pPr>
            <a:r>
              <a:rPr dirty="0"/>
              <a:t>User Clicks Scan</a:t>
            </a:r>
          </a:p>
        </p:txBody>
      </p:sp>
      <p:sp>
        <p:nvSpPr>
          <p:cNvPr id="8" name="Rounded Rectangle 5">
            <a:extLst>
              <a:ext uri="{FF2B5EF4-FFF2-40B4-BE49-F238E27FC236}">
                <a16:creationId xmlns:a16="http://schemas.microsoft.com/office/drawing/2014/main" id="{A90FBEBC-3AAE-4C33-FF2C-9C06B549262C}"/>
              </a:ext>
            </a:extLst>
          </p:cNvPr>
          <p:cNvSpPr/>
          <p:nvPr/>
        </p:nvSpPr>
        <p:spPr>
          <a:xfrm>
            <a:off x="4114800" y="2031488"/>
            <a:ext cx="3657600" cy="640080"/>
          </a:xfrm>
          <a:prstGeom prst="roundRect">
            <a:avLst/>
          </a:prstGeom>
          <a:solidFill>
            <a:srgbClr val="F4F6F9"/>
          </a:solidFill>
          <a:ln w="12700">
            <a:solidFill>
              <a:srgbClr val="1A1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E3520D57-A37E-338E-480A-9273207DD70A}"/>
              </a:ext>
            </a:extLst>
          </p:cNvPr>
          <p:cNvSpPr txBox="1"/>
          <p:nvPr/>
        </p:nvSpPr>
        <p:spPr>
          <a:xfrm>
            <a:off x="4069080" y="2148839"/>
            <a:ext cx="3657600" cy="548640"/>
          </a:xfrm>
          <a:prstGeom prst="rect">
            <a:avLst/>
          </a:prstGeom>
          <a:noFill/>
        </p:spPr>
        <p:txBody>
          <a:bodyPr wrap="square">
            <a:spAutoFit/>
          </a:bodyPr>
          <a:lstStyle/>
          <a:p>
            <a:pPr algn="ctr">
              <a:defRPr sz="1400" b="1">
                <a:solidFill>
                  <a:srgbClr val="1A1A2E"/>
                </a:solidFill>
                <a:latin typeface="Segoe UI"/>
              </a:defRPr>
            </a:pPr>
            <a:r>
              <a:rPr dirty="0"/>
              <a:t>React → POST /</a:t>
            </a:r>
            <a:r>
              <a:rPr dirty="0" err="1"/>
              <a:t>api</a:t>
            </a:r>
            <a:r>
              <a:rPr dirty="0"/>
              <a:t>/scan</a:t>
            </a:r>
          </a:p>
        </p:txBody>
      </p:sp>
      <p:sp>
        <p:nvSpPr>
          <p:cNvPr id="10" name="Rounded Rectangle 7">
            <a:extLst>
              <a:ext uri="{FF2B5EF4-FFF2-40B4-BE49-F238E27FC236}">
                <a16:creationId xmlns:a16="http://schemas.microsoft.com/office/drawing/2014/main" id="{8F5FD2C9-8CB7-8DC7-1D06-A1A5E442471E}"/>
              </a:ext>
            </a:extLst>
          </p:cNvPr>
          <p:cNvSpPr/>
          <p:nvPr/>
        </p:nvSpPr>
        <p:spPr>
          <a:xfrm>
            <a:off x="1371600" y="3108960"/>
            <a:ext cx="3657600" cy="640080"/>
          </a:xfrm>
          <a:prstGeom prst="roundRect">
            <a:avLst/>
          </a:prstGeom>
          <a:solidFill>
            <a:srgbClr val="F4F6F9"/>
          </a:solidFill>
          <a:ln w="12700">
            <a:solidFill>
              <a:srgbClr val="6B4F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1DAA804F-2B78-B27F-D859-867F60538CF1}"/>
              </a:ext>
            </a:extLst>
          </p:cNvPr>
          <p:cNvSpPr txBox="1"/>
          <p:nvPr/>
        </p:nvSpPr>
        <p:spPr>
          <a:xfrm>
            <a:off x="1371600" y="3154679"/>
            <a:ext cx="3657600" cy="548640"/>
          </a:xfrm>
          <a:prstGeom prst="rect">
            <a:avLst/>
          </a:prstGeom>
          <a:noFill/>
        </p:spPr>
        <p:txBody>
          <a:bodyPr wrap="square">
            <a:spAutoFit/>
          </a:bodyPr>
          <a:lstStyle/>
          <a:p>
            <a:pPr algn="ctr">
              <a:defRPr sz="1400" b="1">
                <a:solidFill>
                  <a:srgbClr val="6B4FBB"/>
                </a:solidFill>
                <a:latin typeface="Segoe UI"/>
              </a:defRPr>
            </a:pPr>
            <a:r>
              <a:t>Python Reads OS Files</a:t>
            </a:r>
          </a:p>
        </p:txBody>
      </p:sp>
      <p:sp>
        <p:nvSpPr>
          <p:cNvPr id="12" name="Rounded Rectangle 9">
            <a:extLst>
              <a:ext uri="{FF2B5EF4-FFF2-40B4-BE49-F238E27FC236}">
                <a16:creationId xmlns:a16="http://schemas.microsoft.com/office/drawing/2014/main" id="{EC1FD512-CD73-19F6-4374-93C892FC5B79}"/>
              </a:ext>
            </a:extLst>
          </p:cNvPr>
          <p:cNvSpPr/>
          <p:nvPr/>
        </p:nvSpPr>
        <p:spPr>
          <a:xfrm>
            <a:off x="6576646" y="3108960"/>
            <a:ext cx="3657600" cy="640080"/>
          </a:xfrm>
          <a:prstGeom prst="roundRect">
            <a:avLst/>
          </a:prstGeom>
          <a:solidFill>
            <a:srgbClr val="F4F6F9"/>
          </a:solidFill>
          <a:ln w="12700">
            <a:solidFill>
              <a:srgbClr val="00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F54D7D82-9870-B186-F48E-BFE33BF196F1}"/>
              </a:ext>
            </a:extLst>
          </p:cNvPr>
          <p:cNvSpPr txBox="1"/>
          <p:nvPr/>
        </p:nvSpPr>
        <p:spPr>
          <a:xfrm>
            <a:off x="6576646" y="3221500"/>
            <a:ext cx="3657600" cy="548640"/>
          </a:xfrm>
          <a:prstGeom prst="rect">
            <a:avLst/>
          </a:prstGeom>
          <a:noFill/>
        </p:spPr>
        <p:txBody>
          <a:bodyPr wrap="square">
            <a:spAutoFit/>
          </a:bodyPr>
          <a:lstStyle/>
          <a:p>
            <a:pPr algn="ctr">
              <a:defRPr sz="1400" b="1">
                <a:solidFill>
                  <a:srgbClr val="008A4E"/>
                </a:solidFill>
                <a:latin typeface="Segoe UI"/>
              </a:defRPr>
            </a:pPr>
            <a:r>
              <a:t>Compute SHA-256 Hash</a:t>
            </a:r>
          </a:p>
        </p:txBody>
      </p:sp>
      <p:sp>
        <p:nvSpPr>
          <p:cNvPr id="14" name="Rounded Rectangle 11">
            <a:extLst>
              <a:ext uri="{FF2B5EF4-FFF2-40B4-BE49-F238E27FC236}">
                <a16:creationId xmlns:a16="http://schemas.microsoft.com/office/drawing/2014/main" id="{B5F0DDF7-DC32-BE4D-6745-3AE60F366995}"/>
              </a:ext>
            </a:extLst>
          </p:cNvPr>
          <p:cNvSpPr/>
          <p:nvPr/>
        </p:nvSpPr>
        <p:spPr>
          <a:xfrm>
            <a:off x="4069080" y="4172829"/>
            <a:ext cx="3657600" cy="640080"/>
          </a:xfrm>
          <a:prstGeom prst="roundRect">
            <a:avLst/>
          </a:prstGeom>
          <a:solidFill>
            <a:srgbClr val="F4F6F9"/>
          </a:solidFill>
          <a:ln w="12700">
            <a:solidFill>
              <a:srgbClr val="BB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80BF7A35-569E-85B8-CB0D-3604206EA6B4}"/>
              </a:ext>
            </a:extLst>
          </p:cNvPr>
          <p:cNvSpPr txBox="1"/>
          <p:nvPr/>
        </p:nvSpPr>
        <p:spPr>
          <a:xfrm>
            <a:off x="4114800" y="4309989"/>
            <a:ext cx="3657600" cy="548640"/>
          </a:xfrm>
          <a:prstGeom prst="rect">
            <a:avLst/>
          </a:prstGeom>
          <a:noFill/>
        </p:spPr>
        <p:txBody>
          <a:bodyPr wrap="square">
            <a:spAutoFit/>
          </a:bodyPr>
          <a:lstStyle/>
          <a:p>
            <a:pPr algn="ctr">
              <a:defRPr sz="1400" b="1">
                <a:solidFill>
                  <a:srgbClr val="BB7700"/>
                </a:solidFill>
                <a:latin typeface="Segoe UI"/>
              </a:defRPr>
            </a:pPr>
            <a:r>
              <a:rPr dirty="0"/>
              <a:t>Compare vs Baseline</a:t>
            </a:r>
          </a:p>
        </p:txBody>
      </p:sp>
      <p:sp>
        <p:nvSpPr>
          <p:cNvPr id="16" name="Rounded Rectangle 13">
            <a:extLst>
              <a:ext uri="{FF2B5EF4-FFF2-40B4-BE49-F238E27FC236}">
                <a16:creationId xmlns:a16="http://schemas.microsoft.com/office/drawing/2014/main" id="{C85C43A7-D797-A906-5BD9-E4E8EF8D4A96}"/>
              </a:ext>
            </a:extLst>
          </p:cNvPr>
          <p:cNvSpPr/>
          <p:nvPr/>
        </p:nvSpPr>
        <p:spPr>
          <a:xfrm>
            <a:off x="1371600" y="5303520"/>
            <a:ext cx="3657600" cy="640080"/>
          </a:xfrm>
          <a:prstGeom prst="roundRect">
            <a:avLst/>
          </a:prstGeom>
          <a:solidFill>
            <a:srgbClr val="F4F6F9"/>
          </a:solidFill>
          <a:ln w="12700">
            <a:solidFill>
              <a:srgbClr val="00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DADA60E9-2B94-CD4E-1522-DCCD3843B90F}"/>
              </a:ext>
            </a:extLst>
          </p:cNvPr>
          <p:cNvSpPr txBox="1"/>
          <p:nvPr/>
        </p:nvSpPr>
        <p:spPr>
          <a:xfrm>
            <a:off x="1371600" y="5349240"/>
            <a:ext cx="3657600" cy="548640"/>
          </a:xfrm>
          <a:prstGeom prst="rect">
            <a:avLst/>
          </a:prstGeom>
          <a:noFill/>
        </p:spPr>
        <p:txBody>
          <a:bodyPr wrap="square">
            <a:spAutoFit/>
          </a:bodyPr>
          <a:lstStyle/>
          <a:p>
            <a:pPr algn="ctr">
              <a:defRPr sz="1400" b="1">
                <a:solidFill>
                  <a:srgbClr val="008A4E"/>
                </a:solidFill>
                <a:latin typeface="Segoe UI"/>
              </a:defRPr>
            </a:pPr>
            <a:r>
              <a:t>Match ✓  →  INTACT</a:t>
            </a:r>
          </a:p>
        </p:txBody>
      </p:sp>
      <p:sp>
        <p:nvSpPr>
          <p:cNvPr id="18" name="Rounded Rectangle 15">
            <a:extLst>
              <a:ext uri="{FF2B5EF4-FFF2-40B4-BE49-F238E27FC236}">
                <a16:creationId xmlns:a16="http://schemas.microsoft.com/office/drawing/2014/main" id="{FC31F41B-32AF-BA5B-8C38-C819F27EFF88}"/>
              </a:ext>
            </a:extLst>
          </p:cNvPr>
          <p:cNvSpPr/>
          <p:nvPr/>
        </p:nvSpPr>
        <p:spPr>
          <a:xfrm>
            <a:off x="6400800" y="5303520"/>
            <a:ext cx="3657600" cy="640080"/>
          </a:xfrm>
          <a:prstGeom prst="roundRect">
            <a:avLst/>
          </a:prstGeom>
          <a:solidFill>
            <a:srgbClr val="F4F6F9"/>
          </a:solidFill>
          <a:ln w="1270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80313E3F-AE5D-7F56-EE3A-CC0A569C846E}"/>
              </a:ext>
            </a:extLst>
          </p:cNvPr>
          <p:cNvSpPr txBox="1"/>
          <p:nvPr/>
        </p:nvSpPr>
        <p:spPr>
          <a:xfrm>
            <a:off x="6400800" y="5349240"/>
            <a:ext cx="3657600" cy="548640"/>
          </a:xfrm>
          <a:prstGeom prst="rect">
            <a:avLst/>
          </a:prstGeom>
          <a:noFill/>
        </p:spPr>
        <p:txBody>
          <a:bodyPr wrap="square">
            <a:spAutoFit/>
          </a:bodyPr>
          <a:lstStyle/>
          <a:p>
            <a:pPr algn="ctr">
              <a:defRPr sz="1400" b="1">
                <a:solidFill>
                  <a:srgbClr val="CC2244"/>
                </a:solidFill>
                <a:latin typeface="Segoe UI"/>
              </a:defRPr>
            </a:pPr>
            <a:r>
              <a:t>Mismatch ⚠  →  ALERT</a:t>
            </a:r>
          </a:p>
        </p:txBody>
      </p:sp>
      <p:sp>
        <p:nvSpPr>
          <p:cNvPr id="24" name="Rectangle 23">
            <a:extLst>
              <a:ext uri="{FF2B5EF4-FFF2-40B4-BE49-F238E27FC236}">
                <a16:creationId xmlns:a16="http://schemas.microsoft.com/office/drawing/2014/main" id="{B1283C25-E52D-2CE7-28B3-7C083ACE39B0}"/>
              </a:ext>
            </a:extLst>
          </p:cNvPr>
          <p:cNvSpPr/>
          <p:nvPr/>
        </p:nvSpPr>
        <p:spPr>
          <a:xfrm>
            <a:off x="685800" y="731520"/>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cxnSp>
        <p:nvCxnSpPr>
          <p:cNvPr id="26" name="Straight Arrow Connector 25">
            <a:extLst>
              <a:ext uri="{FF2B5EF4-FFF2-40B4-BE49-F238E27FC236}">
                <a16:creationId xmlns:a16="http://schemas.microsoft.com/office/drawing/2014/main" id="{8C63DA56-0DE5-2E62-2C42-DCBBFCBE8668}"/>
              </a:ext>
            </a:extLst>
          </p:cNvPr>
          <p:cNvCxnSpPr>
            <a:cxnSpLocks/>
            <a:stCxn id="7" idx="2"/>
            <a:endCxn id="8" idx="0"/>
          </p:cNvCxnSpPr>
          <p:nvPr/>
        </p:nvCxnSpPr>
        <p:spPr>
          <a:xfrm>
            <a:off x="5943600" y="1645920"/>
            <a:ext cx="0" cy="38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82FF3B95-B4D8-995D-C6B7-F5E100CDC0A0}"/>
              </a:ext>
            </a:extLst>
          </p:cNvPr>
          <p:cNvCxnSpPr>
            <a:cxnSpLocks/>
            <a:stCxn id="9" idx="2"/>
            <a:endCxn id="12" idx="0"/>
          </p:cNvCxnSpPr>
          <p:nvPr/>
        </p:nvCxnSpPr>
        <p:spPr>
          <a:xfrm rot="16200000" flipH="1">
            <a:off x="6945923" y="1649436"/>
            <a:ext cx="411481" cy="250756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F3312CC0-9474-3EFC-4EB9-C2685E53A78A}"/>
              </a:ext>
            </a:extLst>
          </p:cNvPr>
          <p:cNvCxnSpPr>
            <a:cxnSpLocks/>
            <a:stCxn id="9" idx="2"/>
            <a:endCxn id="11" idx="0"/>
          </p:cNvCxnSpPr>
          <p:nvPr/>
        </p:nvCxnSpPr>
        <p:spPr>
          <a:xfrm rot="5400000">
            <a:off x="4320540" y="1577339"/>
            <a:ext cx="457200" cy="269748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8A48C0F-AB81-2B3B-AE24-7C54D10F5A4B}"/>
              </a:ext>
            </a:extLst>
          </p:cNvPr>
          <p:cNvCxnSpPr>
            <a:cxnSpLocks/>
            <a:stCxn id="10" idx="2"/>
            <a:endCxn id="14" idx="1"/>
          </p:cNvCxnSpPr>
          <p:nvPr/>
        </p:nvCxnSpPr>
        <p:spPr>
          <a:xfrm>
            <a:off x="3200400" y="3749040"/>
            <a:ext cx="868680" cy="7438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B5B08F34-B0AE-06C0-AED5-76458CD0DF42}"/>
              </a:ext>
            </a:extLst>
          </p:cNvPr>
          <p:cNvCxnSpPr>
            <a:cxnSpLocks/>
            <a:stCxn id="13" idx="2"/>
            <a:endCxn id="14" idx="0"/>
          </p:cNvCxnSpPr>
          <p:nvPr/>
        </p:nvCxnSpPr>
        <p:spPr>
          <a:xfrm rot="5400000">
            <a:off x="6950319" y="2717701"/>
            <a:ext cx="402689" cy="250756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EE4B5D90-26A6-93A1-72F4-B646A772A5A1}"/>
              </a:ext>
            </a:extLst>
          </p:cNvPr>
          <p:cNvCxnSpPr>
            <a:cxnSpLocks/>
            <a:stCxn id="15" idx="2"/>
            <a:endCxn id="16" idx="0"/>
          </p:cNvCxnSpPr>
          <p:nvPr/>
        </p:nvCxnSpPr>
        <p:spPr>
          <a:xfrm rot="5400000">
            <a:off x="4349555" y="3709474"/>
            <a:ext cx="444891" cy="27432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F5F21EBC-9F33-0B0C-A621-A3F3AEFF9401}"/>
              </a:ext>
            </a:extLst>
          </p:cNvPr>
          <p:cNvCxnSpPr>
            <a:cxnSpLocks/>
            <a:stCxn id="15" idx="2"/>
            <a:endCxn id="19" idx="1"/>
          </p:cNvCxnSpPr>
          <p:nvPr/>
        </p:nvCxnSpPr>
        <p:spPr>
          <a:xfrm rot="16200000" flipH="1">
            <a:off x="5789735" y="5012494"/>
            <a:ext cx="764931" cy="4572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7809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CEFAC-99ED-E447-B392-38556C2490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8EE78B4-266B-3FB7-3E72-638188A07340}"/>
              </a:ext>
            </a:extLst>
          </p:cNvPr>
          <p:cNvSpPr>
            <a:spLocks noGrp="1"/>
          </p:cNvSpPr>
          <p:nvPr>
            <p:ph type="title"/>
          </p:nvPr>
        </p:nvSpPr>
        <p:spPr>
          <a:xfrm>
            <a:off x="538207" y="146466"/>
            <a:ext cx="10834234" cy="612775"/>
          </a:xfrm>
        </p:spPr>
        <p:txBody>
          <a:bodyPr>
            <a:normAutofit/>
          </a:bodyPr>
          <a:lstStyle/>
          <a:p>
            <a:r>
              <a:rPr lang="en-IN" dirty="0">
                <a:solidFill>
                  <a:schemeClr val="accent1"/>
                </a:solidFill>
              </a:rPr>
              <a:t>Demo: Dashboard — System Overview	</a:t>
            </a:r>
            <a:endParaRPr lang="en-US" dirty="0">
              <a:solidFill>
                <a:schemeClr val="accent1"/>
              </a:solidFill>
            </a:endParaRPr>
          </a:p>
        </p:txBody>
      </p:sp>
      <p:pic>
        <p:nvPicPr>
          <p:cNvPr id="9" name="Picture 8">
            <a:extLst>
              <a:ext uri="{FF2B5EF4-FFF2-40B4-BE49-F238E27FC236}">
                <a16:creationId xmlns:a16="http://schemas.microsoft.com/office/drawing/2014/main" id="{26F45051-2BFD-78E3-FC99-27405383A869}"/>
              </a:ext>
            </a:extLst>
          </p:cNvPr>
          <p:cNvPicPr>
            <a:picLocks noChangeAspect="1"/>
          </p:cNvPicPr>
          <p:nvPr/>
        </p:nvPicPr>
        <p:blipFill>
          <a:blip r:embed="rId3"/>
          <a:stretch>
            <a:fillRect/>
          </a:stretch>
        </p:blipFill>
        <p:spPr>
          <a:xfrm>
            <a:off x="2497717" y="970792"/>
            <a:ext cx="6646284" cy="514037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19306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F559A-C27A-21A0-2458-D38AB563E0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A75869-5A1F-CA68-CF11-8B51D74B475C}"/>
              </a:ext>
            </a:extLst>
          </p:cNvPr>
          <p:cNvSpPr>
            <a:spLocks noGrp="1"/>
          </p:cNvSpPr>
          <p:nvPr>
            <p:ph type="title"/>
          </p:nvPr>
        </p:nvSpPr>
        <p:spPr>
          <a:xfrm>
            <a:off x="538207" y="146466"/>
            <a:ext cx="10834234" cy="612775"/>
          </a:xfrm>
        </p:spPr>
        <p:txBody>
          <a:bodyPr>
            <a:normAutofit/>
          </a:bodyPr>
          <a:lstStyle/>
          <a:p>
            <a:r>
              <a:rPr lang="en-IN" dirty="0">
                <a:solidFill>
                  <a:schemeClr val="accent1"/>
                </a:solidFill>
              </a:rPr>
              <a:t>Demo: Dashboard — Auto-Scan Scheduler</a:t>
            </a:r>
            <a:endParaRPr lang="en-US" dirty="0">
              <a:solidFill>
                <a:schemeClr val="accent1"/>
              </a:solidFill>
            </a:endParaRPr>
          </a:p>
        </p:txBody>
      </p:sp>
      <p:pic>
        <p:nvPicPr>
          <p:cNvPr id="3" name="Picture 2">
            <a:extLst>
              <a:ext uri="{FF2B5EF4-FFF2-40B4-BE49-F238E27FC236}">
                <a16:creationId xmlns:a16="http://schemas.microsoft.com/office/drawing/2014/main" id="{C6C73201-2B9A-576F-4DB2-531D73FA5AA1}"/>
              </a:ext>
            </a:extLst>
          </p:cNvPr>
          <p:cNvPicPr>
            <a:picLocks noChangeAspect="1"/>
          </p:cNvPicPr>
          <p:nvPr/>
        </p:nvPicPr>
        <p:blipFill>
          <a:blip r:embed="rId3"/>
          <a:stretch>
            <a:fillRect/>
          </a:stretch>
        </p:blipFill>
        <p:spPr>
          <a:xfrm>
            <a:off x="2616780" y="829998"/>
            <a:ext cx="6492051" cy="519800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135792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F152E-62A1-99AE-551D-52C2E8A342F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5B016D-BDA5-C36A-032F-76A04FFA4288}"/>
              </a:ext>
            </a:extLst>
          </p:cNvPr>
          <p:cNvSpPr>
            <a:spLocks noGrp="1"/>
          </p:cNvSpPr>
          <p:nvPr>
            <p:ph type="title"/>
          </p:nvPr>
        </p:nvSpPr>
        <p:spPr>
          <a:xfrm>
            <a:off x="538207" y="146466"/>
            <a:ext cx="10834234" cy="612775"/>
          </a:xfrm>
        </p:spPr>
        <p:txBody>
          <a:bodyPr>
            <a:normAutofit/>
          </a:bodyPr>
          <a:lstStyle/>
          <a:p>
            <a:r>
              <a:rPr lang="en-US" dirty="0">
                <a:solidFill>
                  <a:schemeClr val="accent1"/>
                </a:solidFill>
              </a:rPr>
              <a:t>Demo: Files Tab — Monitored Files Table</a:t>
            </a:r>
          </a:p>
        </p:txBody>
      </p:sp>
      <p:pic>
        <p:nvPicPr>
          <p:cNvPr id="5" name="Picture 4">
            <a:extLst>
              <a:ext uri="{FF2B5EF4-FFF2-40B4-BE49-F238E27FC236}">
                <a16:creationId xmlns:a16="http://schemas.microsoft.com/office/drawing/2014/main" id="{311D25F9-DC5D-73F2-16C7-64C189668029}"/>
              </a:ext>
            </a:extLst>
          </p:cNvPr>
          <p:cNvPicPr>
            <a:picLocks noChangeAspect="1"/>
          </p:cNvPicPr>
          <p:nvPr/>
        </p:nvPicPr>
        <p:blipFill>
          <a:blip r:embed="rId3"/>
          <a:stretch>
            <a:fillRect/>
          </a:stretch>
        </p:blipFill>
        <p:spPr>
          <a:xfrm>
            <a:off x="1391061" y="759241"/>
            <a:ext cx="6412041" cy="5097098"/>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477781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7369-5E7F-427A-5BF2-58DE836776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A418957-9955-693B-5AC8-892A16B9CC19}"/>
              </a:ext>
            </a:extLst>
          </p:cNvPr>
          <p:cNvSpPr>
            <a:spLocks noGrp="1"/>
          </p:cNvSpPr>
          <p:nvPr>
            <p:ph type="title"/>
          </p:nvPr>
        </p:nvSpPr>
        <p:spPr>
          <a:xfrm>
            <a:off x="538207" y="146466"/>
            <a:ext cx="10834234" cy="612775"/>
          </a:xfrm>
        </p:spPr>
        <p:txBody>
          <a:bodyPr>
            <a:normAutofit/>
          </a:bodyPr>
          <a:lstStyle/>
          <a:p>
            <a:r>
              <a:rPr lang="en-US" dirty="0">
                <a:solidFill>
                  <a:schemeClr val="accent1"/>
                </a:solidFill>
              </a:rPr>
              <a:t>Demo: Files Tab — Hash Comparison Detail</a:t>
            </a:r>
          </a:p>
        </p:txBody>
      </p:sp>
      <p:pic>
        <p:nvPicPr>
          <p:cNvPr id="3" name="Picture 2">
            <a:extLst>
              <a:ext uri="{FF2B5EF4-FFF2-40B4-BE49-F238E27FC236}">
                <a16:creationId xmlns:a16="http://schemas.microsoft.com/office/drawing/2014/main" id="{B1A1AA0F-46EB-E24A-CA1E-EE9171B01C25}"/>
              </a:ext>
            </a:extLst>
          </p:cNvPr>
          <p:cNvPicPr>
            <a:picLocks noChangeAspect="1"/>
          </p:cNvPicPr>
          <p:nvPr/>
        </p:nvPicPr>
        <p:blipFill>
          <a:blip r:embed="rId3"/>
          <a:stretch>
            <a:fillRect/>
          </a:stretch>
        </p:blipFill>
        <p:spPr>
          <a:xfrm>
            <a:off x="1749273" y="779207"/>
            <a:ext cx="7305504" cy="529958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608866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D7BB4-49DB-AE97-5E19-6E672D1E8D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E553408-F5A9-6CA5-6232-77B86A341A2F}"/>
              </a:ext>
            </a:extLst>
          </p:cNvPr>
          <p:cNvSpPr>
            <a:spLocks noGrp="1"/>
          </p:cNvSpPr>
          <p:nvPr>
            <p:ph type="title"/>
          </p:nvPr>
        </p:nvSpPr>
        <p:spPr>
          <a:xfrm>
            <a:off x="538207" y="146466"/>
            <a:ext cx="10834234" cy="612775"/>
          </a:xfrm>
        </p:spPr>
        <p:txBody>
          <a:bodyPr>
            <a:normAutofit/>
          </a:bodyPr>
          <a:lstStyle/>
          <a:p>
            <a:pPr>
              <a:defRPr sz="2800" b="1">
                <a:solidFill>
                  <a:srgbClr val="007ACC"/>
                </a:solidFill>
                <a:latin typeface="Segoe UI"/>
              </a:defRPr>
            </a:pPr>
            <a:r>
              <a:rPr lang="en-IN" dirty="0"/>
              <a:t>Demo: Custom Scan — File Browser Popup</a:t>
            </a:r>
          </a:p>
        </p:txBody>
      </p:sp>
      <p:pic>
        <p:nvPicPr>
          <p:cNvPr id="3" name="Picture 2">
            <a:extLst>
              <a:ext uri="{FF2B5EF4-FFF2-40B4-BE49-F238E27FC236}">
                <a16:creationId xmlns:a16="http://schemas.microsoft.com/office/drawing/2014/main" id="{54358CE0-EB2B-933C-B4D8-F8783C2C4A9D}"/>
              </a:ext>
            </a:extLst>
          </p:cNvPr>
          <p:cNvPicPr>
            <a:picLocks noChangeAspect="1"/>
          </p:cNvPicPr>
          <p:nvPr/>
        </p:nvPicPr>
        <p:blipFill>
          <a:blip r:embed="rId3"/>
          <a:stretch>
            <a:fillRect/>
          </a:stretch>
        </p:blipFill>
        <p:spPr>
          <a:xfrm>
            <a:off x="2588937" y="948812"/>
            <a:ext cx="6351007" cy="494203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811692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1234B-8908-CC63-DD11-A2C9D52219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AFDA4DC-44F4-EB26-A171-09884D214EFF}"/>
              </a:ext>
            </a:extLst>
          </p:cNvPr>
          <p:cNvSpPr>
            <a:spLocks noGrp="1"/>
          </p:cNvSpPr>
          <p:nvPr>
            <p:ph type="title"/>
          </p:nvPr>
        </p:nvSpPr>
        <p:spPr>
          <a:xfrm>
            <a:off x="538207" y="146466"/>
            <a:ext cx="10834234" cy="612775"/>
          </a:xfrm>
        </p:spPr>
        <p:txBody>
          <a:bodyPr>
            <a:normAutofit/>
          </a:bodyPr>
          <a:lstStyle/>
          <a:p>
            <a:r>
              <a:rPr lang="en-US" dirty="0">
                <a:solidFill>
                  <a:schemeClr val="accent1"/>
                </a:solidFill>
              </a:rPr>
              <a:t>Demo: Alerts Tab — Security Alert Feed</a:t>
            </a:r>
          </a:p>
        </p:txBody>
      </p:sp>
      <p:pic>
        <p:nvPicPr>
          <p:cNvPr id="9" name="Picture 8">
            <a:extLst>
              <a:ext uri="{FF2B5EF4-FFF2-40B4-BE49-F238E27FC236}">
                <a16:creationId xmlns:a16="http://schemas.microsoft.com/office/drawing/2014/main" id="{2221FEF9-0566-5786-17CF-20BD9E32FB88}"/>
              </a:ext>
            </a:extLst>
          </p:cNvPr>
          <p:cNvPicPr>
            <a:picLocks noChangeAspect="1"/>
          </p:cNvPicPr>
          <p:nvPr/>
        </p:nvPicPr>
        <p:blipFill>
          <a:blip r:embed="rId3"/>
          <a:stretch>
            <a:fillRect/>
          </a:stretch>
        </p:blipFill>
        <p:spPr>
          <a:xfrm>
            <a:off x="1348122" y="1248493"/>
            <a:ext cx="8458262" cy="411483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302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309604" y="234388"/>
            <a:ext cx="5107239" cy="612775"/>
          </a:xfrm>
        </p:spPr>
        <p:txBody>
          <a:bodyPr>
            <a:normAutofit fontScale="90000"/>
          </a:bodyPr>
          <a:lstStyle/>
          <a:p>
            <a:r>
              <a:rPr lang="en-IN" dirty="0">
                <a:solidFill>
                  <a:schemeClr val="accent1"/>
                </a:solidFill>
              </a:rPr>
              <a:t>Recommendations: Preventive</a:t>
            </a: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a:xfrm>
            <a:off x="221681" y="1378482"/>
            <a:ext cx="5757088" cy="4398066"/>
          </a:xfrm>
        </p:spPr>
        <p:txBody>
          <a:bodyPr/>
          <a:lstStyle/>
          <a:p>
            <a:pPr marL="0" indent="0">
              <a:spcAft>
                <a:spcPts val="600"/>
              </a:spcAft>
              <a:buNone/>
              <a:defRPr sz="1600">
                <a:solidFill>
                  <a:srgbClr val="1A1A2E"/>
                </a:solidFill>
                <a:latin typeface="Segoe UI"/>
              </a:defRPr>
            </a:pPr>
            <a:r>
              <a:rPr lang="en-IN" dirty="0"/>
              <a:t>▸  🔒  Use </a:t>
            </a:r>
            <a:r>
              <a:rPr lang="en-IN" dirty="0" err="1"/>
              <a:t>SELinux</a:t>
            </a:r>
            <a:r>
              <a:rPr lang="en-IN" dirty="0"/>
              <a:t>/</a:t>
            </a:r>
            <a:r>
              <a:rPr lang="en-IN" dirty="0" err="1"/>
              <a:t>AppArmor</a:t>
            </a:r>
            <a:r>
              <a:rPr lang="en-IN" dirty="0"/>
              <a:t> for mandatory access controls</a:t>
            </a:r>
          </a:p>
          <a:p>
            <a:pPr marL="0" indent="0">
              <a:spcAft>
                <a:spcPts val="600"/>
              </a:spcAft>
              <a:buNone/>
              <a:defRPr sz="1600">
                <a:solidFill>
                  <a:srgbClr val="1A1A2E"/>
                </a:solidFill>
                <a:latin typeface="Segoe UI"/>
              </a:defRPr>
            </a:pPr>
            <a:endParaRPr lang="en-IN" dirty="0"/>
          </a:p>
          <a:p>
            <a:pPr marL="0" indent="0">
              <a:spcAft>
                <a:spcPts val="600"/>
              </a:spcAft>
              <a:buNone/>
              <a:defRPr sz="1600">
                <a:solidFill>
                  <a:srgbClr val="1A1A2E"/>
                </a:solidFill>
                <a:latin typeface="Segoe UI"/>
              </a:defRPr>
            </a:pPr>
            <a:r>
              <a:rPr lang="en-IN" dirty="0"/>
              <a:t>▸  ⚡  Enable real-time monitoring with </a:t>
            </a:r>
            <a:r>
              <a:rPr lang="en-IN" dirty="0" err="1"/>
              <a:t>inotify</a:t>
            </a:r>
            <a:r>
              <a:rPr lang="en-IN" dirty="0"/>
              <a:t> / </a:t>
            </a:r>
            <a:r>
              <a:rPr lang="en-IN" dirty="0" err="1"/>
              <a:t>auditd</a:t>
            </a:r>
            <a:endParaRPr lang="en-IN" dirty="0"/>
          </a:p>
          <a:p>
            <a:pPr marL="0" indent="0">
              <a:spcAft>
                <a:spcPts val="600"/>
              </a:spcAft>
              <a:buNone/>
              <a:defRPr sz="1600">
                <a:solidFill>
                  <a:srgbClr val="1A1A2E"/>
                </a:solidFill>
                <a:latin typeface="Segoe UI"/>
              </a:defRPr>
            </a:pPr>
            <a:endParaRPr lang="en-IN" dirty="0"/>
          </a:p>
          <a:p>
            <a:pPr marL="0" indent="0">
              <a:spcAft>
                <a:spcPts val="600"/>
              </a:spcAft>
              <a:buNone/>
              <a:defRPr sz="1600">
                <a:solidFill>
                  <a:srgbClr val="1A1A2E"/>
                </a:solidFill>
                <a:latin typeface="Segoe UI"/>
              </a:defRPr>
            </a:pPr>
            <a:r>
              <a:rPr lang="en-IN" dirty="0"/>
              <a:t>▸  🏗️  Deploy read-only file systems for production</a:t>
            </a:r>
          </a:p>
          <a:p>
            <a:pPr marL="0" indent="0">
              <a:spcAft>
                <a:spcPts val="600"/>
              </a:spcAft>
              <a:buNone/>
              <a:defRPr sz="1600">
                <a:solidFill>
                  <a:srgbClr val="1A1A2E"/>
                </a:solidFill>
                <a:latin typeface="Segoe UI"/>
              </a:defRPr>
            </a:pPr>
            <a:endParaRPr lang="en-IN" dirty="0"/>
          </a:p>
          <a:p>
            <a:pPr marL="0" indent="0">
              <a:spcAft>
                <a:spcPts val="600"/>
              </a:spcAft>
              <a:buNone/>
              <a:defRPr sz="1600">
                <a:solidFill>
                  <a:srgbClr val="1A1A2E"/>
                </a:solidFill>
                <a:latin typeface="Segoe UI"/>
              </a:defRPr>
            </a:pPr>
            <a:r>
              <a:rPr lang="en-IN" dirty="0"/>
              <a:t>▸  💾  Store baselines on air-gapped storage</a:t>
            </a:r>
          </a:p>
          <a:p>
            <a:pPr marL="0" indent="0">
              <a:spcAft>
                <a:spcPts val="600"/>
              </a:spcAft>
              <a:buNone/>
              <a:defRPr sz="1600">
                <a:solidFill>
                  <a:srgbClr val="1A1A2E"/>
                </a:solidFill>
                <a:latin typeface="Segoe UI"/>
              </a:defRPr>
            </a:pPr>
            <a:endParaRPr lang="en-IN" dirty="0"/>
          </a:p>
          <a:p>
            <a:pPr marL="0" indent="0">
              <a:spcAft>
                <a:spcPts val="600"/>
              </a:spcAft>
              <a:buNone/>
              <a:defRPr sz="1600">
                <a:solidFill>
                  <a:srgbClr val="1A1A2E"/>
                </a:solidFill>
                <a:latin typeface="Segoe UI"/>
              </a:defRPr>
            </a:pPr>
            <a:r>
              <a:rPr lang="en-IN" dirty="0"/>
              <a:t>▸  🔐  Use SHA-256 exclusively — MD5/SHA-1 are broken</a:t>
            </a:r>
          </a:p>
          <a:p>
            <a:endParaRPr lang="en-IN" dirty="0"/>
          </a:p>
        </p:txBody>
      </p:sp>
    </p:spTree>
    <p:extLst>
      <p:ext uri="{BB962C8B-B14F-4D97-AF65-F5344CB8AC3E}">
        <p14:creationId xmlns:p14="http://schemas.microsoft.com/office/powerpoint/2010/main" val="1344420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09FAB-4192-352E-8191-AA8D0A42080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8846AD-5BB1-B76C-CB80-781FA6F950F4}"/>
              </a:ext>
            </a:extLst>
          </p:cNvPr>
          <p:cNvSpPr>
            <a:spLocks noGrp="1"/>
          </p:cNvSpPr>
          <p:nvPr>
            <p:ph type="title"/>
          </p:nvPr>
        </p:nvSpPr>
        <p:spPr>
          <a:xfrm>
            <a:off x="309604" y="234388"/>
            <a:ext cx="5107239" cy="612775"/>
          </a:xfrm>
        </p:spPr>
        <p:txBody>
          <a:bodyPr>
            <a:normAutofit fontScale="90000"/>
          </a:bodyPr>
          <a:lstStyle/>
          <a:p>
            <a:r>
              <a:rPr lang="en-IN" dirty="0">
                <a:solidFill>
                  <a:schemeClr val="accent1"/>
                </a:solidFill>
              </a:rPr>
              <a:t>Recommendations: Detective</a:t>
            </a:r>
          </a:p>
        </p:txBody>
      </p:sp>
      <p:sp>
        <p:nvSpPr>
          <p:cNvPr id="5" name="Content Placeholder 4">
            <a:extLst>
              <a:ext uri="{FF2B5EF4-FFF2-40B4-BE49-F238E27FC236}">
                <a16:creationId xmlns:a16="http://schemas.microsoft.com/office/drawing/2014/main" id="{C6917FCD-95BA-29BC-D79C-070B1D671BF8}"/>
              </a:ext>
            </a:extLst>
          </p:cNvPr>
          <p:cNvSpPr>
            <a:spLocks noGrp="1"/>
          </p:cNvSpPr>
          <p:nvPr>
            <p:ph idx="1"/>
          </p:nvPr>
        </p:nvSpPr>
        <p:spPr>
          <a:xfrm>
            <a:off x="221680" y="1378482"/>
            <a:ext cx="5985689" cy="4398066"/>
          </a:xfrm>
        </p:spPr>
        <p:txBody>
          <a:bodyPr/>
          <a:lstStyle/>
          <a:p>
            <a:pPr marL="0" indent="0">
              <a:spcAft>
                <a:spcPts val="600"/>
              </a:spcAft>
              <a:buNone/>
              <a:defRPr sz="1600">
                <a:solidFill>
                  <a:srgbClr val="1A1A2E"/>
                </a:solidFill>
                <a:latin typeface="Segoe UI"/>
              </a:defRPr>
            </a:pPr>
            <a:r>
              <a:rPr lang="en-IN" dirty="0"/>
              <a:t>▸  ⏰  Schedule automated scans every 4-6 hours</a:t>
            </a:r>
          </a:p>
          <a:p>
            <a:pPr marL="0" indent="0">
              <a:spcAft>
                <a:spcPts val="600"/>
              </a:spcAft>
              <a:buNone/>
              <a:defRPr sz="1600">
                <a:solidFill>
                  <a:srgbClr val="1A1A2E"/>
                </a:solidFill>
                <a:latin typeface="Segoe UI"/>
              </a:defRPr>
            </a:pPr>
            <a:endParaRPr lang="en-IN" dirty="0"/>
          </a:p>
          <a:p>
            <a:pPr marL="0" indent="0">
              <a:spcAft>
                <a:spcPts val="600"/>
              </a:spcAft>
              <a:buNone/>
              <a:defRPr sz="1600">
                <a:solidFill>
                  <a:srgbClr val="1A1A2E"/>
                </a:solidFill>
                <a:latin typeface="Segoe UI"/>
              </a:defRPr>
            </a:pPr>
            <a:r>
              <a:rPr lang="en-IN" dirty="0"/>
              <a:t>▸  📊  Integrate FIM alerts with SIEM (Splunk, Elastic)</a:t>
            </a:r>
          </a:p>
          <a:p>
            <a:pPr marL="0" indent="0">
              <a:spcAft>
                <a:spcPts val="600"/>
              </a:spcAft>
              <a:buNone/>
              <a:defRPr sz="1600">
                <a:solidFill>
                  <a:srgbClr val="1A1A2E"/>
                </a:solidFill>
                <a:latin typeface="Segoe UI"/>
              </a:defRPr>
            </a:pPr>
            <a:endParaRPr lang="en-IN" dirty="0"/>
          </a:p>
          <a:p>
            <a:pPr marL="0" indent="0">
              <a:spcAft>
                <a:spcPts val="600"/>
              </a:spcAft>
              <a:buNone/>
              <a:defRPr sz="1600">
                <a:solidFill>
                  <a:srgbClr val="1A1A2E"/>
                </a:solidFill>
                <a:latin typeface="Segoe UI"/>
              </a:defRPr>
            </a:pPr>
            <a:r>
              <a:rPr lang="en-IN" dirty="0"/>
              <a:t>▸  🔍  Monitor permission changes (644 → 777 = compromise)</a:t>
            </a:r>
          </a:p>
          <a:p>
            <a:pPr marL="0" indent="0">
              <a:spcAft>
                <a:spcPts val="600"/>
              </a:spcAft>
              <a:buNone/>
              <a:defRPr sz="1600">
                <a:solidFill>
                  <a:srgbClr val="1A1A2E"/>
                </a:solidFill>
                <a:latin typeface="Segoe UI"/>
              </a:defRPr>
            </a:pPr>
            <a:endParaRPr lang="en-IN" dirty="0"/>
          </a:p>
          <a:p>
            <a:pPr marL="0" indent="0">
              <a:spcAft>
                <a:spcPts val="600"/>
              </a:spcAft>
              <a:buNone/>
              <a:defRPr sz="1600">
                <a:solidFill>
                  <a:srgbClr val="1A1A2E"/>
                </a:solidFill>
                <a:latin typeface="Segoe UI"/>
              </a:defRPr>
            </a:pPr>
            <a:r>
              <a:rPr lang="en-IN" dirty="0"/>
              <a:t>▸  🔗  Cross-reference FIM alerts with auth logs</a:t>
            </a:r>
          </a:p>
          <a:p>
            <a:endParaRPr lang="en-IN" dirty="0"/>
          </a:p>
        </p:txBody>
      </p:sp>
    </p:spTree>
    <p:extLst>
      <p:ext uri="{BB962C8B-B14F-4D97-AF65-F5344CB8AC3E}">
        <p14:creationId xmlns:p14="http://schemas.microsoft.com/office/powerpoint/2010/main" val="2587509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0911B-E4DB-079B-2837-0676B48A4C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EAE2149-93C3-7F25-9EED-161685732A62}"/>
              </a:ext>
            </a:extLst>
          </p:cNvPr>
          <p:cNvSpPr>
            <a:spLocks noGrp="1"/>
          </p:cNvSpPr>
          <p:nvPr>
            <p:ph type="title"/>
          </p:nvPr>
        </p:nvSpPr>
        <p:spPr>
          <a:xfrm>
            <a:off x="538207" y="146466"/>
            <a:ext cx="10834234" cy="612775"/>
          </a:xfrm>
        </p:spPr>
        <p:txBody>
          <a:bodyPr>
            <a:normAutofit/>
          </a:bodyPr>
          <a:lstStyle/>
          <a:p>
            <a:r>
              <a:rPr lang="en-IN" dirty="0">
                <a:solidFill>
                  <a:schemeClr val="accent1"/>
                </a:solidFill>
              </a:rPr>
              <a:t>Recommendations: Response</a:t>
            </a:r>
            <a:endParaRPr lang="en-US" dirty="0">
              <a:solidFill>
                <a:schemeClr val="accent1"/>
              </a:solidFill>
            </a:endParaRPr>
          </a:p>
        </p:txBody>
      </p:sp>
      <p:sp>
        <p:nvSpPr>
          <p:cNvPr id="2" name="Rectangle 1">
            <a:extLst>
              <a:ext uri="{FF2B5EF4-FFF2-40B4-BE49-F238E27FC236}">
                <a16:creationId xmlns:a16="http://schemas.microsoft.com/office/drawing/2014/main" id="{014C840E-0416-22AC-20EA-CC26E9AF1D72}"/>
              </a:ext>
            </a:extLst>
          </p:cNvPr>
          <p:cNvSpPr/>
          <p:nvPr/>
        </p:nvSpPr>
        <p:spPr>
          <a:xfrm>
            <a:off x="538207" y="648872"/>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9D5902C3-669B-D85A-3B2B-80886B4D329A}"/>
              </a:ext>
            </a:extLst>
          </p:cNvPr>
          <p:cNvSpPr txBox="1"/>
          <p:nvPr/>
        </p:nvSpPr>
        <p:spPr>
          <a:xfrm>
            <a:off x="538207" y="1169566"/>
            <a:ext cx="6097464" cy="2277547"/>
          </a:xfrm>
          <a:prstGeom prst="rect">
            <a:avLst/>
          </a:prstGeom>
          <a:noFill/>
        </p:spPr>
        <p:txBody>
          <a:bodyPr wrap="square">
            <a:spAutoFit/>
          </a:bodyPr>
          <a:lstStyle/>
          <a:p>
            <a:pPr>
              <a:spcAft>
                <a:spcPts val="600"/>
              </a:spcAft>
              <a:defRPr sz="1600">
                <a:solidFill>
                  <a:srgbClr val="1A1A2E"/>
                </a:solidFill>
                <a:latin typeface="Segoe UI"/>
              </a:defRPr>
            </a:pPr>
            <a:r>
              <a:rPr lang="en-IN" dirty="0"/>
              <a:t>▸  1.  Isolate affected systems immediately</a:t>
            </a:r>
          </a:p>
          <a:p>
            <a:pPr>
              <a:spcAft>
                <a:spcPts val="600"/>
              </a:spcAft>
              <a:defRPr sz="1600">
                <a:solidFill>
                  <a:srgbClr val="1A1A2E"/>
                </a:solidFill>
                <a:latin typeface="Segoe UI"/>
              </a:defRPr>
            </a:pPr>
            <a:r>
              <a:rPr lang="en-IN" dirty="0"/>
              <a:t>▸  2.  Restore from trusted backups</a:t>
            </a:r>
          </a:p>
          <a:p>
            <a:pPr>
              <a:spcAft>
                <a:spcPts val="600"/>
              </a:spcAft>
              <a:defRPr sz="1600">
                <a:solidFill>
                  <a:srgbClr val="1A1A2E"/>
                </a:solidFill>
                <a:latin typeface="Segoe UI"/>
              </a:defRPr>
            </a:pPr>
            <a:r>
              <a:rPr lang="en-IN" dirty="0"/>
              <a:t>▸  3.  Conduct forensic log analysis</a:t>
            </a:r>
          </a:p>
          <a:p>
            <a:pPr>
              <a:spcAft>
                <a:spcPts val="600"/>
              </a:spcAft>
              <a:defRPr sz="1600">
                <a:solidFill>
                  <a:srgbClr val="1A1A2E"/>
                </a:solidFill>
                <a:latin typeface="Segoe UI"/>
              </a:defRPr>
            </a:pPr>
            <a:r>
              <a:rPr lang="en-IN" dirty="0"/>
              <a:t>▸  4.  Block C2 communication via firewall</a:t>
            </a:r>
          </a:p>
          <a:p>
            <a:pPr>
              <a:spcAft>
                <a:spcPts val="600"/>
              </a:spcAft>
              <a:defRPr sz="1600">
                <a:solidFill>
                  <a:srgbClr val="1A1A2E"/>
                </a:solidFill>
                <a:latin typeface="Segoe UI"/>
              </a:defRPr>
            </a:pPr>
            <a:r>
              <a:rPr lang="en-IN" dirty="0"/>
              <a:t>▸  5.  Reset all exposed credentials</a:t>
            </a:r>
          </a:p>
          <a:p>
            <a:pPr>
              <a:spcAft>
                <a:spcPts val="600"/>
              </a:spcAft>
              <a:defRPr sz="1600">
                <a:solidFill>
                  <a:srgbClr val="1A1A2E"/>
                </a:solidFill>
                <a:latin typeface="Segoe UI"/>
              </a:defRPr>
            </a:pPr>
            <a:r>
              <a:rPr lang="en-IN" dirty="0"/>
              <a:t>▸  6.  Document incident timeline</a:t>
            </a:r>
          </a:p>
          <a:p>
            <a:pPr>
              <a:spcAft>
                <a:spcPts val="600"/>
              </a:spcAft>
              <a:defRPr sz="1600">
                <a:solidFill>
                  <a:srgbClr val="1A1A2E"/>
                </a:solidFill>
                <a:latin typeface="Segoe UI"/>
              </a:defRPr>
            </a:pPr>
            <a:r>
              <a:rPr lang="en-IN" dirty="0"/>
              <a:t>▸  7.  Update baseline after clean state</a:t>
            </a:r>
          </a:p>
        </p:txBody>
      </p:sp>
    </p:spTree>
    <p:extLst>
      <p:ext uri="{BB962C8B-B14F-4D97-AF65-F5344CB8AC3E}">
        <p14:creationId xmlns:p14="http://schemas.microsoft.com/office/powerpoint/2010/main" val="10202583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AE08A-0FFF-A5A8-21AE-557786762BB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72355E-E217-A394-6434-5DF237DE624B}"/>
              </a:ext>
            </a:extLst>
          </p:cNvPr>
          <p:cNvSpPr>
            <a:spLocks noGrp="1"/>
          </p:cNvSpPr>
          <p:nvPr>
            <p:ph type="title"/>
          </p:nvPr>
        </p:nvSpPr>
        <p:spPr>
          <a:xfrm>
            <a:off x="309604" y="234388"/>
            <a:ext cx="5107239" cy="612775"/>
          </a:xfrm>
        </p:spPr>
        <p:txBody>
          <a:bodyPr>
            <a:normAutofit/>
          </a:bodyPr>
          <a:lstStyle/>
          <a:p>
            <a:r>
              <a:rPr lang="en-IN" dirty="0">
                <a:solidFill>
                  <a:schemeClr val="accent1"/>
                </a:solidFill>
              </a:rPr>
              <a:t>Proof of Concept</a:t>
            </a:r>
          </a:p>
        </p:txBody>
      </p:sp>
      <p:sp>
        <p:nvSpPr>
          <p:cNvPr id="21" name="TextBox 20">
            <a:extLst>
              <a:ext uri="{FF2B5EF4-FFF2-40B4-BE49-F238E27FC236}">
                <a16:creationId xmlns:a16="http://schemas.microsoft.com/office/drawing/2014/main" id="{28CC592A-B6A6-DA76-B3E2-7B6155057EF4}"/>
              </a:ext>
            </a:extLst>
          </p:cNvPr>
          <p:cNvSpPr txBox="1"/>
          <p:nvPr/>
        </p:nvSpPr>
        <p:spPr>
          <a:xfrm>
            <a:off x="263767" y="968913"/>
            <a:ext cx="457200" cy="457200"/>
          </a:xfrm>
          <a:prstGeom prst="rect">
            <a:avLst/>
          </a:prstGeom>
          <a:noFill/>
        </p:spPr>
        <p:txBody>
          <a:bodyPr wrap="square">
            <a:spAutoFit/>
          </a:bodyPr>
          <a:lstStyle/>
          <a:p>
            <a:pPr algn="l">
              <a:defRPr sz="2000" b="1">
                <a:solidFill>
                  <a:srgbClr val="007ACC"/>
                </a:solidFill>
                <a:latin typeface="Segoe UI"/>
              </a:defRPr>
            </a:pPr>
            <a:r>
              <a:t>1</a:t>
            </a:r>
          </a:p>
        </p:txBody>
      </p:sp>
      <p:sp>
        <p:nvSpPr>
          <p:cNvPr id="22" name="TextBox 21">
            <a:extLst>
              <a:ext uri="{FF2B5EF4-FFF2-40B4-BE49-F238E27FC236}">
                <a16:creationId xmlns:a16="http://schemas.microsoft.com/office/drawing/2014/main" id="{6AAC131D-A5C4-98E7-A00B-35803ED08D10}"/>
              </a:ext>
            </a:extLst>
          </p:cNvPr>
          <p:cNvSpPr txBox="1"/>
          <p:nvPr/>
        </p:nvSpPr>
        <p:spPr>
          <a:xfrm>
            <a:off x="903847" y="968913"/>
            <a:ext cx="3657600" cy="365760"/>
          </a:xfrm>
          <a:prstGeom prst="rect">
            <a:avLst/>
          </a:prstGeom>
          <a:noFill/>
        </p:spPr>
        <p:txBody>
          <a:bodyPr wrap="square">
            <a:spAutoFit/>
          </a:bodyPr>
          <a:lstStyle/>
          <a:p>
            <a:pPr algn="l">
              <a:defRPr sz="1600" b="1">
                <a:solidFill>
                  <a:srgbClr val="007ACC"/>
                </a:solidFill>
                <a:latin typeface="Segoe UI"/>
              </a:defRPr>
            </a:pPr>
            <a:r>
              <a:t>Initialize Baseline</a:t>
            </a:r>
          </a:p>
        </p:txBody>
      </p:sp>
      <p:sp>
        <p:nvSpPr>
          <p:cNvPr id="23" name="TextBox 22">
            <a:extLst>
              <a:ext uri="{FF2B5EF4-FFF2-40B4-BE49-F238E27FC236}">
                <a16:creationId xmlns:a16="http://schemas.microsoft.com/office/drawing/2014/main" id="{414EDDDB-B0C3-2C6D-66EC-A5E2A58AECFB}"/>
              </a:ext>
            </a:extLst>
          </p:cNvPr>
          <p:cNvSpPr txBox="1"/>
          <p:nvPr/>
        </p:nvSpPr>
        <p:spPr>
          <a:xfrm>
            <a:off x="903847" y="1334673"/>
            <a:ext cx="9144000" cy="365760"/>
          </a:xfrm>
          <a:prstGeom prst="rect">
            <a:avLst/>
          </a:prstGeom>
          <a:noFill/>
        </p:spPr>
        <p:txBody>
          <a:bodyPr wrap="square">
            <a:spAutoFit/>
          </a:bodyPr>
          <a:lstStyle/>
          <a:p>
            <a:pPr algn="l">
              <a:defRPr sz="1300" b="0">
                <a:solidFill>
                  <a:srgbClr val="555E70"/>
                </a:solidFill>
                <a:latin typeface="Segoe UI"/>
              </a:defRPr>
            </a:pPr>
            <a:r>
              <a:t>Python hashes 20 system files → stores baseline.json</a:t>
            </a:r>
          </a:p>
        </p:txBody>
      </p:sp>
      <p:sp>
        <p:nvSpPr>
          <p:cNvPr id="24" name="TextBox 23">
            <a:extLst>
              <a:ext uri="{FF2B5EF4-FFF2-40B4-BE49-F238E27FC236}">
                <a16:creationId xmlns:a16="http://schemas.microsoft.com/office/drawing/2014/main" id="{AF70658F-76D6-0278-97B8-21A91E7AF68C}"/>
              </a:ext>
            </a:extLst>
          </p:cNvPr>
          <p:cNvSpPr txBox="1"/>
          <p:nvPr/>
        </p:nvSpPr>
        <p:spPr>
          <a:xfrm>
            <a:off x="263767" y="1791873"/>
            <a:ext cx="457200" cy="457200"/>
          </a:xfrm>
          <a:prstGeom prst="rect">
            <a:avLst/>
          </a:prstGeom>
          <a:noFill/>
        </p:spPr>
        <p:txBody>
          <a:bodyPr wrap="square">
            <a:spAutoFit/>
          </a:bodyPr>
          <a:lstStyle/>
          <a:p>
            <a:pPr algn="l">
              <a:defRPr sz="2000" b="1">
                <a:solidFill>
                  <a:srgbClr val="008A4E"/>
                </a:solidFill>
                <a:latin typeface="Segoe UI"/>
              </a:defRPr>
            </a:pPr>
            <a:r>
              <a:t>2</a:t>
            </a:r>
          </a:p>
        </p:txBody>
      </p:sp>
      <p:sp>
        <p:nvSpPr>
          <p:cNvPr id="25" name="TextBox 24">
            <a:extLst>
              <a:ext uri="{FF2B5EF4-FFF2-40B4-BE49-F238E27FC236}">
                <a16:creationId xmlns:a16="http://schemas.microsoft.com/office/drawing/2014/main" id="{4D6C4F44-1519-75C6-056B-142BC4211F02}"/>
              </a:ext>
            </a:extLst>
          </p:cNvPr>
          <p:cNvSpPr txBox="1"/>
          <p:nvPr/>
        </p:nvSpPr>
        <p:spPr>
          <a:xfrm>
            <a:off x="903847" y="1791873"/>
            <a:ext cx="3657600" cy="365760"/>
          </a:xfrm>
          <a:prstGeom prst="rect">
            <a:avLst/>
          </a:prstGeom>
          <a:noFill/>
        </p:spPr>
        <p:txBody>
          <a:bodyPr wrap="square">
            <a:spAutoFit/>
          </a:bodyPr>
          <a:lstStyle/>
          <a:p>
            <a:pPr algn="l">
              <a:defRPr sz="1600" b="1">
                <a:solidFill>
                  <a:srgbClr val="007ACC"/>
                </a:solidFill>
                <a:latin typeface="Segoe UI"/>
              </a:defRPr>
            </a:pPr>
            <a:r>
              <a:t>Run Integrity Scan</a:t>
            </a:r>
          </a:p>
        </p:txBody>
      </p:sp>
      <p:sp>
        <p:nvSpPr>
          <p:cNvPr id="26" name="TextBox 25">
            <a:extLst>
              <a:ext uri="{FF2B5EF4-FFF2-40B4-BE49-F238E27FC236}">
                <a16:creationId xmlns:a16="http://schemas.microsoft.com/office/drawing/2014/main" id="{1D872C3D-4299-613B-9352-23802E788735}"/>
              </a:ext>
            </a:extLst>
          </p:cNvPr>
          <p:cNvSpPr txBox="1"/>
          <p:nvPr/>
        </p:nvSpPr>
        <p:spPr>
          <a:xfrm>
            <a:off x="903847" y="2157633"/>
            <a:ext cx="9144000" cy="365760"/>
          </a:xfrm>
          <a:prstGeom prst="rect">
            <a:avLst/>
          </a:prstGeom>
          <a:noFill/>
        </p:spPr>
        <p:txBody>
          <a:bodyPr wrap="square">
            <a:spAutoFit/>
          </a:bodyPr>
          <a:lstStyle/>
          <a:p>
            <a:pPr algn="l">
              <a:defRPr sz="1300" b="0">
                <a:solidFill>
                  <a:srgbClr val="555E70"/>
                </a:solidFill>
                <a:latin typeface="Segoe UI"/>
              </a:defRPr>
            </a:pPr>
            <a:r>
              <a:t>Recalculates hashes → compares with baseline</a:t>
            </a:r>
          </a:p>
        </p:txBody>
      </p:sp>
      <p:sp>
        <p:nvSpPr>
          <p:cNvPr id="27" name="TextBox 26">
            <a:extLst>
              <a:ext uri="{FF2B5EF4-FFF2-40B4-BE49-F238E27FC236}">
                <a16:creationId xmlns:a16="http://schemas.microsoft.com/office/drawing/2014/main" id="{47154C7D-8DC1-93D4-E9C8-06C9795B53C0}"/>
              </a:ext>
            </a:extLst>
          </p:cNvPr>
          <p:cNvSpPr txBox="1"/>
          <p:nvPr/>
        </p:nvSpPr>
        <p:spPr>
          <a:xfrm>
            <a:off x="263767" y="2614833"/>
            <a:ext cx="457200" cy="457200"/>
          </a:xfrm>
          <a:prstGeom prst="rect">
            <a:avLst/>
          </a:prstGeom>
          <a:noFill/>
        </p:spPr>
        <p:txBody>
          <a:bodyPr wrap="square">
            <a:spAutoFit/>
          </a:bodyPr>
          <a:lstStyle/>
          <a:p>
            <a:pPr algn="l">
              <a:defRPr sz="2000" b="1">
                <a:solidFill>
                  <a:srgbClr val="CC2244"/>
                </a:solidFill>
                <a:latin typeface="Segoe UI"/>
              </a:defRPr>
            </a:pPr>
            <a:r>
              <a:t>3</a:t>
            </a:r>
          </a:p>
        </p:txBody>
      </p:sp>
      <p:sp>
        <p:nvSpPr>
          <p:cNvPr id="28" name="TextBox 27">
            <a:extLst>
              <a:ext uri="{FF2B5EF4-FFF2-40B4-BE49-F238E27FC236}">
                <a16:creationId xmlns:a16="http://schemas.microsoft.com/office/drawing/2014/main" id="{45BFD0FB-1A71-5065-66E1-9F9E5DD36006}"/>
              </a:ext>
            </a:extLst>
          </p:cNvPr>
          <p:cNvSpPr txBox="1"/>
          <p:nvPr/>
        </p:nvSpPr>
        <p:spPr>
          <a:xfrm>
            <a:off x="903847" y="2614833"/>
            <a:ext cx="3657600" cy="365760"/>
          </a:xfrm>
          <a:prstGeom prst="rect">
            <a:avLst/>
          </a:prstGeom>
          <a:noFill/>
        </p:spPr>
        <p:txBody>
          <a:bodyPr wrap="square">
            <a:spAutoFit/>
          </a:bodyPr>
          <a:lstStyle/>
          <a:p>
            <a:pPr algn="l">
              <a:defRPr sz="1600" b="1">
                <a:solidFill>
                  <a:srgbClr val="007ACC"/>
                </a:solidFill>
                <a:latin typeface="Segoe UI"/>
              </a:defRPr>
            </a:pPr>
            <a:r>
              <a:t>Detect Violations</a:t>
            </a:r>
          </a:p>
        </p:txBody>
      </p:sp>
      <p:sp>
        <p:nvSpPr>
          <p:cNvPr id="29" name="TextBox 28">
            <a:extLst>
              <a:ext uri="{FF2B5EF4-FFF2-40B4-BE49-F238E27FC236}">
                <a16:creationId xmlns:a16="http://schemas.microsoft.com/office/drawing/2014/main" id="{A3FA6A2F-56BA-5306-7F75-B1AE6E4EDB93}"/>
              </a:ext>
            </a:extLst>
          </p:cNvPr>
          <p:cNvSpPr txBox="1"/>
          <p:nvPr/>
        </p:nvSpPr>
        <p:spPr>
          <a:xfrm>
            <a:off x="903847" y="2980593"/>
            <a:ext cx="9144000" cy="365760"/>
          </a:xfrm>
          <a:prstGeom prst="rect">
            <a:avLst/>
          </a:prstGeom>
          <a:noFill/>
        </p:spPr>
        <p:txBody>
          <a:bodyPr wrap="square">
            <a:spAutoFit/>
          </a:bodyPr>
          <a:lstStyle/>
          <a:p>
            <a:pPr algn="l">
              <a:defRPr sz="1300" b="0">
                <a:solidFill>
                  <a:srgbClr val="555E70"/>
                </a:solidFill>
                <a:latin typeface="Segoe UI"/>
              </a:defRPr>
            </a:pPr>
            <a:r>
              <a:t>Hash mismatch → DANGER alert with risk level</a:t>
            </a:r>
          </a:p>
        </p:txBody>
      </p:sp>
      <p:sp>
        <p:nvSpPr>
          <p:cNvPr id="30" name="TextBox 29">
            <a:extLst>
              <a:ext uri="{FF2B5EF4-FFF2-40B4-BE49-F238E27FC236}">
                <a16:creationId xmlns:a16="http://schemas.microsoft.com/office/drawing/2014/main" id="{3D3C1DCE-E69E-67F6-C9EE-3398CFD3EC1A}"/>
              </a:ext>
            </a:extLst>
          </p:cNvPr>
          <p:cNvSpPr txBox="1"/>
          <p:nvPr/>
        </p:nvSpPr>
        <p:spPr>
          <a:xfrm>
            <a:off x="263767" y="3437793"/>
            <a:ext cx="457200" cy="457200"/>
          </a:xfrm>
          <a:prstGeom prst="rect">
            <a:avLst/>
          </a:prstGeom>
          <a:noFill/>
        </p:spPr>
        <p:txBody>
          <a:bodyPr wrap="square">
            <a:spAutoFit/>
          </a:bodyPr>
          <a:lstStyle/>
          <a:p>
            <a:pPr algn="l">
              <a:defRPr sz="2000" b="1">
                <a:solidFill>
                  <a:srgbClr val="6B4FBB"/>
                </a:solidFill>
                <a:latin typeface="Segoe UI"/>
              </a:defRPr>
            </a:pPr>
            <a:r>
              <a:t>4</a:t>
            </a:r>
          </a:p>
        </p:txBody>
      </p:sp>
      <p:sp>
        <p:nvSpPr>
          <p:cNvPr id="31" name="TextBox 30">
            <a:extLst>
              <a:ext uri="{FF2B5EF4-FFF2-40B4-BE49-F238E27FC236}">
                <a16:creationId xmlns:a16="http://schemas.microsoft.com/office/drawing/2014/main" id="{86E0B13D-E004-76DC-123C-BB52E08D7BD8}"/>
              </a:ext>
            </a:extLst>
          </p:cNvPr>
          <p:cNvSpPr txBox="1"/>
          <p:nvPr/>
        </p:nvSpPr>
        <p:spPr>
          <a:xfrm>
            <a:off x="903847" y="3437793"/>
            <a:ext cx="3657600" cy="365760"/>
          </a:xfrm>
          <a:prstGeom prst="rect">
            <a:avLst/>
          </a:prstGeom>
          <a:noFill/>
        </p:spPr>
        <p:txBody>
          <a:bodyPr wrap="square">
            <a:spAutoFit/>
          </a:bodyPr>
          <a:lstStyle/>
          <a:p>
            <a:pPr algn="l">
              <a:defRPr sz="1600" b="1">
                <a:solidFill>
                  <a:srgbClr val="007ACC"/>
                </a:solidFill>
                <a:latin typeface="Segoe UI"/>
              </a:defRPr>
            </a:pPr>
            <a:r>
              <a:t>Inspect Details</a:t>
            </a:r>
          </a:p>
        </p:txBody>
      </p:sp>
      <p:sp>
        <p:nvSpPr>
          <p:cNvPr id="32" name="TextBox 31">
            <a:extLst>
              <a:ext uri="{FF2B5EF4-FFF2-40B4-BE49-F238E27FC236}">
                <a16:creationId xmlns:a16="http://schemas.microsoft.com/office/drawing/2014/main" id="{FD43609D-E366-43F0-5481-20F9FE6C3A25}"/>
              </a:ext>
            </a:extLst>
          </p:cNvPr>
          <p:cNvSpPr txBox="1"/>
          <p:nvPr/>
        </p:nvSpPr>
        <p:spPr>
          <a:xfrm>
            <a:off x="903847" y="3803553"/>
            <a:ext cx="9144000" cy="365760"/>
          </a:xfrm>
          <a:prstGeom prst="rect">
            <a:avLst/>
          </a:prstGeom>
          <a:noFill/>
        </p:spPr>
        <p:txBody>
          <a:bodyPr wrap="square">
            <a:spAutoFit/>
          </a:bodyPr>
          <a:lstStyle/>
          <a:p>
            <a:pPr algn="l">
              <a:defRPr sz="1300" b="0">
                <a:solidFill>
                  <a:srgbClr val="555E70"/>
                </a:solidFill>
                <a:latin typeface="Segoe UI"/>
              </a:defRPr>
            </a:pPr>
            <a:r>
              <a:t>Click file → side-by-side SHA-256 comparison</a:t>
            </a:r>
          </a:p>
        </p:txBody>
      </p:sp>
      <p:sp>
        <p:nvSpPr>
          <p:cNvPr id="33" name="TextBox 32">
            <a:extLst>
              <a:ext uri="{FF2B5EF4-FFF2-40B4-BE49-F238E27FC236}">
                <a16:creationId xmlns:a16="http://schemas.microsoft.com/office/drawing/2014/main" id="{1358E27B-24C4-FE90-957F-561975562730}"/>
              </a:ext>
            </a:extLst>
          </p:cNvPr>
          <p:cNvSpPr txBox="1"/>
          <p:nvPr/>
        </p:nvSpPr>
        <p:spPr>
          <a:xfrm>
            <a:off x="263767" y="4260753"/>
            <a:ext cx="457200" cy="457200"/>
          </a:xfrm>
          <a:prstGeom prst="rect">
            <a:avLst/>
          </a:prstGeom>
          <a:noFill/>
        </p:spPr>
        <p:txBody>
          <a:bodyPr wrap="square">
            <a:spAutoFit/>
          </a:bodyPr>
          <a:lstStyle/>
          <a:p>
            <a:pPr algn="l">
              <a:defRPr sz="2000" b="1">
                <a:solidFill>
                  <a:srgbClr val="BB7700"/>
                </a:solidFill>
                <a:latin typeface="Segoe UI"/>
              </a:defRPr>
            </a:pPr>
            <a:r>
              <a:t>5</a:t>
            </a:r>
          </a:p>
        </p:txBody>
      </p:sp>
      <p:sp>
        <p:nvSpPr>
          <p:cNvPr id="34" name="TextBox 33">
            <a:extLst>
              <a:ext uri="{FF2B5EF4-FFF2-40B4-BE49-F238E27FC236}">
                <a16:creationId xmlns:a16="http://schemas.microsoft.com/office/drawing/2014/main" id="{CE7B18E5-F2F6-AD1E-6766-8A1A30BD709B}"/>
              </a:ext>
            </a:extLst>
          </p:cNvPr>
          <p:cNvSpPr txBox="1"/>
          <p:nvPr/>
        </p:nvSpPr>
        <p:spPr>
          <a:xfrm>
            <a:off x="903847" y="4260753"/>
            <a:ext cx="3657600" cy="365760"/>
          </a:xfrm>
          <a:prstGeom prst="rect">
            <a:avLst/>
          </a:prstGeom>
          <a:noFill/>
        </p:spPr>
        <p:txBody>
          <a:bodyPr wrap="square">
            <a:spAutoFit/>
          </a:bodyPr>
          <a:lstStyle/>
          <a:p>
            <a:pPr algn="l">
              <a:defRPr sz="1600" b="1">
                <a:solidFill>
                  <a:srgbClr val="007ACC"/>
                </a:solidFill>
                <a:latin typeface="Segoe UI"/>
              </a:defRPr>
            </a:pPr>
            <a:r>
              <a:t>Auto-Scan</a:t>
            </a:r>
          </a:p>
        </p:txBody>
      </p:sp>
      <p:sp>
        <p:nvSpPr>
          <p:cNvPr id="35" name="TextBox 34">
            <a:extLst>
              <a:ext uri="{FF2B5EF4-FFF2-40B4-BE49-F238E27FC236}">
                <a16:creationId xmlns:a16="http://schemas.microsoft.com/office/drawing/2014/main" id="{8467D89D-89B0-8E73-C087-E1950DB86EB6}"/>
              </a:ext>
            </a:extLst>
          </p:cNvPr>
          <p:cNvSpPr txBox="1"/>
          <p:nvPr/>
        </p:nvSpPr>
        <p:spPr>
          <a:xfrm>
            <a:off x="903847" y="4626513"/>
            <a:ext cx="9144000" cy="365760"/>
          </a:xfrm>
          <a:prstGeom prst="rect">
            <a:avLst/>
          </a:prstGeom>
          <a:noFill/>
        </p:spPr>
        <p:txBody>
          <a:bodyPr wrap="square">
            <a:spAutoFit/>
          </a:bodyPr>
          <a:lstStyle/>
          <a:p>
            <a:pPr algn="l">
              <a:defRPr sz="1300" b="0">
                <a:solidFill>
                  <a:srgbClr val="555E70"/>
                </a:solidFill>
                <a:latin typeface="Segoe UI"/>
              </a:defRPr>
            </a:pPr>
            <a:r>
              <a:t>Enable scheduler → system auto-scans at intervals</a:t>
            </a:r>
          </a:p>
        </p:txBody>
      </p:sp>
    </p:spTree>
    <p:extLst>
      <p:ext uri="{BB962C8B-B14F-4D97-AF65-F5344CB8AC3E}">
        <p14:creationId xmlns:p14="http://schemas.microsoft.com/office/powerpoint/2010/main" val="3622516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3B6B6-2A6F-3838-E104-DBB62D0F58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873AB9-41E2-39A8-1128-9A14B30B6E52}"/>
              </a:ext>
            </a:extLst>
          </p:cNvPr>
          <p:cNvSpPr>
            <a:spLocks noGrp="1"/>
          </p:cNvSpPr>
          <p:nvPr>
            <p:ph type="title"/>
          </p:nvPr>
        </p:nvSpPr>
        <p:spPr>
          <a:xfrm>
            <a:off x="309604" y="234388"/>
            <a:ext cx="5107239" cy="612775"/>
          </a:xfrm>
        </p:spPr>
        <p:txBody>
          <a:bodyPr>
            <a:normAutofit/>
          </a:bodyPr>
          <a:lstStyle/>
          <a:p>
            <a:r>
              <a:rPr lang="en-IN" dirty="0">
                <a:solidFill>
                  <a:schemeClr val="accent1"/>
                </a:solidFill>
              </a:rPr>
              <a:t>Tools &amp; Technologies</a:t>
            </a:r>
          </a:p>
        </p:txBody>
      </p:sp>
      <p:sp>
        <p:nvSpPr>
          <p:cNvPr id="2" name="TextBox 1">
            <a:extLst>
              <a:ext uri="{FF2B5EF4-FFF2-40B4-BE49-F238E27FC236}">
                <a16:creationId xmlns:a16="http://schemas.microsoft.com/office/drawing/2014/main" id="{CE2EB930-BDD6-6370-D3C1-2F7AB3174159}"/>
              </a:ext>
            </a:extLst>
          </p:cNvPr>
          <p:cNvSpPr txBox="1"/>
          <p:nvPr/>
        </p:nvSpPr>
        <p:spPr>
          <a:xfrm>
            <a:off x="35171" y="1135973"/>
            <a:ext cx="3657600" cy="365760"/>
          </a:xfrm>
          <a:prstGeom prst="rect">
            <a:avLst/>
          </a:prstGeom>
          <a:noFill/>
        </p:spPr>
        <p:txBody>
          <a:bodyPr wrap="square">
            <a:spAutoFit/>
          </a:bodyPr>
          <a:lstStyle/>
          <a:p>
            <a:pPr algn="l">
              <a:defRPr sz="1400" b="1">
                <a:solidFill>
                  <a:srgbClr val="007ACC"/>
                </a:solidFill>
                <a:latin typeface="Segoe UI"/>
              </a:defRPr>
            </a:pPr>
            <a:r>
              <a:t>Python 3.10+</a:t>
            </a:r>
          </a:p>
        </p:txBody>
      </p:sp>
      <p:sp>
        <p:nvSpPr>
          <p:cNvPr id="3" name="TextBox 2">
            <a:extLst>
              <a:ext uri="{FF2B5EF4-FFF2-40B4-BE49-F238E27FC236}">
                <a16:creationId xmlns:a16="http://schemas.microsoft.com/office/drawing/2014/main" id="{B6009BAF-BF91-0BDB-5CDE-B002D777F4B8}"/>
              </a:ext>
            </a:extLst>
          </p:cNvPr>
          <p:cNvSpPr txBox="1"/>
          <p:nvPr/>
        </p:nvSpPr>
        <p:spPr>
          <a:xfrm>
            <a:off x="3692771" y="1135973"/>
            <a:ext cx="6400800" cy="365760"/>
          </a:xfrm>
          <a:prstGeom prst="rect">
            <a:avLst/>
          </a:prstGeom>
          <a:noFill/>
        </p:spPr>
        <p:txBody>
          <a:bodyPr wrap="square">
            <a:spAutoFit/>
          </a:bodyPr>
          <a:lstStyle/>
          <a:p>
            <a:pPr algn="l">
              <a:defRPr sz="1400" b="0">
                <a:solidFill>
                  <a:srgbClr val="555E70"/>
                </a:solidFill>
                <a:latin typeface="Segoe UI"/>
              </a:defRPr>
            </a:pPr>
            <a:r>
              <a:t>Backend server + file hashing</a:t>
            </a:r>
          </a:p>
        </p:txBody>
      </p:sp>
      <p:sp>
        <p:nvSpPr>
          <p:cNvPr id="5" name="Rectangle 4">
            <a:extLst>
              <a:ext uri="{FF2B5EF4-FFF2-40B4-BE49-F238E27FC236}">
                <a16:creationId xmlns:a16="http://schemas.microsoft.com/office/drawing/2014/main" id="{24EE1CD4-B05C-32D0-509D-D03B59560A61}"/>
              </a:ext>
            </a:extLst>
          </p:cNvPr>
          <p:cNvSpPr/>
          <p:nvPr/>
        </p:nvSpPr>
        <p:spPr>
          <a:xfrm flipV="1">
            <a:off x="61549" y="1406769"/>
            <a:ext cx="5943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E9BD6A1-4489-88E2-71E7-946778EA3274}"/>
              </a:ext>
            </a:extLst>
          </p:cNvPr>
          <p:cNvSpPr txBox="1"/>
          <p:nvPr/>
        </p:nvSpPr>
        <p:spPr>
          <a:xfrm>
            <a:off x="35171" y="1611461"/>
            <a:ext cx="3657600" cy="365760"/>
          </a:xfrm>
          <a:prstGeom prst="rect">
            <a:avLst/>
          </a:prstGeom>
          <a:noFill/>
        </p:spPr>
        <p:txBody>
          <a:bodyPr wrap="square">
            <a:spAutoFit/>
          </a:bodyPr>
          <a:lstStyle/>
          <a:p>
            <a:pPr algn="l">
              <a:defRPr sz="1400" b="1">
                <a:solidFill>
                  <a:srgbClr val="007ACC"/>
                </a:solidFill>
                <a:latin typeface="Segoe UI"/>
              </a:defRPr>
            </a:pPr>
            <a:r>
              <a:t>hashlib</a:t>
            </a:r>
          </a:p>
        </p:txBody>
      </p:sp>
      <p:sp>
        <p:nvSpPr>
          <p:cNvPr id="7" name="TextBox 6">
            <a:extLst>
              <a:ext uri="{FF2B5EF4-FFF2-40B4-BE49-F238E27FC236}">
                <a16:creationId xmlns:a16="http://schemas.microsoft.com/office/drawing/2014/main" id="{53CCFA03-16DA-E84A-92EA-568102E6C5C5}"/>
              </a:ext>
            </a:extLst>
          </p:cNvPr>
          <p:cNvSpPr txBox="1"/>
          <p:nvPr/>
        </p:nvSpPr>
        <p:spPr>
          <a:xfrm>
            <a:off x="3692771" y="1611461"/>
            <a:ext cx="6400800" cy="365760"/>
          </a:xfrm>
          <a:prstGeom prst="rect">
            <a:avLst/>
          </a:prstGeom>
          <a:noFill/>
        </p:spPr>
        <p:txBody>
          <a:bodyPr wrap="square">
            <a:spAutoFit/>
          </a:bodyPr>
          <a:lstStyle/>
          <a:p>
            <a:pPr algn="l">
              <a:defRPr sz="1400" b="0">
                <a:solidFill>
                  <a:srgbClr val="555E70"/>
                </a:solidFill>
                <a:latin typeface="Segoe UI"/>
              </a:defRPr>
            </a:pPr>
            <a:r>
              <a:t>SHA-256 / MD5 computation</a:t>
            </a:r>
          </a:p>
        </p:txBody>
      </p:sp>
      <p:sp>
        <p:nvSpPr>
          <p:cNvPr id="8" name="Rectangle 7">
            <a:extLst>
              <a:ext uri="{FF2B5EF4-FFF2-40B4-BE49-F238E27FC236}">
                <a16:creationId xmlns:a16="http://schemas.microsoft.com/office/drawing/2014/main" id="{26BED5EB-A180-AC2A-26B5-A94149598554}"/>
              </a:ext>
            </a:extLst>
          </p:cNvPr>
          <p:cNvSpPr/>
          <p:nvPr/>
        </p:nvSpPr>
        <p:spPr>
          <a:xfrm flipV="1">
            <a:off x="35171" y="1977221"/>
            <a:ext cx="5943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B717A252-2ABF-9115-C3D6-9F2D4B70E2D0}"/>
              </a:ext>
            </a:extLst>
          </p:cNvPr>
          <p:cNvSpPr txBox="1"/>
          <p:nvPr/>
        </p:nvSpPr>
        <p:spPr>
          <a:xfrm>
            <a:off x="35171" y="2086949"/>
            <a:ext cx="3657600" cy="365760"/>
          </a:xfrm>
          <a:prstGeom prst="rect">
            <a:avLst/>
          </a:prstGeom>
          <a:noFill/>
        </p:spPr>
        <p:txBody>
          <a:bodyPr wrap="square">
            <a:spAutoFit/>
          </a:bodyPr>
          <a:lstStyle/>
          <a:p>
            <a:pPr algn="l">
              <a:defRPr sz="1400" b="1">
                <a:solidFill>
                  <a:srgbClr val="007ACC"/>
                </a:solidFill>
                <a:latin typeface="Segoe UI"/>
              </a:defRPr>
            </a:pPr>
            <a:r>
              <a:t>Flask</a:t>
            </a:r>
          </a:p>
        </p:txBody>
      </p:sp>
      <p:sp>
        <p:nvSpPr>
          <p:cNvPr id="10" name="TextBox 9">
            <a:extLst>
              <a:ext uri="{FF2B5EF4-FFF2-40B4-BE49-F238E27FC236}">
                <a16:creationId xmlns:a16="http://schemas.microsoft.com/office/drawing/2014/main" id="{CFFAEBCD-92F1-8B7B-8648-55FC232671A1}"/>
              </a:ext>
            </a:extLst>
          </p:cNvPr>
          <p:cNvSpPr txBox="1"/>
          <p:nvPr/>
        </p:nvSpPr>
        <p:spPr>
          <a:xfrm>
            <a:off x="3692771" y="2086949"/>
            <a:ext cx="6400800" cy="365760"/>
          </a:xfrm>
          <a:prstGeom prst="rect">
            <a:avLst/>
          </a:prstGeom>
          <a:noFill/>
        </p:spPr>
        <p:txBody>
          <a:bodyPr wrap="square">
            <a:spAutoFit/>
          </a:bodyPr>
          <a:lstStyle/>
          <a:p>
            <a:pPr algn="l">
              <a:defRPr sz="1400" b="0">
                <a:solidFill>
                  <a:srgbClr val="555E70"/>
                </a:solidFill>
                <a:latin typeface="Segoe UI"/>
              </a:defRPr>
            </a:pPr>
            <a:r>
              <a:t>REST API framework</a:t>
            </a:r>
          </a:p>
        </p:txBody>
      </p:sp>
      <p:sp>
        <p:nvSpPr>
          <p:cNvPr id="11" name="Rectangle 10">
            <a:extLst>
              <a:ext uri="{FF2B5EF4-FFF2-40B4-BE49-F238E27FC236}">
                <a16:creationId xmlns:a16="http://schemas.microsoft.com/office/drawing/2014/main" id="{793BD94D-E89D-7725-299A-B111AD519980}"/>
              </a:ext>
            </a:extLst>
          </p:cNvPr>
          <p:cNvSpPr/>
          <p:nvPr/>
        </p:nvSpPr>
        <p:spPr>
          <a:xfrm>
            <a:off x="35171" y="2498429"/>
            <a:ext cx="5943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B950A298-C7BE-5129-0F79-2B1292F68A8D}"/>
              </a:ext>
            </a:extLst>
          </p:cNvPr>
          <p:cNvSpPr txBox="1"/>
          <p:nvPr/>
        </p:nvSpPr>
        <p:spPr>
          <a:xfrm>
            <a:off x="35171" y="2562437"/>
            <a:ext cx="3657600" cy="365760"/>
          </a:xfrm>
          <a:prstGeom prst="rect">
            <a:avLst/>
          </a:prstGeom>
          <a:noFill/>
        </p:spPr>
        <p:txBody>
          <a:bodyPr wrap="square">
            <a:spAutoFit/>
          </a:bodyPr>
          <a:lstStyle/>
          <a:p>
            <a:pPr algn="l">
              <a:defRPr sz="1400" b="1">
                <a:solidFill>
                  <a:srgbClr val="007ACC"/>
                </a:solidFill>
                <a:latin typeface="Segoe UI"/>
              </a:defRPr>
            </a:pPr>
            <a:r>
              <a:t>Flask-CORS</a:t>
            </a:r>
          </a:p>
        </p:txBody>
      </p:sp>
      <p:sp>
        <p:nvSpPr>
          <p:cNvPr id="13" name="TextBox 12">
            <a:extLst>
              <a:ext uri="{FF2B5EF4-FFF2-40B4-BE49-F238E27FC236}">
                <a16:creationId xmlns:a16="http://schemas.microsoft.com/office/drawing/2014/main" id="{0088CE48-4B18-E740-60AC-6F4ABAC66968}"/>
              </a:ext>
            </a:extLst>
          </p:cNvPr>
          <p:cNvSpPr txBox="1"/>
          <p:nvPr/>
        </p:nvSpPr>
        <p:spPr>
          <a:xfrm>
            <a:off x="3692771" y="2562437"/>
            <a:ext cx="6400800" cy="365760"/>
          </a:xfrm>
          <a:prstGeom prst="rect">
            <a:avLst/>
          </a:prstGeom>
          <a:noFill/>
        </p:spPr>
        <p:txBody>
          <a:bodyPr wrap="square">
            <a:spAutoFit/>
          </a:bodyPr>
          <a:lstStyle/>
          <a:p>
            <a:pPr algn="l">
              <a:defRPr sz="1400" b="0">
                <a:solidFill>
                  <a:srgbClr val="555E70"/>
                </a:solidFill>
                <a:latin typeface="Segoe UI"/>
              </a:defRPr>
            </a:pPr>
            <a:r>
              <a:t>Cross-origin access</a:t>
            </a:r>
          </a:p>
        </p:txBody>
      </p:sp>
      <p:sp>
        <p:nvSpPr>
          <p:cNvPr id="14" name="Rectangle 13">
            <a:extLst>
              <a:ext uri="{FF2B5EF4-FFF2-40B4-BE49-F238E27FC236}">
                <a16:creationId xmlns:a16="http://schemas.microsoft.com/office/drawing/2014/main" id="{CB073867-2DDC-5F05-09FF-4E680AD40862}"/>
              </a:ext>
            </a:extLst>
          </p:cNvPr>
          <p:cNvSpPr/>
          <p:nvPr/>
        </p:nvSpPr>
        <p:spPr>
          <a:xfrm>
            <a:off x="35171" y="2973917"/>
            <a:ext cx="5943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77C792DE-7DF7-8992-8E68-004503E51FC2}"/>
              </a:ext>
            </a:extLst>
          </p:cNvPr>
          <p:cNvSpPr txBox="1"/>
          <p:nvPr/>
        </p:nvSpPr>
        <p:spPr>
          <a:xfrm>
            <a:off x="35171" y="3037925"/>
            <a:ext cx="3657600" cy="365760"/>
          </a:xfrm>
          <a:prstGeom prst="rect">
            <a:avLst/>
          </a:prstGeom>
          <a:noFill/>
        </p:spPr>
        <p:txBody>
          <a:bodyPr wrap="square">
            <a:spAutoFit/>
          </a:bodyPr>
          <a:lstStyle/>
          <a:p>
            <a:pPr algn="l">
              <a:defRPr sz="1400" b="1">
                <a:solidFill>
                  <a:srgbClr val="007ACC"/>
                </a:solidFill>
                <a:latin typeface="Segoe UI"/>
              </a:defRPr>
            </a:pPr>
            <a:r>
              <a:t>React.js (Vite)</a:t>
            </a:r>
          </a:p>
        </p:txBody>
      </p:sp>
      <p:sp>
        <p:nvSpPr>
          <p:cNvPr id="16" name="TextBox 15">
            <a:extLst>
              <a:ext uri="{FF2B5EF4-FFF2-40B4-BE49-F238E27FC236}">
                <a16:creationId xmlns:a16="http://schemas.microsoft.com/office/drawing/2014/main" id="{830D5D83-2D8E-D197-F8F5-709272158FA4}"/>
              </a:ext>
            </a:extLst>
          </p:cNvPr>
          <p:cNvSpPr txBox="1"/>
          <p:nvPr/>
        </p:nvSpPr>
        <p:spPr>
          <a:xfrm>
            <a:off x="3692771" y="3037925"/>
            <a:ext cx="6400800" cy="365760"/>
          </a:xfrm>
          <a:prstGeom prst="rect">
            <a:avLst/>
          </a:prstGeom>
          <a:noFill/>
        </p:spPr>
        <p:txBody>
          <a:bodyPr wrap="square">
            <a:spAutoFit/>
          </a:bodyPr>
          <a:lstStyle/>
          <a:p>
            <a:pPr algn="l">
              <a:defRPr sz="1400" b="0">
                <a:solidFill>
                  <a:srgbClr val="555E70"/>
                </a:solidFill>
                <a:latin typeface="Segoe UI"/>
              </a:defRPr>
            </a:pPr>
            <a:r>
              <a:t>Frontend dashboard</a:t>
            </a:r>
          </a:p>
        </p:txBody>
      </p:sp>
      <p:sp>
        <p:nvSpPr>
          <p:cNvPr id="17" name="Rectangle 16">
            <a:extLst>
              <a:ext uri="{FF2B5EF4-FFF2-40B4-BE49-F238E27FC236}">
                <a16:creationId xmlns:a16="http://schemas.microsoft.com/office/drawing/2014/main" id="{2AA6B5B1-D076-7BBC-E7B1-CB0053A45088}"/>
              </a:ext>
            </a:extLst>
          </p:cNvPr>
          <p:cNvSpPr/>
          <p:nvPr/>
        </p:nvSpPr>
        <p:spPr>
          <a:xfrm>
            <a:off x="35171" y="3449405"/>
            <a:ext cx="5943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D34B7A67-481D-1258-9474-D91C59C0DAD8}"/>
              </a:ext>
            </a:extLst>
          </p:cNvPr>
          <p:cNvSpPr txBox="1"/>
          <p:nvPr/>
        </p:nvSpPr>
        <p:spPr>
          <a:xfrm>
            <a:off x="35171" y="3513413"/>
            <a:ext cx="3657600" cy="365760"/>
          </a:xfrm>
          <a:prstGeom prst="rect">
            <a:avLst/>
          </a:prstGeom>
          <a:noFill/>
        </p:spPr>
        <p:txBody>
          <a:bodyPr wrap="square">
            <a:spAutoFit/>
          </a:bodyPr>
          <a:lstStyle/>
          <a:p>
            <a:pPr algn="l">
              <a:defRPr sz="1400" b="1">
                <a:solidFill>
                  <a:srgbClr val="007ACC"/>
                </a:solidFill>
                <a:latin typeface="Segoe UI"/>
              </a:defRPr>
            </a:pPr>
            <a:r>
              <a:t>JavaScript ES6+</a:t>
            </a:r>
          </a:p>
        </p:txBody>
      </p:sp>
      <p:sp>
        <p:nvSpPr>
          <p:cNvPr id="19" name="TextBox 18">
            <a:extLst>
              <a:ext uri="{FF2B5EF4-FFF2-40B4-BE49-F238E27FC236}">
                <a16:creationId xmlns:a16="http://schemas.microsoft.com/office/drawing/2014/main" id="{5F83FFEF-3DA6-A6F5-B7B6-A6C353A8713E}"/>
              </a:ext>
            </a:extLst>
          </p:cNvPr>
          <p:cNvSpPr txBox="1"/>
          <p:nvPr/>
        </p:nvSpPr>
        <p:spPr>
          <a:xfrm>
            <a:off x="3692771" y="3513413"/>
            <a:ext cx="6400800" cy="365760"/>
          </a:xfrm>
          <a:prstGeom prst="rect">
            <a:avLst/>
          </a:prstGeom>
          <a:noFill/>
        </p:spPr>
        <p:txBody>
          <a:bodyPr wrap="square">
            <a:spAutoFit/>
          </a:bodyPr>
          <a:lstStyle/>
          <a:p>
            <a:pPr algn="l">
              <a:defRPr sz="1400" b="0">
                <a:solidFill>
                  <a:srgbClr val="555E70"/>
                </a:solidFill>
                <a:latin typeface="Segoe UI"/>
              </a:defRPr>
            </a:pPr>
            <a:r>
              <a:t>Frontend logic</a:t>
            </a:r>
          </a:p>
        </p:txBody>
      </p:sp>
      <p:sp>
        <p:nvSpPr>
          <p:cNvPr id="20" name="Rectangle 19">
            <a:extLst>
              <a:ext uri="{FF2B5EF4-FFF2-40B4-BE49-F238E27FC236}">
                <a16:creationId xmlns:a16="http://schemas.microsoft.com/office/drawing/2014/main" id="{1CC21F53-17EF-4C0C-8811-E442CB6B07A3}"/>
              </a:ext>
            </a:extLst>
          </p:cNvPr>
          <p:cNvSpPr/>
          <p:nvPr/>
        </p:nvSpPr>
        <p:spPr>
          <a:xfrm>
            <a:off x="35171" y="3924893"/>
            <a:ext cx="5943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86720A28-1D0B-39C7-8C7E-AD364EC964A5}"/>
              </a:ext>
            </a:extLst>
          </p:cNvPr>
          <p:cNvSpPr txBox="1"/>
          <p:nvPr/>
        </p:nvSpPr>
        <p:spPr>
          <a:xfrm>
            <a:off x="35171" y="3988901"/>
            <a:ext cx="3657600" cy="365760"/>
          </a:xfrm>
          <a:prstGeom prst="rect">
            <a:avLst/>
          </a:prstGeom>
          <a:noFill/>
        </p:spPr>
        <p:txBody>
          <a:bodyPr wrap="square">
            <a:spAutoFit/>
          </a:bodyPr>
          <a:lstStyle/>
          <a:p>
            <a:pPr algn="l">
              <a:defRPr sz="1400" b="1">
                <a:solidFill>
                  <a:srgbClr val="007ACC"/>
                </a:solidFill>
                <a:latin typeface="Segoe UI"/>
              </a:defRPr>
            </a:pPr>
            <a:r>
              <a:t>JSON</a:t>
            </a:r>
          </a:p>
        </p:txBody>
      </p:sp>
      <p:sp>
        <p:nvSpPr>
          <p:cNvPr id="37" name="TextBox 36">
            <a:extLst>
              <a:ext uri="{FF2B5EF4-FFF2-40B4-BE49-F238E27FC236}">
                <a16:creationId xmlns:a16="http://schemas.microsoft.com/office/drawing/2014/main" id="{9B7FE091-893C-5EF1-9614-A938916E3709}"/>
              </a:ext>
            </a:extLst>
          </p:cNvPr>
          <p:cNvSpPr txBox="1"/>
          <p:nvPr/>
        </p:nvSpPr>
        <p:spPr>
          <a:xfrm>
            <a:off x="3692771" y="3988901"/>
            <a:ext cx="6400800" cy="365760"/>
          </a:xfrm>
          <a:prstGeom prst="rect">
            <a:avLst/>
          </a:prstGeom>
          <a:noFill/>
        </p:spPr>
        <p:txBody>
          <a:bodyPr wrap="square">
            <a:spAutoFit/>
          </a:bodyPr>
          <a:lstStyle/>
          <a:p>
            <a:pPr algn="l">
              <a:defRPr sz="1400" b="0">
                <a:solidFill>
                  <a:srgbClr val="555E70"/>
                </a:solidFill>
                <a:latin typeface="Segoe UI"/>
              </a:defRPr>
            </a:pPr>
            <a:r>
              <a:t>Data persistence</a:t>
            </a:r>
          </a:p>
        </p:txBody>
      </p:sp>
      <p:sp>
        <p:nvSpPr>
          <p:cNvPr id="38" name="Rectangle 37">
            <a:extLst>
              <a:ext uri="{FF2B5EF4-FFF2-40B4-BE49-F238E27FC236}">
                <a16:creationId xmlns:a16="http://schemas.microsoft.com/office/drawing/2014/main" id="{454B87AA-8801-7FAC-9E09-F87880408E7A}"/>
              </a:ext>
            </a:extLst>
          </p:cNvPr>
          <p:cNvSpPr/>
          <p:nvPr/>
        </p:nvSpPr>
        <p:spPr>
          <a:xfrm>
            <a:off x="35171" y="4400381"/>
            <a:ext cx="5943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57FDADAF-48A3-5EA5-6A82-F940672BA2DC}"/>
              </a:ext>
            </a:extLst>
          </p:cNvPr>
          <p:cNvSpPr txBox="1"/>
          <p:nvPr/>
        </p:nvSpPr>
        <p:spPr>
          <a:xfrm>
            <a:off x="35171" y="4464389"/>
            <a:ext cx="3657600" cy="365760"/>
          </a:xfrm>
          <a:prstGeom prst="rect">
            <a:avLst/>
          </a:prstGeom>
          <a:noFill/>
        </p:spPr>
        <p:txBody>
          <a:bodyPr wrap="square">
            <a:spAutoFit/>
          </a:bodyPr>
          <a:lstStyle/>
          <a:p>
            <a:pPr algn="l">
              <a:defRPr sz="1400" b="1">
                <a:solidFill>
                  <a:srgbClr val="007ACC"/>
                </a:solidFill>
                <a:latin typeface="Segoe UI"/>
              </a:defRPr>
            </a:pPr>
            <a:r>
              <a:t>Inter + JetBrains Mono</a:t>
            </a:r>
          </a:p>
        </p:txBody>
      </p:sp>
      <p:sp>
        <p:nvSpPr>
          <p:cNvPr id="40" name="TextBox 39">
            <a:extLst>
              <a:ext uri="{FF2B5EF4-FFF2-40B4-BE49-F238E27FC236}">
                <a16:creationId xmlns:a16="http://schemas.microsoft.com/office/drawing/2014/main" id="{D3799477-1499-DF87-2184-30EC6C594FAE}"/>
              </a:ext>
            </a:extLst>
          </p:cNvPr>
          <p:cNvSpPr txBox="1"/>
          <p:nvPr/>
        </p:nvSpPr>
        <p:spPr>
          <a:xfrm>
            <a:off x="3692771" y="4464389"/>
            <a:ext cx="6400800" cy="365760"/>
          </a:xfrm>
          <a:prstGeom prst="rect">
            <a:avLst/>
          </a:prstGeom>
          <a:noFill/>
        </p:spPr>
        <p:txBody>
          <a:bodyPr wrap="square">
            <a:spAutoFit/>
          </a:bodyPr>
          <a:lstStyle/>
          <a:p>
            <a:pPr algn="l">
              <a:defRPr sz="1400" b="0">
                <a:solidFill>
                  <a:srgbClr val="555E70"/>
                </a:solidFill>
                <a:latin typeface="Segoe UI"/>
              </a:defRPr>
            </a:pPr>
            <a:r>
              <a:t>Typography</a:t>
            </a:r>
          </a:p>
        </p:txBody>
      </p:sp>
      <p:sp>
        <p:nvSpPr>
          <p:cNvPr id="41" name="Rectangle 40">
            <a:extLst>
              <a:ext uri="{FF2B5EF4-FFF2-40B4-BE49-F238E27FC236}">
                <a16:creationId xmlns:a16="http://schemas.microsoft.com/office/drawing/2014/main" id="{64A6340B-FA10-EEFC-E243-F6F4D244A3CA}"/>
              </a:ext>
            </a:extLst>
          </p:cNvPr>
          <p:cNvSpPr/>
          <p:nvPr/>
        </p:nvSpPr>
        <p:spPr>
          <a:xfrm>
            <a:off x="35171" y="4875869"/>
            <a:ext cx="5943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6EEC8790-C825-FEF8-BDC8-35F22D2D8815}"/>
              </a:ext>
            </a:extLst>
          </p:cNvPr>
          <p:cNvSpPr txBox="1"/>
          <p:nvPr/>
        </p:nvSpPr>
        <p:spPr>
          <a:xfrm>
            <a:off x="35171" y="4939877"/>
            <a:ext cx="3657600" cy="365760"/>
          </a:xfrm>
          <a:prstGeom prst="rect">
            <a:avLst/>
          </a:prstGeom>
          <a:noFill/>
        </p:spPr>
        <p:txBody>
          <a:bodyPr wrap="square">
            <a:spAutoFit/>
          </a:bodyPr>
          <a:lstStyle/>
          <a:p>
            <a:pPr algn="l">
              <a:defRPr sz="1400" b="1">
                <a:solidFill>
                  <a:srgbClr val="007ACC"/>
                </a:solidFill>
                <a:latin typeface="Segoe UI"/>
              </a:defRPr>
            </a:pPr>
            <a:r>
              <a:t>Git + GitHub</a:t>
            </a:r>
          </a:p>
        </p:txBody>
      </p:sp>
      <p:sp>
        <p:nvSpPr>
          <p:cNvPr id="43" name="TextBox 42">
            <a:extLst>
              <a:ext uri="{FF2B5EF4-FFF2-40B4-BE49-F238E27FC236}">
                <a16:creationId xmlns:a16="http://schemas.microsoft.com/office/drawing/2014/main" id="{6A595766-FEA6-8A1E-0D93-4D40B6C5C8AA}"/>
              </a:ext>
            </a:extLst>
          </p:cNvPr>
          <p:cNvSpPr txBox="1"/>
          <p:nvPr/>
        </p:nvSpPr>
        <p:spPr>
          <a:xfrm>
            <a:off x="3692771" y="4939877"/>
            <a:ext cx="6400800" cy="365760"/>
          </a:xfrm>
          <a:prstGeom prst="rect">
            <a:avLst/>
          </a:prstGeom>
          <a:noFill/>
        </p:spPr>
        <p:txBody>
          <a:bodyPr wrap="square">
            <a:spAutoFit/>
          </a:bodyPr>
          <a:lstStyle/>
          <a:p>
            <a:pPr algn="l">
              <a:defRPr sz="1400" b="0">
                <a:solidFill>
                  <a:srgbClr val="555E70"/>
                </a:solidFill>
                <a:latin typeface="Segoe UI"/>
              </a:defRPr>
            </a:pPr>
            <a:r>
              <a:t>Version control</a:t>
            </a:r>
          </a:p>
        </p:txBody>
      </p:sp>
      <p:sp>
        <p:nvSpPr>
          <p:cNvPr id="44" name="Rectangle 43">
            <a:extLst>
              <a:ext uri="{FF2B5EF4-FFF2-40B4-BE49-F238E27FC236}">
                <a16:creationId xmlns:a16="http://schemas.microsoft.com/office/drawing/2014/main" id="{4BCAB4A4-6CBC-A5AF-40F3-5F64DEED2DF8}"/>
              </a:ext>
            </a:extLst>
          </p:cNvPr>
          <p:cNvSpPr/>
          <p:nvPr/>
        </p:nvSpPr>
        <p:spPr>
          <a:xfrm>
            <a:off x="35171" y="5351357"/>
            <a:ext cx="594360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591CA7F5-0978-9DE7-8E0E-8B1161EC0C86}"/>
              </a:ext>
            </a:extLst>
          </p:cNvPr>
          <p:cNvSpPr txBox="1"/>
          <p:nvPr/>
        </p:nvSpPr>
        <p:spPr>
          <a:xfrm>
            <a:off x="35171" y="5415365"/>
            <a:ext cx="3657600" cy="365760"/>
          </a:xfrm>
          <a:prstGeom prst="rect">
            <a:avLst/>
          </a:prstGeom>
          <a:noFill/>
        </p:spPr>
        <p:txBody>
          <a:bodyPr wrap="square">
            <a:spAutoFit/>
          </a:bodyPr>
          <a:lstStyle/>
          <a:p>
            <a:pPr algn="l">
              <a:defRPr sz="1400" b="1">
                <a:solidFill>
                  <a:srgbClr val="007ACC"/>
                </a:solidFill>
                <a:latin typeface="Segoe UI"/>
              </a:defRPr>
            </a:pPr>
            <a:r>
              <a:t>VS Code</a:t>
            </a:r>
          </a:p>
        </p:txBody>
      </p:sp>
      <p:sp>
        <p:nvSpPr>
          <p:cNvPr id="46" name="TextBox 45">
            <a:extLst>
              <a:ext uri="{FF2B5EF4-FFF2-40B4-BE49-F238E27FC236}">
                <a16:creationId xmlns:a16="http://schemas.microsoft.com/office/drawing/2014/main" id="{1DCCD728-5266-061E-5A51-57E20D5493C3}"/>
              </a:ext>
            </a:extLst>
          </p:cNvPr>
          <p:cNvSpPr txBox="1"/>
          <p:nvPr/>
        </p:nvSpPr>
        <p:spPr>
          <a:xfrm>
            <a:off x="3692771" y="5415365"/>
            <a:ext cx="6400800" cy="365760"/>
          </a:xfrm>
          <a:prstGeom prst="rect">
            <a:avLst/>
          </a:prstGeom>
          <a:noFill/>
        </p:spPr>
        <p:txBody>
          <a:bodyPr wrap="square">
            <a:spAutoFit/>
          </a:bodyPr>
          <a:lstStyle/>
          <a:p>
            <a:pPr algn="l">
              <a:defRPr sz="1400" b="0">
                <a:solidFill>
                  <a:srgbClr val="555E70"/>
                </a:solidFill>
                <a:latin typeface="Segoe UI"/>
              </a:defRPr>
            </a:pPr>
            <a:r>
              <a:t>Code editor</a:t>
            </a:r>
          </a:p>
        </p:txBody>
      </p:sp>
    </p:spTree>
    <p:extLst>
      <p:ext uri="{BB962C8B-B14F-4D97-AF65-F5344CB8AC3E}">
        <p14:creationId xmlns:p14="http://schemas.microsoft.com/office/powerpoint/2010/main" val="1769561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0B483-39F6-AF3C-F7A3-398A17BF1A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D0B3B8-541B-BC10-6B00-DD8DAD079AAB}"/>
              </a:ext>
            </a:extLst>
          </p:cNvPr>
          <p:cNvSpPr>
            <a:spLocks noGrp="1"/>
          </p:cNvSpPr>
          <p:nvPr>
            <p:ph type="title"/>
          </p:nvPr>
        </p:nvSpPr>
        <p:spPr>
          <a:xfrm>
            <a:off x="538207" y="146466"/>
            <a:ext cx="10834234" cy="612775"/>
          </a:xfrm>
        </p:spPr>
        <p:txBody>
          <a:bodyPr>
            <a:normAutofit/>
          </a:bodyPr>
          <a:lstStyle/>
          <a:p>
            <a:r>
              <a:rPr lang="en-IN" dirty="0">
                <a:solidFill>
                  <a:schemeClr val="accent1"/>
                </a:solidFill>
              </a:rPr>
              <a:t>Challenges &amp; Learnings</a:t>
            </a:r>
            <a:endParaRPr lang="en-US" dirty="0">
              <a:solidFill>
                <a:schemeClr val="accent1"/>
              </a:solidFill>
            </a:endParaRPr>
          </a:p>
        </p:txBody>
      </p:sp>
      <p:sp>
        <p:nvSpPr>
          <p:cNvPr id="2" name="Rectangle 1">
            <a:extLst>
              <a:ext uri="{FF2B5EF4-FFF2-40B4-BE49-F238E27FC236}">
                <a16:creationId xmlns:a16="http://schemas.microsoft.com/office/drawing/2014/main" id="{929C3C1F-BD82-179F-4090-144113D11972}"/>
              </a:ext>
            </a:extLst>
          </p:cNvPr>
          <p:cNvSpPr/>
          <p:nvPr/>
        </p:nvSpPr>
        <p:spPr>
          <a:xfrm>
            <a:off x="538207" y="648872"/>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3">
            <a:extLst>
              <a:ext uri="{FF2B5EF4-FFF2-40B4-BE49-F238E27FC236}">
                <a16:creationId xmlns:a16="http://schemas.microsoft.com/office/drawing/2014/main" id="{243479D4-867B-7CB0-661E-6AA5C8829BF3}"/>
              </a:ext>
            </a:extLst>
          </p:cNvPr>
          <p:cNvSpPr/>
          <p:nvPr/>
        </p:nvSpPr>
        <p:spPr>
          <a:xfrm>
            <a:off x="731520" y="1188720"/>
            <a:ext cx="5029200" cy="4572000"/>
          </a:xfrm>
          <a:prstGeom prst="roundRect">
            <a:avLst/>
          </a:prstGeom>
          <a:solidFill>
            <a:srgbClr val="FFF0F0"/>
          </a:solidFill>
          <a:ln w="1270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B95E1C5-833E-3639-5500-35DE77DFDE2C}"/>
              </a:ext>
            </a:extLst>
          </p:cNvPr>
          <p:cNvSpPr txBox="1"/>
          <p:nvPr/>
        </p:nvSpPr>
        <p:spPr>
          <a:xfrm>
            <a:off x="1097280" y="1280160"/>
            <a:ext cx="4389120" cy="365760"/>
          </a:xfrm>
          <a:prstGeom prst="rect">
            <a:avLst/>
          </a:prstGeom>
          <a:noFill/>
        </p:spPr>
        <p:txBody>
          <a:bodyPr wrap="square">
            <a:spAutoFit/>
          </a:bodyPr>
          <a:lstStyle/>
          <a:p>
            <a:pPr algn="l">
              <a:defRPr sz="1200" b="1">
                <a:solidFill>
                  <a:srgbClr val="CC2244"/>
                </a:solidFill>
                <a:latin typeface="Segoe UI"/>
              </a:defRPr>
            </a:pPr>
            <a:r>
              <a:t>CHALLENGES</a:t>
            </a:r>
          </a:p>
        </p:txBody>
      </p:sp>
      <p:sp>
        <p:nvSpPr>
          <p:cNvPr id="7" name="TextBox 6">
            <a:extLst>
              <a:ext uri="{FF2B5EF4-FFF2-40B4-BE49-F238E27FC236}">
                <a16:creationId xmlns:a16="http://schemas.microsoft.com/office/drawing/2014/main" id="{A494A336-397F-ED35-63B5-4B8DAFFA4F92}"/>
              </a:ext>
            </a:extLst>
          </p:cNvPr>
          <p:cNvSpPr txBox="1"/>
          <p:nvPr/>
        </p:nvSpPr>
        <p:spPr>
          <a:xfrm>
            <a:off x="1097280" y="1737360"/>
            <a:ext cx="4389120" cy="457200"/>
          </a:xfrm>
          <a:prstGeom prst="rect">
            <a:avLst/>
          </a:prstGeom>
          <a:noFill/>
        </p:spPr>
        <p:txBody>
          <a:bodyPr wrap="square">
            <a:spAutoFit/>
          </a:bodyPr>
          <a:lstStyle/>
          <a:p>
            <a:pPr algn="l">
              <a:defRPr sz="1300" b="0">
                <a:solidFill>
                  <a:srgbClr val="1A1A2E"/>
                </a:solidFill>
                <a:latin typeface="Segoe UI"/>
              </a:defRPr>
            </a:pPr>
            <a:r>
              <a:t>▸  Permission denied on protected system files (SAM)</a:t>
            </a:r>
          </a:p>
        </p:txBody>
      </p:sp>
      <p:sp>
        <p:nvSpPr>
          <p:cNvPr id="8" name="TextBox 7">
            <a:extLst>
              <a:ext uri="{FF2B5EF4-FFF2-40B4-BE49-F238E27FC236}">
                <a16:creationId xmlns:a16="http://schemas.microsoft.com/office/drawing/2014/main" id="{19BA30DC-95E5-AFF8-259C-81A674152817}"/>
              </a:ext>
            </a:extLst>
          </p:cNvPr>
          <p:cNvSpPr txBox="1"/>
          <p:nvPr/>
        </p:nvSpPr>
        <p:spPr>
          <a:xfrm>
            <a:off x="1097280" y="2377439"/>
            <a:ext cx="4389120" cy="457200"/>
          </a:xfrm>
          <a:prstGeom prst="rect">
            <a:avLst/>
          </a:prstGeom>
          <a:noFill/>
        </p:spPr>
        <p:txBody>
          <a:bodyPr wrap="square">
            <a:spAutoFit/>
          </a:bodyPr>
          <a:lstStyle/>
          <a:p>
            <a:pPr algn="l">
              <a:defRPr sz="1300" b="0">
                <a:solidFill>
                  <a:srgbClr val="1A1A2E"/>
                </a:solidFill>
                <a:latin typeface="Segoe UI"/>
              </a:defRPr>
            </a:pPr>
            <a:r>
              <a:t>▸  CORS configuration between React (:5173) and Flask (:5000)</a:t>
            </a:r>
          </a:p>
        </p:txBody>
      </p:sp>
      <p:sp>
        <p:nvSpPr>
          <p:cNvPr id="9" name="TextBox 8">
            <a:extLst>
              <a:ext uri="{FF2B5EF4-FFF2-40B4-BE49-F238E27FC236}">
                <a16:creationId xmlns:a16="http://schemas.microsoft.com/office/drawing/2014/main" id="{ABA4315E-9CF8-59AF-B981-A0BAC152B72E}"/>
              </a:ext>
            </a:extLst>
          </p:cNvPr>
          <p:cNvSpPr txBox="1"/>
          <p:nvPr/>
        </p:nvSpPr>
        <p:spPr>
          <a:xfrm>
            <a:off x="1097280" y="3017520"/>
            <a:ext cx="4389120" cy="457200"/>
          </a:xfrm>
          <a:prstGeom prst="rect">
            <a:avLst/>
          </a:prstGeom>
          <a:noFill/>
        </p:spPr>
        <p:txBody>
          <a:bodyPr wrap="square">
            <a:spAutoFit/>
          </a:bodyPr>
          <a:lstStyle/>
          <a:p>
            <a:pPr algn="l">
              <a:defRPr sz="1300" b="0">
                <a:solidFill>
                  <a:srgbClr val="1A1A2E"/>
                </a:solidFill>
                <a:latin typeface="Segoe UI"/>
              </a:defRPr>
            </a:pPr>
            <a:r>
              <a:t>▸  Cross-platform file paths (Windows \ vs Linux /)</a:t>
            </a:r>
          </a:p>
        </p:txBody>
      </p:sp>
      <p:sp>
        <p:nvSpPr>
          <p:cNvPr id="10" name="TextBox 9">
            <a:extLst>
              <a:ext uri="{FF2B5EF4-FFF2-40B4-BE49-F238E27FC236}">
                <a16:creationId xmlns:a16="http://schemas.microsoft.com/office/drawing/2014/main" id="{B096CC05-E776-6DDB-86E9-1308EE6CCF1A}"/>
              </a:ext>
            </a:extLst>
          </p:cNvPr>
          <p:cNvSpPr txBox="1"/>
          <p:nvPr/>
        </p:nvSpPr>
        <p:spPr>
          <a:xfrm>
            <a:off x="1097280" y="3657599"/>
            <a:ext cx="4389120" cy="457200"/>
          </a:xfrm>
          <a:prstGeom prst="rect">
            <a:avLst/>
          </a:prstGeom>
          <a:noFill/>
        </p:spPr>
        <p:txBody>
          <a:bodyPr wrap="square">
            <a:spAutoFit/>
          </a:bodyPr>
          <a:lstStyle/>
          <a:p>
            <a:pPr algn="l">
              <a:defRPr sz="1300" b="0">
                <a:solidFill>
                  <a:srgbClr val="1A1A2E"/>
                </a:solidFill>
                <a:latin typeface="Segoe UI"/>
              </a:defRPr>
            </a:pPr>
            <a:r>
              <a:t>▸  Large file hashing efficiency (8KB chunked reads)</a:t>
            </a:r>
          </a:p>
        </p:txBody>
      </p:sp>
      <p:sp>
        <p:nvSpPr>
          <p:cNvPr id="11" name="TextBox 10">
            <a:extLst>
              <a:ext uri="{FF2B5EF4-FFF2-40B4-BE49-F238E27FC236}">
                <a16:creationId xmlns:a16="http://schemas.microsoft.com/office/drawing/2014/main" id="{113DDD6E-284D-853C-E70C-9E5E733286CF}"/>
              </a:ext>
            </a:extLst>
          </p:cNvPr>
          <p:cNvSpPr txBox="1"/>
          <p:nvPr/>
        </p:nvSpPr>
        <p:spPr>
          <a:xfrm>
            <a:off x="1097280" y="4297679"/>
            <a:ext cx="4389120" cy="457200"/>
          </a:xfrm>
          <a:prstGeom prst="rect">
            <a:avLst/>
          </a:prstGeom>
          <a:noFill/>
        </p:spPr>
        <p:txBody>
          <a:bodyPr wrap="square">
            <a:spAutoFit/>
          </a:bodyPr>
          <a:lstStyle/>
          <a:p>
            <a:pPr algn="l">
              <a:defRPr sz="1300" b="0">
                <a:solidFill>
                  <a:srgbClr val="1A1A2E"/>
                </a:solidFill>
                <a:latin typeface="Segoe UI"/>
              </a:defRPr>
            </a:pPr>
            <a:r>
              <a:t>▸  Modal overlay z-index and positioning</a:t>
            </a:r>
          </a:p>
        </p:txBody>
      </p:sp>
      <p:sp>
        <p:nvSpPr>
          <p:cNvPr id="12" name="TextBox 11">
            <a:extLst>
              <a:ext uri="{FF2B5EF4-FFF2-40B4-BE49-F238E27FC236}">
                <a16:creationId xmlns:a16="http://schemas.microsoft.com/office/drawing/2014/main" id="{708B771E-19CB-C145-5170-8EEE7CA5A02B}"/>
              </a:ext>
            </a:extLst>
          </p:cNvPr>
          <p:cNvSpPr txBox="1"/>
          <p:nvPr/>
        </p:nvSpPr>
        <p:spPr>
          <a:xfrm>
            <a:off x="1097280" y="4937760"/>
            <a:ext cx="4389120" cy="457200"/>
          </a:xfrm>
          <a:prstGeom prst="rect">
            <a:avLst/>
          </a:prstGeom>
          <a:noFill/>
        </p:spPr>
        <p:txBody>
          <a:bodyPr wrap="square">
            <a:spAutoFit/>
          </a:bodyPr>
          <a:lstStyle/>
          <a:p>
            <a:pPr algn="l">
              <a:defRPr sz="1300" b="0">
                <a:solidFill>
                  <a:srgbClr val="1A1A2E"/>
                </a:solidFill>
                <a:latin typeface="Segoe UI"/>
              </a:defRPr>
            </a:pPr>
            <a:r>
              <a:t>▸  Auto-scan timer cleanup on component unmount</a:t>
            </a:r>
          </a:p>
        </p:txBody>
      </p:sp>
      <p:sp>
        <p:nvSpPr>
          <p:cNvPr id="13" name="Rounded Rectangle 11">
            <a:extLst>
              <a:ext uri="{FF2B5EF4-FFF2-40B4-BE49-F238E27FC236}">
                <a16:creationId xmlns:a16="http://schemas.microsoft.com/office/drawing/2014/main" id="{02293634-BADB-EC93-BDB5-ACBA40D4656C}"/>
              </a:ext>
            </a:extLst>
          </p:cNvPr>
          <p:cNvSpPr/>
          <p:nvPr/>
        </p:nvSpPr>
        <p:spPr>
          <a:xfrm>
            <a:off x="6217920" y="1188720"/>
            <a:ext cx="5029200" cy="4572000"/>
          </a:xfrm>
          <a:prstGeom prst="roundRect">
            <a:avLst/>
          </a:prstGeom>
          <a:solidFill>
            <a:srgbClr val="F0FFF0"/>
          </a:solidFill>
          <a:ln w="12700">
            <a:solidFill>
              <a:srgbClr val="00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4D5B3B62-A1F6-7B05-CC27-1983889084AC}"/>
              </a:ext>
            </a:extLst>
          </p:cNvPr>
          <p:cNvSpPr txBox="1"/>
          <p:nvPr/>
        </p:nvSpPr>
        <p:spPr>
          <a:xfrm>
            <a:off x="6583680" y="1280160"/>
            <a:ext cx="4389120" cy="365760"/>
          </a:xfrm>
          <a:prstGeom prst="rect">
            <a:avLst/>
          </a:prstGeom>
          <a:noFill/>
        </p:spPr>
        <p:txBody>
          <a:bodyPr wrap="square">
            <a:spAutoFit/>
          </a:bodyPr>
          <a:lstStyle/>
          <a:p>
            <a:pPr algn="l">
              <a:defRPr sz="1200" b="1">
                <a:solidFill>
                  <a:srgbClr val="008A4E"/>
                </a:solidFill>
                <a:latin typeface="Segoe UI"/>
              </a:defRPr>
            </a:pPr>
            <a:r>
              <a:t>KEY LEARNINGS</a:t>
            </a:r>
          </a:p>
        </p:txBody>
      </p:sp>
      <p:sp>
        <p:nvSpPr>
          <p:cNvPr id="15" name="TextBox 14">
            <a:extLst>
              <a:ext uri="{FF2B5EF4-FFF2-40B4-BE49-F238E27FC236}">
                <a16:creationId xmlns:a16="http://schemas.microsoft.com/office/drawing/2014/main" id="{DA58B5C2-1FBA-FD74-7D79-13FCE228D144}"/>
              </a:ext>
            </a:extLst>
          </p:cNvPr>
          <p:cNvSpPr txBox="1"/>
          <p:nvPr/>
        </p:nvSpPr>
        <p:spPr>
          <a:xfrm>
            <a:off x="6583680" y="1737360"/>
            <a:ext cx="4389120" cy="457200"/>
          </a:xfrm>
          <a:prstGeom prst="rect">
            <a:avLst/>
          </a:prstGeom>
          <a:noFill/>
        </p:spPr>
        <p:txBody>
          <a:bodyPr wrap="square">
            <a:spAutoFit/>
          </a:bodyPr>
          <a:lstStyle/>
          <a:p>
            <a:pPr algn="l">
              <a:defRPr sz="1300" b="0">
                <a:solidFill>
                  <a:srgbClr val="1A1A2E"/>
                </a:solidFill>
                <a:latin typeface="Segoe UI"/>
              </a:defRPr>
            </a:pPr>
            <a:r>
              <a:t>✓  Cryptographic hashing is essential for data integrity</a:t>
            </a:r>
          </a:p>
        </p:txBody>
      </p:sp>
      <p:sp>
        <p:nvSpPr>
          <p:cNvPr id="16" name="TextBox 15">
            <a:extLst>
              <a:ext uri="{FF2B5EF4-FFF2-40B4-BE49-F238E27FC236}">
                <a16:creationId xmlns:a16="http://schemas.microsoft.com/office/drawing/2014/main" id="{7154AB5E-EDDC-B502-6751-C1C678532ECD}"/>
              </a:ext>
            </a:extLst>
          </p:cNvPr>
          <p:cNvSpPr txBox="1"/>
          <p:nvPr/>
        </p:nvSpPr>
        <p:spPr>
          <a:xfrm>
            <a:off x="6583680" y="2377439"/>
            <a:ext cx="4389120" cy="457200"/>
          </a:xfrm>
          <a:prstGeom prst="rect">
            <a:avLst/>
          </a:prstGeom>
          <a:noFill/>
        </p:spPr>
        <p:txBody>
          <a:bodyPr wrap="square">
            <a:spAutoFit/>
          </a:bodyPr>
          <a:lstStyle/>
          <a:p>
            <a:pPr algn="l">
              <a:defRPr sz="1300" b="0">
                <a:solidFill>
                  <a:srgbClr val="1A1A2E"/>
                </a:solidFill>
                <a:latin typeface="Segoe UI"/>
              </a:defRPr>
            </a:pPr>
            <a:r>
              <a:t>✓  Full-stack architecture provides power + usability</a:t>
            </a:r>
          </a:p>
        </p:txBody>
      </p:sp>
      <p:sp>
        <p:nvSpPr>
          <p:cNvPr id="17" name="TextBox 16">
            <a:extLst>
              <a:ext uri="{FF2B5EF4-FFF2-40B4-BE49-F238E27FC236}">
                <a16:creationId xmlns:a16="http://schemas.microsoft.com/office/drawing/2014/main" id="{63230FD5-989C-EFDD-A240-761B4BFB55C4}"/>
              </a:ext>
            </a:extLst>
          </p:cNvPr>
          <p:cNvSpPr txBox="1"/>
          <p:nvPr/>
        </p:nvSpPr>
        <p:spPr>
          <a:xfrm>
            <a:off x="6583680" y="3017520"/>
            <a:ext cx="4389120" cy="457200"/>
          </a:xfrm>
          <a:prstGeom prst="rect">
            <a:avLst/>
          </a:prstGeom>
          <a:noFill/>
        </p:spPr>
        <p:txBody>
          <a:bodyPr wrap="square">
            <a:spAutoFit/>
          </a:bodyPr>
          <a:lstStyle/>
          <a:p>
            <a:pPr algn="l">
              <a:defRPr sz="1300" b="0">
                <a:solidFill>
                  <a:srgbClr val="1A1A2E"/>
                </a:solidFill>
                <a:latin typeface="Segoe UI"/>
              </a:defRPr>
            </a:pPr>
            <a:r>
              <a:t>✓  FIM is a critical compliance requirement in enterprise</a:t>
            </a:r>
          </a:p>
        </p:txBody>
      </p:sp>
      <p:sp>
        <p:nvSpPr>
          <p:cNvPr id="18" name="TextBox 17">
            <a:extLst>
              <a:ext uri="{FF2B5EF4-FFF2-40B4-BE49-F238E27FC236}">
                <a16:creationId xmlns:a16="http://schemas.microsoft.com/office/drawing/2014/main" id="{9DDED5F8-6085-EF1A-6A11-62CE14A7201F}"/>
              </a:ext>
            </a:extLst>
          </p:cNvPr>
          <p:cNvSpPr txBox="1"/>
          <p:nvPr/>
        </p:nvSpPr>
        <p:spPr>
          <a:xfrm>
            <a:off x="6583680" y="3657599"/>
            <a:ext cx="4389120" cy="457200"/>
          </a:xfrm>
          <a:prstGeom prst="rect">
            <a:avLst/>
          </a:prstGeom>
          <a:noFill/>
        </p:spPr>
        <p:txBody>
          <a:bodyPr wrap="square">
            <a:spAutoFit/>
          </a:bodyPr>
          <a:lstStyle/>
          <a:p>
            <a:pPr algn="l">
              <a:defRPr sz="1300" b="0">
                <a:solidFill>
                  <a:srgbClr val="1A1A2E"/>
                </a:solidFill>
                <a:latin typeface="Segoe UI"/>
              </a:defRPr>
            </a:pPr>
            <a:r>
              <a:t>✓  SHA-256 is current standard over MD5/SHA-1</a:t>
            </a:r>
          </a:p>
        </p:txBody>
      </p:sp>
      <p:sp>
        <p:nvSpPr>
          <p:cNvPr id="19" name="TextBox 18">
            <a:extLst>
              <a:ext uri="{FF2B5EF4-FFF2-40B4-BE49-F238E27FC236}">
                <a16:creationId xmlns:a16="http://schemas.microsoft.com/office/drawing/2014/main" id="{3FF22069-EDD1-A91B-3957-9A7E3F993915}"/>
              </a:ext>
            </a:extLst>
          </p:cNvPr>
          <p:cNvSpPr txBox="1"/>
          <p:nvPr/>
        </p:nvSpPr>
        <p:spPr>
          <a:xfrm>
            <a:off x="6583680" y="4297679"/>
            <a:ext cx="4389120" cy="457200"/>
          </a:xfrm>
          <a:prstGeom prst="rect">
            <a:avLst/>
          </a:prstGeom>
          <a:noFill/>
        </p:spPr>
        <p:txBody>
          <a:bodyPr wrap="square">
            <a:spAutoFit/>
          </a:bodyPr>
          <a:lstStyle/>
          <a:p>
            <a:pPr algn="l">
              <a:defRPr sz="1300" b="0">
                <a:solidFill>
                  <a:srgbClr val="1A1A2E"/>
                </a:solidFill>
                <a:latin typeface="Segoe UI"/>
              </a:defRPr>
            </a:pPr>
            <a:r>
              <a:t>✓  File metadata (perms, size) matters as much as content</a:t>
            </a:r>
          </a:p>
        </p:txBody>
      </p:sp>
      <p:sp>
        <p:nvSpPr>
          <p:cNvPr id="20" name="TextBox 19">
            <a:extLst>
              <a:ext uri="{FF2B5EF4-FFF2-40B4-BE49-F238E27FC236}">
                <a16:creationId xmlns:a16="http://schemas.microsoft.com/office/drawing/2014/main" id="{00573037-A89D-36B5-BBAD-2027D948775B}"/>
              </a:ext>
            </a:extLst>
          </p:cNvPr>
          <p:cNvSpPr txBox="1"/>
          <p:nvPr/>
        </p:nvSpPr>
        <p:spPr>
          <a:xfrm>
            <a:off x="6583680" y="4937760"/>
            <a:ext cx="4389120" cy="457200"/>
          </a:xfrm>
          <a:prstGeom prst="rect">
            <a:avLst/>
          </a:prstGeom>
          <a:noFill/>
        </p:spPr>
        <p:txBody>
          <a:bodyPr wrap="square">
            <a:spAutoFit/>
          </a:bodyPr>
          <a:lstStyle/>
          <a:p>
            <a:pPr algn="l">
              <a:defRPr sz="1300" b="0">
                <a:solidFill>
                  <a:srgbClr val="1A1A2E"/>
                </a:solidFill>
                <a:latin typeface="Segoe UI"/>
              </a:defRPr>
            </a:pPr>
            <a:r>
              <a:t>✓  Separation of concerns: CSS/JSX/Python = clean code</a:t>
            </a:r>
          </a:p>
        </p:txBody>
      </p:sp>
    </p:spTree>
    <p:extLst>
      <p:ext uri="{BB962C8B-B14F-4D97-AF65-F5344CB8AC3E}">
        <p14:creationId xmlns:p14="http://schemas.microsoft.com/office/powerpoint/2010/main" val="216177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B4724-97E3-A497-1C79-C10F8BFBD7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609740-1781-7B63-635E-66C7386915A8}"/>
              </a:ext>
            </a:extLst>
          </p:cNvPr>
          <p:cNvSpPr>
            <a:spLocks noGrp="1"/>
          </p:cNvSpPr>
          <p:nvPr>
            <p:ph type="title"/>
          </p:nvPr>
        </p:nvSpPr>
        <p:spPr>
          <a:xfrm>
            <a:off x="538207" y="146466"/>
            <a:ext cx="10834234" cy="612775"/>
          </a:xfrm>
        </p:spPr>
        <p:txBody>
          <a:bodyPr>
            <a:normAutofit/>
          </a:bodyPr>
          <a:lstStyle/>
          <a:p>
            <a:r>
              <a:rPr lang="en-IN" dirty="0">
                <a:solidFill>
                  <a:schemeClr val="accent1"/>
                </a:solidFill>
              </a:rPr>
              <a:t>Future Enhancements</a:t>
            </a:r>
            <a:endParaRPr lang="en-US" dirty="0">
              <a:solidFill>
                <a:schemeClr val="accent1"/>
              </a:solidFill>
            </a:endParaRPr>
          </a:p>
        </p:txBody>
      </p:sp>
      <p:sp>
        <p:nvSpPr>
          <p:cNvPr id="2" name="Rectangle 1">
            <a:extLst>
              <a:ext uri="{FF2B5EF4-FFF2-40B4-BE49-F238E27FC236}">
                <a16:creationId xmlns:a16="http://schemas.microsoft.com/office/drawing/2014/main" id="{B16F9048-AEC5-2813-9888-6615A8E88DBA}"/>
              </a:ext>
            </a:extLst>
          </p:cNvPr>
          <p:cNvSpPr/>
          <p:nvPr/>
        </p:nvSpPr>
        <p:spPr>
          <a:xfrm>
            <a:off x="538207" y="648872"/>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404DDEE-BF20-CF9A-FF55-ED206523F4CF}"/>
              </a:ext>
            </a:extLst>
          </p:cNvPr>
          <p:cNvSpPr txBox="1"/>
          <p:nvPr/>
        </p:nvSpPr>
        <p:spPr>
          <a:xfrm>
            <a:off x="494127" y="863404"/>
            <a:ext cx="2743200" cy="365760"/>
          </a:xfrm>
          <a:prstGeom prst="rect">
            <a:avLst/>
          </a:prstGeom>
          <a:noFill/>
        </p:spPr>
        <p:txBody>
          <a:bodyPr wrap="square">
            <a:spAutoFit/>
          </a:bodyPr>
          <a:lstStyle/>
          <a:p>
            <a:pPr algn="l">
              <a:defRPr sz="1400" b="1">
                <a:solidFill>
                  <a:srgbClr val="007ACC"/>
                </a:solidFill>
                <a:latin typeface="Segoe UI"/>
              </a:defRPr>
            </a:pPr>
            <a:r>
              <a:t>Email / Slack Alerts</a:t>
            </a:r>
          </a:p>
        </p:txBody>
      </p:sp>
      <p:sp>
        <p:nvSpPr>
          <p:cNvPr id="21" name="TextBox 20">
            <a:extLst>
              <a:ext uri="{FF2B5EF4-FFF2-40B4-BE49-F238E27FC236}">
                <a16:creationId xmlns:a16="http://schemas.microsoft.com/office/drawing/2014/main" id="{2F7EA481-F490-BD3E-0CE5-ABE5DAFC7655}"/>
              </a:ext>
            </a:extLst>
          </p:cNvPr>
          <p:cNvSpPr txBox="1"/>
          <p:nvPr/>
        </p:nvSpPr>
        <p:spPr>
          <a:xfrm>
            <a:off x="3420207" y="863404"/>
            <a:ext cx="5486400" cy="365760"/>
          </a:xfrm>
          <a:prstGeom prst="rect">
            <a:avLst/>
          </a:prstGeom>
          <a:noFill/>
        </p:spPr>
        <p:txBody>
          <a:bodyPr wrap="square">
            <a:spAutoFit/>
          </a:bodyPr>
          <a:lstStyle/>
          <a:p>
            <a:pPr algn="l">
              <a:defRPr sz="1300" b="0">
                <a:solidFill>
                  <a:srgbClr val="555E70"/>
                </a:solidFill>
                <a:latin typeface="Segoe UI"/>
              </a:defRPr>
            </a:pPr>
            <a:r>
              <a:t>Notify security teams on violations</a:t>
            </a:r>
          </a:p>
        </p:txBody>
      </p:sp>
      <p:sp>
        <p:nvSpPr>
          <p:cNvPr id="22" name="TextBox 21">
            <a:extLst>
              <a:ext uri="{FF2B5EF4-FFF2-40B4-BE49-F238E27FC236}">
                <a16:creationId xmlns:a16="http://schemas.microsoft.com/office/drawing/2014/main" id="{CB786C4F-BD73-9D38-8F59-FF4833792940}"/>
              </a:ext>
            </a:extLst>
          </p:cNvPr>
          <p:cNvSpPr txBox="1"/>
          <p:nvPr/>
        </p:nvSpPr>
        <p:spPr>
          <a:xfrm>
            <a:off x="9363807" y="863404"/>
            <a:ext cx="1828800" cy="365760"/>
          </a:xfrm>
          <a:prstGeom prst="rect">
            <a:avLst/>
          </a:prstGeom>
          <a:noFill/>
        </p:spPr>
        <p:txBody>
          <a:bodyPr wrap="square">
            <a:spAutoFit/>
          </a:bodyPr>
          <a:lstStyle/>
          <a:p>
            <a:pPr algn="l">
              <a:defRPr sz="1100" b="1">
                <a:solidFill>
                  <a:srgbClr val="007ACC"/>
                </a:solidFill>
                <a:latin typeface="Segoe UI"/>
              </a:defRPr>
            </a:pPr>
            <a:r>
              <a:t>Planned</a:t>
            </a:r>
          </a:p>
        </p:txBody>
      </p:sp>
      <p:sp>
        <p:nvSpPr>
          <p:cNvPr id="23" name="Rectangle 22">
            <a:extLst>
              <a:ext uri="{FF2B5EF4-FFF2-40B4-BE49-F238E27FC236}">
                <a16:creationId xmlns:a16="http://schemas.microsoft.com/office/drawing/2014/main" id="{76246BFA-88B3-200E-44E8-09B8734166D2}"/>
              </a:ext>
            </a:extLst>
          </p:cNvPr>
          <p:cNvSpPr/>
          <p:nvPr/>
        </p:nvSpPr>
        <p:spPr>
          <a:xfrm>
            <a:off x="494127" y="1412044"/>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7B431E95-34ED-0309-1259-FFFDE3B9FADA}"/>
              </a:ext>
            </a:extLst>
          </p:cNvPr>
          <p:cNvSpPr txBox="1"/>
          <p:nvPr/>
        </p:nvSpPr>
        <p:spPr>
          <a:xfrm>
            <a:off x="494127" y="1503484"/>
            <a:ext cx="2743200" cy="365760"/>
          </a:xfrm>
          <a:prstGeom prst="rect">
            <a:avLst/>
          </a:prstGeom>
          <a:noFill/>
        </p:spPr>
        <p:txBody>
          <a:bodyPr wrap="square">
            <a:spAutoFit/>
          </a:bodyPr>
          <a:lstStyle/>
          <a:p>
            <a:pPr algn="l">
              <a:defRPr sz="1400" b="1">
                <a:solidFill>
                  <a:srgbClr val="007ACC"/>
                </a:solidFill>
                <a:latin typeface="Segoe UI"/>
              </a:defRPr>
            </a:pPr>
            <a:r>
              <a:t>Database Backend</a:t>
            </a:r>
          </a:p>
        </p:txBody>
      </p:sp>
      <p:sp>
        <p:nvSpPr>
          <p:cNvPr id="25" name="TextBox 24">
            <a:extLst>
              <a:ext uri="{FF2B5EF4-FFF2-40B4-BE49-F238E27FC236}">
                <a16:creationId xmlns:a16="http://schemas.microsoft.com/office/drawing/2014/main" id="{56656DCD-210D-F678-95D3-D65CAA230756}"/>
              </a:ext>
            </a:extLst>
          </p:cNvPr>
          <p:cNvSpPr txBox="1"/>
          <p:nvPr/>
        </p:nvSpPr>
        <p:spPr>
          <a:xfrm>
            <a:off x="3420207" y="1503484"/>
            <a:ext cx="5486400" cy="365760"/>
          </a:xfrm>
          <a:prstGeom prst="rect">
            <a:avLst/>
          </a:prstGeom>
          <a:noFill/>
        </p:spPr>
        <p:txBody>
          <a:bodyPr wrap="square">
            <a:spAutoFit/>
          </a:bodyPr>
          <a:lstStyle/>
          <a:p>
            <a:pPr algn="l">
              <a:defRPr sz="1300" b="0">
                <a:solidFill>
                  <a:srgbClr val="555E70"/>
                </a:solidFill>
                <a:latin typeface="Segoe UI"/>
              </a:defRPr>
            </a:pPr>
            <a:r>
              <a:t>SQLite / PostgreSQL for better scale</a:t>
            </a:r>
          </a:p>
        </p:txBody>
      </p:sp>
      <p:sp>
        <p:nvSpPr>
          <p:cNvPr id="26" name="TextBox 25">
            <a:extLst>
              <a:ext uri="{FF2B5EF4-FFF2-40B4-BE49-F238E27FC236}">
                <a16:creationId xmlns:a16="http://schemas.microsoft.com/office/drawing/2014/main" id="{C6418AA0-BD9A-17F6-0E65-03C4DFEE381B}"/>
              </a:ext>
            </a:extLst>
          </p:cNvPr>
          <p:cNvSpPr txBox="1"/>
          <p:nvPr/>
        </p:nvSpPr>
        <p:spPr>
          <a:xfrm>
            <a:off x="9363807" y="1503484"/>
            <a:ext cx="1828800" cy="365760"/>
          </a:xfrm>
          <a:prstGeom prst="rect">
            <a:avLst/>
          </a:prstGeom>
          <a:noFill/>
        </p:spPr>
        <p:txBody>
          <a:bodyPr wrap="square">
            <a:spAutoFit/>
          </a:bodyPr>
          <a:lstStyle/>
          <a:p>
            <a:pPr algn="l">
              <a:defRPr sz="1100" b="1">
                <a:solidFill>
                  <a:srgbClr val="007ACC"/>
                </a:solidFill>
                <a:latin typeface="Segoe UI"/>
              </a:defRPr>
            </a:pPr>
            <a:r>
              <a:t>Planned</a:t>
            </a:r>
          </a:p>
        </p:txBody>
      </p:sp>
      <p:sp>
        <p:nvSpPr>
          <p:cNvPr id="27" name="Rectangle 26">
            <a:extLst>
              <a:ext uri="{FF2B5EF4-FFF2-40B4-BE49-F238E27FC236}">
                <a16:creationId xmlns:a16="http://schemas.microsoft.com/office/drawing/2014/main" id="{8315A7BE-72A3-BF64-4143-74E683FE2370}"/>
              </a:ext>
            </a:extLst>
          </p:cNvPr>
          <p:cNvSpPr/>
          <p:nvPr/>
        </p:nvSpPr>
        <p:spPr>
          <a:xfrm>
            <a:off x="494127" y="2052124"/>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483A388C-2478-C885-1744-11F9AF2FBDA8}"/>
              </a:ext>
            </a:extLst>
          </p:cNvPr>
          <p:cNvSpPr txBox="1"/>
          <p:nvPr/>
        </p:nvSpPr>
        <p:spPr>
          <a:xfrm>
            <a:off x="494127" y="2143564"/>
            <a:ext cx="2743200" cy="365760"/>
          </a:xfrm>
          <a:prstGeom prst="rect">
            <a:avLst/>
          </a:prstGeom>
          <a:noFill/>
        </p:spPr>
        <p:txBody>
          <a:bodyPr wrap="square">
            <a:spAutoFit/>
          </a:bodyPr>
          <a:lstStyle/>
          <a:p>
            <a:pPr algn="l">
              <a:defRPr sz="1400" b="1">
                <a:solidFill>
                  <a:srgbClr val="007ACC"/>
                </a:solidFill>
                <a:latin typeface="Segoe UI"/>
              </a:defRPr>
            </a:pPr>
            <a:r>
              <a:t>Multi-host Monitoring</a:t>
            </a:r>
          </a:p>
        </p:txBody>
      </p:sp>
      <p:sp>
        <p:nvSpPr>
          <p:cNvPr id="29" name="TextBox 28">
            <a:extLst>
              <a:ext uri="{FF2B5EF4-FFF2-40B4-BE49-F238E27FC236}">
                <a16:creationId xmlns:a16="http://schemas.microsoft.com/office/drawing/2014/main" id="{4B76DDC1-F3D2-5E17-F948-E14C7F51C910}"/>
              </a:ext>
            </a:extLst>
          </p:cNvPr>
          <p:cNvSpPr txBox="1"/>
          <p:nvPr/>
        </p:nvSpPr>
        <p:spPr>
          <a:xfrm>
            <a:off x="3420207" y="2143564"/>
            <a:ext cx="5486400" cy="365760"/>
          </a:xfrm>
          <a:prstGeom prst="rect">
            <a:avLst/>
          </a:prstGeom>
          <a:noFill/>
        </p:spPr>
        <p:txBody>
          <a:bodyPr wrap="square">
            <a:spAutoFit/>
          </a:bodyPr>
          <a:lstStyle/>
          <a:p>
            <a:pPr algn="l">
              <a:defRPr sz="1300" b="0">
                <a:solidFill>
                  <a:srgbClr val="555E70"/>
                </a:solidFill>
                <a:latin typeface="Segoe UI"/>
              </a:defRPr>
            </a:pPr>
            <a:r>
              <a:t>Agent-based architecture for multiple servers</a:t>
            </a:r>
          </a:p>
        </p:txBody>
      </p:sp>
      <p:sp>
        <p:nvSpPr>
          <p:cNvPr id="30" name="TextBox 29">
            <a:extLst>
              <a:ext uri="{FF2B5EF4-FFF2-40B4-BE49-F238E27FC236}">
                <a16:creationId xmlns:a16="http://schemas.microsoft.com/office/drawing/2014/main" id="{FF759D26-9B6E-F68D-58AC-F1BD33853B58}"/>
              </a:ext>
            </a:extLst>
          </p:cNvPr>
          <p:cNvSpPr txBox="1"/>
          <p:nvPr/>
        </p:nvSpPr>
        <p:spPr>
          <a:xfrm>
            <a:off x="9363807" y="2143564"/>
            <a:ext cx="1828800" cy="365760"/>
          </a:xfrm>
          <a:prstGeom prst="rect">
            <a:avLst/>
          </a:prstGeom>
          <a:noFill/>
        </p:spPr>
        <p:txBody>
          <a:bodyPr wrap="square">
            <a:spAutoFit/>
          </a:bodyPr>
          <a:lstStyle/>
          <a:p>
            <a:pPr algn="l">
              <a:defRPr sz="1100" b="1">
                <a:solidFill>
                  <a:srgbClr val="6B4FBB"/>
                </a:solidFill>
                <a:latin typeface="Segoe UI"/>
              </a:defRPr>
            </a:pPr>
            <a:r>
              <a:t>Future</a:t>
            </a:r>
          </a:p>
        </p:txBody>
      </p:sp>
      <p:sp>
        <p:nvSpPr>
          <p:cNvPr id="31" name="Rectangle 30">
            <a:extLst>
              <a:ext uri="{FF2B5EF4-FFF2-40B4-BE49-F238E27FC236}">
                <a16:creationId xmlns:a16="http://schemas.microsoft.com/office/drawing/2014/main" id="{1DA322EC-6EB0-D301-A708-2804B1BB84EF}"/>
              </a:ext>
            </a:extLst>
          </p:cNvPr>
          <p:cNvSpPr/>
          <p:nvPr/>
        </p:nvSpPr>
        <p:spPr>
          <a:xfrm>
            <a:off x="494127" y="2692204"/>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3AECC3C4-B563-1AED-B13E-83442B22BFBD}"/>
              </a:ext>
            </a:extLst>
          </p:cNvPr>
          <p:cNvSpPr txBox="1"/>
          <p:nvPr/>
        </p:nvSpPr>
        <p:spPr>
          <a:xfrm>
            <a:off x="494127" y="2783643"/>
            <a:ext cx="2743200" cy="365760"/>
          </a:xfrm>
          <a:prstGeom prst="rect">
            <a:avLst/>
          </a:prstGeom>
          <a:noFill/>
        </p:spPr>
        <p:txBody>
          <a:bodyPr wrap="square">
            <a:spAutoFit/>
          </a:bodyPr>
          <a:lstStyle/>
          <a:p>
            <a:pPr algn="l">
              <a:defRPr sz="1400" b="1">
                <a:solidFill>
                  <a:srgbClr val="007ACC"/>
                </a:solidFill>
                <a:latin typeface="Segoe UI"/>
              </a:defRPr>
            </a:pPr>
            <a:r>
              <a:t>SIEM Integration</a:t>
            </a:r>
          </a:p>
        </p:txBody>
      </p:sp>
      <p:sp>
        <p:nvSpPr>
          <p:cNvPr id="33" name="TextBox 32">
            <a:extLst>
              <a:ext uri="{FF2B5EF4-FFF2-40B4-BE49-F238E27FC236}">
                <a16:creationId xmlns:a16="http://schemas.microsoft.com/office/drawing/2014/main" id="{06A30FFE-DA59-814F-DE90-E4748534225E}"/>
              </a:ext>
            </a:extLst>
          </p:cNvPr>
          <p:cNvSpPr txBox="1"/>
          <p:nvPr/>
        </p:nvSpPr>
        <p:spPr>
          <a:xfrm>
            <a:off x="3420207" y="2783643"/>
            <a:ext cx="5486400" cy="365760"/>
          </a:xfrm>
          <a:prstGeom prst="rect">
            <a:avLst/>
          </a:prstGeom>
          <a:noFill/>
        </p:spPr>
        <p:txBody>
          <a:bodyPr wrap="square">
            <a:spAutoFit/>
          </a:bodyPr>
          <a:lstStyle/>
          <a:p>
            <a:pPr algn="l">
              <a:defRPr sz="1300" b="0">
                <a:solidFill>
                  <a:srgbClr val="555E70"/>
                </a:solidFill>
                <a:latin typeface="Segoe UI"/>
              </a:defRPr>
            </a:pPr>
            <a:r>
              <a:t>CEF / Syslog export for Splunk, Elastic</a:t>
            </a:r>
          </a:p>
        </p:txBody>
      </p:sp>
      <p:sp>
        <p:nvSpPr>
          <p:cNvPr id="34" name="TextBox 33">
            <a:extLst>
              <a:ext uri="{FF2B5EF4-FFF2-40B4-BE49-F238E27FC236}">
                <a16:creationId xmlns:a16="http://schemas.microsoft.com/office/drawing/2014/main" id="{C09ECB79-1DDC-6311-1C67-431FF8FE34A6}"/>
              </a:ext>
            </a:extLst>
          </p:cNvPr>
          <p:cNvSpPr txBox="1"/>
          <p:nvPr/>
        </p:nvSpPr>
        <p:spPr>
          <a:xfrm>
            <a:off x="9363807" y="2783643"/>
            <a:ext cx="1828800" cy="365760"/>
          </a:xfrm>
          <a:prstGeom prst="rect">
            <a:avLst/>
          </a:prstGeom>
          <a:noFill/>
        </p:spPr>
        <p:txBody>
          <a:bodyPr wrap="square">
            <a:spAutoFit/>
          </a:bodyPr>
          <a:lstStyle/>
          <a:p>
            <a:pPr algn="l">
              <a:defRPr sz="1100" b="1">
                <a:solidFill>
                  <a:srgbClr val="6B4FBB"/>
                </a:solidFill>
                <a:latin typeface="Segoe UI"/>
              </a:defRPr>
            </a:pPr>
            <a:r>
              <a:t>Future</a:t>
            </a:r>
          </a:p>
        </p:txBody>
      </p:sp>
      <p:sp>
        <p:nvSpPr>
          <p:cNvPr id="35" name="Rectangle 34">
            <a:extLst>
              <a:ext uri="{FF2B5EF4-FFF2-40B4-BE49-F238E27FC236}">
                <a16:creationId xmlns:a16="http://schemas.microsoft.com/office/drawing/2014/main" id="{97ABF2AA-CE19-1485-6541-E9CDE3EB5643}"/>
              </a:ext>
            </a:extLst>
          </p:cNvPr>
          <p:cNvSpPr/>
          <p:nvPr/>
        </p:nvSpPr>
        <p:spPr>
          <a:xfrm>
            <a:off x="494127" y="3332283"/>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9429989C-0E98-AB9A-081C-184D8208F51A}"/>
              </a:ext>
            </a:extLst>
          </p:cNvPr>
          <p:cNvSpPr txBox="1"/>
          <p:nvPr/>
        </p:nvSpPr>
        <p:spPr>
          <a:xfrm>
            <a:off x="494127" y="3423723"/>
            <a:ext cx="2743200" cy="365760"/>
          </a:xfrm>
          <a:prstGeom prst="rect">
            <a:avLst/>
          </a:prstGeom>
          <a:noFill/>
        </p:spPr>
        <p:txBody>
          <a:bodyPr wrap="square">
            <a:spAutoFit/>
          </a:bodyPr>
          <a:lstStyle/>
          <a:p>
            <a:pPr algn="l">
              <a:defRPr sz="1400" b="1">
                <a:solidFill>
                  <a:srgbClr val="007ACC"/>
                </a:solidFill>
                <a:latin typeface="Segoe UI"/>
              </a:defRPr>
            </a:pPr>
            <a:r>
              <a:t>CSV / PDF Export</a:t>
            </a:r>
          </a:p>
        </p:txBody>
      </p:sp>
      <p:sp>
        <p:nvSpPr>
          <p:cNvPr id="37" name="TextBox 36">
            <a:extLst>
              <a:ext uri="{FF2B5EF4-FFF2-40B4-BE49-F238E27FC236}">
                <a16:creationId xmlns:a16="http://schemas.microsoft.com/office/drawing/2014/main" id="{F7D2D295-0C95-D217-D834-AAC6A6025FD9}"/>
              </a:ext>
            </a:extLst>
          </p:cNvPr>
          <p:cNvSpPr txBox="1"/>
          <p:nvPr/>
        </p:nvSpPr>
        <p:spPr>
          <a:xfrm>
            <a:off x="3420207" y="3423723"/>
            <a:ext cx="5486400" cy="365760"/>
          </a:xfrm>
          <a:prstGeom prst="rect">
            <a:avLst/>
          </a:prstGeom>
          <a:noFill/>
        </p:spPr>
        <p:txBody>
          <a:bodyPr wrap="square">
            <a:spAutoFit/>
          </a:bodyPr>
          <a:lstStyle/>
          <a:p>
            <a:pPr algn="l">
              <a:defRPr sz="1300" b="0">
                <a:solidFill>
                  <a:srgbClr val="555E70"/>
                </a:solidFill>
                <a:latin typeface="Segoe UI"/>
              </a:defRPr>
            </a:pPr>
            <a:r>
              <a:t>Download reports for compliance documentation</a:t>
            </a:r>
          </a:p>
        </p:txBody>
      </p:sp>
      <p:sp>
        <p:nvSpPr>
          <p:cNvPr id="38" name="TextBox 37">
            <a:extLst>
              <a:ext uri="{FF2B5EF4-FFF2-40B4-BE49-F238E27FC236}">
                <a16:creationId xmlns:a16="http://schemas.microsoft.com/office/drawing/2014/main" id="{3D49BF88-BB50-5C4E-473B-A6F767667D8A}"/>
              </a:ext>
            </a:extLst>
          </p:cNvPr>
          <p:cNvSpPr txBox="1"/>
          <p:nvPr/>
        </p:nvSpPr>
        <p:spPr>
          <a:xfrm>
            <a:off x="9363807" y="3423723"/>
            <a:ext cx="1828800" cy="365760"/>
          </a:xfrm>
          <a:prstGeom prst="rect">
            <a:avLst/>
          </a:prstGeom>
          <a:noFill/>
        </p:spPr>
        <p:txBody>
          <a:bodyPr wrap="square">
            <a:spAutoFit/>
          </a:bodyPr>
          <a:lstStyle/>
          <a:p>
            <a:pPr algn="l">
              <a:defRPr sz="1100" b="1">
                <a:solidFill>
                  <a:srgbClr val="007ACC"/>
                </a:solidFill>
                <a:latin typeface="Segoe UI"/>
              </a:defRPr>
            </a:pPr>
            <a:r>
              <a:t>Planned</a:t>
            </a:r>
          </a:p>
        </p:txBody>
      </p:sp>
      <p:sp>
        <p:nvSpPr>
          <p:cNvPr id="39" name="Rectangle 38">
            <a:extLst>
              <a:ext uri="{FF2B5EF4-FFF2-40B4-BE49-F238E27FC236}">
                <a16:creationId xmlns:a16="http://schemas.microsoft.com/office/drawing/2014/main" id="{17744A34-5196-C80B-42E4-64636D629B9D}"/>
              </a:ext>
            </a:extLst>
          </p:cNvPr>
          <p:cNvSpPr/>
          <p:nvPr/>
        </p:nvSpPr>
        <p:spPr>
          <a:xfrm>
            <a:off x="494127" y="3972363"/>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8C4D2393-5F4E-B399-42C5-AAD24C4C9F08}"/>
              </a:ext>
            </a:extLst>
          </p:cNvPr>
          <p:cNvSpPr txBox="1"/>
          <p:nvPr/>
        </p:nvSpPr>
        <p:spPr>
          <a:xfrm>
            <a:off x="494127" y="4063804"/>
            <a:ext cx="2743200" cy="365760"/>
          </a:xfrm>
          <a:prstGeom prst="rect">
            <a:avLst/>
          </a:prstGeom>
          <a:noFill/>
        </p:spPr>
        <p:txBody>
          <a:bodyPr wrap="square">
            <a:spAutoFit/>
          </a:bodyPr>
          <a:lstStyle/>
          <a:p>
            <a:pPr algn="l">
              <a:defRPr sz="1400" b="1">
                <a:solidFill>
                  <a:srgbClr val="007ACC"/>
                </a:solidFill>
                <a:latin typeface="Segoe UI"/>
              </a:defRPr>
            </a:pPr>
            <a:r>
              <a:t>Windows Service</a:t>
            </a:r>
          </a:p>
        </p:txBody>
      </p:sp>
      <p:sp>
        <p:nvSpPr>
          <p:cNvPr id="41" name="TextBox 40">
            <a:extLst>
              <a:ext uri="{FF2B5EF4-FFF2-40B4-BE49-F238E27FC236}">
                <a16:creationId xmlns:a16="http://schemas.microsoft.com/office/drawing/2014/main" id="{6C31AC34-F4BA-1E1D-BDB4-F621AD2AD269}"/>
              </a:ext>
            </a:extLst>
          </p:cNvPr>
          <p:cNvSpPr txBox="1"/>
          <p:nvPr/>
        </p:nvSpPr>
        <p:spPr>
          <a:xfrm>
            <a:off x="3420207" y="4063804"/>
            <a:ext cx="5486400" cy="365760"/>
          </a:xfrm>
          <a:prstGeom prst="rect">
            <a:avLst/>
          </a:prstGeom>
          <a:noFill/>
        </p:spPr>
        <p:txBody>
          <a:bodyPr wrap="square">
            <a:spAutoFit/>
          </a:bodyPr>
          <a:lstStyle/>
          <a:p>
            <a:pPr algn="l">
              <a:defRPr sz="1300" b="0">
                <a:solidFill>
                  <a:srgbClr val="555E70"/>
                </a:solidFill>
                <a:latin typeface="Segoe UI"/>
              </a:defRPr>
            </a:pPr>
            <a:r>
              <a:t>Run as background service on startup</a:t>
            </a:r>
          </a:p>
        </p:txBody>
      </p:sp>
      <p:sp>
        <p:nvSpPr>
          <p:cNvPr id="42" name="TextBox 41">
            <a:extLst>
              <a:ext uri="{FF2B5EF4-FFF2-40B4-BE49-F238E27FC236}">
                <a16:creationId xmlns:a16="http://schemas.microsoft.com/office/drawing/2014/main" id="{618EE945-8B6F-BB96-02AB-7EB2A01220DF}"/>
              </a:ext>
            </a:extLst>
          </p:cNvPr>
          <p:cNvSpPr txBox="1"/>
          <p:nvPr/>
        </p:nvSpPr>
        <p:spPr>
          <a:xfrm>
            <a:off x="9363807" y="4063804"/>
            <a:ext cx="1828800" cy="365760"/>
          </a:xfrm>
          <a:prstGeom prst="rect">
            <a:avLst/>
          </a:prstGeom>
          <a:noFill/>
        </p:spPr>
        <p:txBody>
          <a:bodyPr wrap="square">
            <a:spAutoFit/>
          </a:bodyPr>
          <a:lstStyle/>
          <a:p>
            <a:pPr algn="l">
              <a:defRPr sz="1100" b="1">
                <a:solidFill>
                  <a:srgbClr val="007ACC"/>
                </a:solidFill>
                <a:latin typeface="Segoe UI"/>
              </a:defRPr>
            </a:pPr>
            <a:r>
              <a:t>Planned</a:t>
            </a:r>
          </a:p>
        </p:txBody>
      </p:sp>
      <p:sp>
        <p:nvSpPr>
          <p:cNvPr id="43" name="Rectangle 42">
            <a:extLst>
              <a:ext uri="{FF2B5EF4-FFF2-40B4-BE49-F238E27FC236}">
                <a16:creationId xmlns:a16="http://schemas.microsoft.com/office/drawing/2014/main" id="{9BC76076-9C3B-C657-D9A7-C094668D319C}"/>
              </a:ext>
            </a:extLst>
          </p:cNvPr>
          <p:cNvSpPr/>
          <p:nvPr/>
        </p:nvSpPr>
        <p:spPr>
          <a:xfrm>
            <a:off x="494127" y="4612443"/>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D3F1A798-994A-B702-0F5F-4F2010F9650E}"/>
              </a:ext>
            </a:extLst>
          </p:cNvPr>
          <p:cNvSpPr txBox="1"/>
          <p:nvPr/>
        </p:nvSpPr>
        <p:spPr>
          <a:xfrm>
            <a:off x="494127" y="4703883"/>
            <a:ext cx="2743200" cy="365760"/>
          </a:xfrm>
          <a:prstGeom prst="rect">
            <a:avLst/>
          </a:prstGeom>
          <a:noFill/>
        </p:spPr>
        <p:txBody>
          <a:bodyPr wrap="square">
            <a:spAutoFit/>
          </a:bodyPr>
          <a:lstStyle/>
          <a:p>
            <a:pPr algn="l">
              <a:defRPr sz="1400" b="1">
                <a:solidFill>
                  <a:srgbClr val="007ACC"/>
                </a:solidFill>
                <a:latin typeface="Segoe UI"/>
              </a:defRPr>
            </a:pPr>
            <a:r>
              <a:t>Real-time Watchdog</a:t>
            </a:r>
          </a:p>
        </p:txBody>
      </p:sp>
      <p:sp>
        <p:nvSpPr>
          <p:cNvPr id="45" name="TextBox 44">
            <a:extLst>
              <a:ext uri="{FF2B5EF4-FFF2-40B4-BE49-F238E27FC236}">
                <a16:creationId xmlns:a16="http://schemas.microsoft.com/office/drawing/2014/main" id="{76E45C02-1EB2-209B-E2F0-74EF10EB0F5F}"/>
              </a:ext>
            </a:extLst>
          </p:cNvPr>
          <p:cNvSpPr txBox="1"/>
          <p:nvPr/>
        </p:nvSpPr>
        <p:spPr>
          <a:xfrm>
            <a:off x="3420207" y="4703883"/>
            <a:ext cx="5486400" cy="365760"/>
          </a:xfrm>
          <a:prstGeom prst="rect">
            <a:avLst/>
          </a:prstGeom>
          <a:noFill/>
        </p:spPr>
        <p:txBody>
          <a:bodyPr wrap="square">
            <a:spAutoFit/>
          </a:bodyPr>
          <a:lstStyle/>
          <a:p>
            <a:pPr algn="l">
              <a:defRPr sz="1300" b="0">
                <a:solidFill>
                  <a:srgbClr val="555E70"/>
                </a:solidFill>
                <a:latin typeface="Segoe UI"/>
              </a:defRPr>
            </a:pPr>
            <a:r>
              <a:t>inotify / ReadDirectoryChanges for instant alerts</a:t>
            </a:r>
          </a:p>
        </p:txBody>
      </p:sp>
      <p:sp>
        <p:nvSpPr>
          <p:cNvPr id="46" name="TextBox 45">
            <a:extLst>
              <a:ext uri="{FF2B5EF4-FFF2-40B4-BE49-F238E27FC236}">
                <a16:creationId xmlns:a16="http://schemas.microsoft.com/office/drawing/2014/main" id="{FD3FC92E-EADC-A121-4010-BABEF0CC6D16}"/>
              </a:ext>
            </a:extLst>
          </p:cNvPr>
          <p:cNvSpPr txBox="1"/>
          <p:nvPr/>
        </p:nvSpPr>
        <p:spPr>
          <a:xfrm>
            <a:off x="9363807" y="4703883"/>
            <a:ext cx="1828800" cy="365760"/>
          </a:xfrm>
          <a:prstGeom prst="rect">
            <a:avLst/>
          </a:prstGeom>
          <a:noFill/>
        </p:spPr>
        <p:txBody>
          <a:bodyPr wrap="square">
            <a:spAutoFit/>
          </a:bodyPr>
          <a:lstStyle/>
          <a:p>
            <a:pPr algn="l">
              <a:defRPr sz="1100" b="1">
                <a:solidFill>
                  <a:srgbClr val="6B4FBB"/>
                </a:solidFill>
                <a:latin typeface="Segoe UI"/>
              </a:defRPr>
            </a:pPr>
            <a:r>
              <a:t>Future</a:t>
            </a:r>
          </a:p>
        </p:txBody>
      </p:sp>
      <p:sp>
        <p:nvSpPr>
          <p:cNvPr id="47" name="Rectangle 46">
            <a:extLst>
              <a:ext uri="{FF2B5EF4-FFF2-40B4-BE49-F238E27FC236}">
                <a16:creationId xmlns:a16="http://schemas.microsoft.com/office/drawing/2014/main" id="{2EDA1AD2-0B0E-12B5-8B83-2FDFC456514F}"/>
              </a:ext>
            </a:extLst>
          </p:cNvPr>
          <p:cNvSpPr/>
          <p:nvPr/>
        </p:nvSpPr>
        <p:spPr>
          <a:xfrm>
            <a:off x="494127" y="5252523"/>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6FB1C1FF-087C-E929-E179-FA03A6943C76}"/>
              </a:ext>
            </a:extLst>
          </p:cNvPr>
          <p:cNvSpPr txBox="1"/>
          <p:nvPr/>
        </p:nvSpPr>
        <p:spPr>
          <a:xfrm>
            <a:off x="494127" y="5343963"/>
            <a:ext cx="2743200" cy="365760"/>
          </a:xfrm>
          <a:prstGeom prst="rect">
            <a:avLst/>
          </a:prstGeom>
          <a:noFill/>
        </p:spPr>
        <p:txBody>
          <a:bodyPr wrap="square">
            <a:spAutoFit/>
          </a:bodyPr>
          <a:lstStyle/>
          <a:p>
            <a:pPr algn="l">
              <a:defRPr sz="1400" b="1">
                <a:solidFill>
                  <a:srgbClr val="007ACC"/>
                </a:solidFill>
                <a:latin typeface="Segoe UI"/>
              </a:defRPr>
            </a:pPr>
            <a:r>
              <a:t>File Diff Viewer</a:t>
            </a:r>
          </a:p>
        </p:txBody>
      </p:sp>
      <p:sp>
        <p:nvSpPr>
          <p:cNvPr id="49" name="TextBox 48">
            <a:extLst>
              <a:ext uri="{FF2B5EF4-FFF2-40B4-BE49-F238E27FC236}">
                <a16:creationId xmlns:a16="http://schemas.microsoft.com/office/drawing/2014/main" id="{5C0DD459-3871-1C12-EDDC-9739C0FB5976}"/>
              </a:ext>
            </a:extLst>
          </p:cNvPr>
          <p:cNvSpPr txBox="1"/>
          <p:nvPr/>
        </p:nvSpPr>
        <p:spPr>
          <a:xfrm>
            <a:off x="3420207" y="5343963"/>
            <a:ext cx="5486400" cy="365760"/>
          </a:xfrm>
          <a:prstGeom prst="rect">
            <a:avLst/>
          </a:prstGeom>
          <a:noFill/>
        </p:spPr>
        <p:txBody>
          <a:bodyPr wrap="square">
            <a:spAutoFit/>
          </a:bodyPr>
          <a:lstStyle/>
          <a:p>
            <a:pPr algn="l">
              <a:defRPr sz="1300" b="0">
                <a:solidFill>
                  <a:srgbClr val="555E70"/>
                </a:solidFill>
                <a:latin typeface="Segoe UI"/>
              </a:defRPr>
            </a:pPr>
            <a:r>
              <a:t>Show exact content changes between versions</a:t>
            </a:r>
          </a:p>
        </p:txBody>
      </p:sp>
      <p:sp>
        <p:nvSpPr>
          <p:cNvPr id="50" name="TextBox 49">
            <a:extLst>
              <a:ext uri="{FF2B5EF4-FFF2-40B4-BE49-F238E27FC236}">
                <a16:creationId xmlns:a16="http://schemas.microsoft.com/office/drawing/2014/main" id="{B3BE6009-3207-18A3-8F8E-986418562664}"/>
              </a:ext>
            </a:extLst>
          </p:cNvPr>
          <p:cNvSpPr txBox="1"/>
          <p:nvPr/>
        </p:nvSpPr>
        <p:spPr>
          <a:xfrm>
            <a:off x="9363807" y="5343963"/>
            <a:ext cx="1828800" cy="365760"/>
          </a:xfrm>
          <a:prstGeom prst="rect">
            <a:avLst/>
          </a:prstGeom>
          <a:noFill/>
        </p:spPr>
        <p:txBody>
          <a:bodyPr wrap="square">
            <a:spAutoFit/>
          </a:bodyPr>
          <a:lstStyle/>
          <a:p>
            <a:pPr algn="l">
              <a:defRPr sz="1100" b="1">
                <a:solidFill>
                  <a:srgbClr val="007ACC"/>
                </a:solidFill>
                <a:latin typeface="Segoe UI"/>
              </a:defRPr>
            </a:pPr>
            <a:r>
              <a:t>Planned</a:t>
            </a:r>
          </a:p>
        </p:txBody>
      </p:sp>
    </p:spTree>
    <p:extLst>
      <p:ext uri="{BB962C8B-B14F-4D97-AF65-F5344CB8AC3E}">
        <p14:creationId xmlns:p14="http://schemas.microsoft.com/office/powerpoint/2010/main" val="22946340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0E7AD-CD07-2E04-B9D2-94A924265AA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90E9E09-10A6-68B4-C799-C9274E8F3333}"/>
              </a:ext>
            </a:extLst>
          </p:cNvPr>
          <p:cNvSpPr>
            <a:spLocks noGrp="1"/>
          </p:cNvSpPr>
          <p:nvPr>
            <p:ph type="title"/>
          </p:nvPr>
        </p:nvSpPr>
        <p:spPr>
          <a:xfrm>
            <a:off x="538207" y="152507"/>
            <a:ext cx="10834234" cy="612775"/>
          </a:xfrm>
        </p:spPr>
        <p:txBody>
          <a:bodyPr>
            <a:normAutofit/>
          </a:bodyPr>
          <a:lstStyle/>
          <a:p>
            <a:r>
              <a:rPr lang="en-IN" dirty="0">
                <a:solidFill>
                  <a:schemeClr val="accent1"/>
                </a:solidFill>
              </a:rPr>
              <a:t>REST API Endpoints</a:t>
            </a:r>
            <a:endParaRPr lang="en-US" dirty="0">
              <a:solidFill>
                <a:schemeClr val="accent1"/>
              </a:solidFill>
            </a:endParaRPr>
          </a:p>
        </p:txBody>
      </p:sp>
      <p:sp>
        <p:nvSpPr>
          <p:cNvPr id="2" name="Rectangle 1">
            <a:extLst>
              <a:ext uri="{FF2B5EF4-FFF2-40B4-BE49-F238E27FC236}">
                <a16:creationId xmlns:a16="http://schemas.microsoft.com/office/drawing/2014/main" id="{E089AAF0-A187-A0AC-D1EA-0E961F332E1E}"/>
              </a:ext>
            </a:extLst>
          </p:cNvPr>
          <p:cNvSpPr/>
          <p:nvPr/>
        </p:nvSpPr>
        <p:spPr>
          <a:xfrm>
            <a:off x="538207" y="684040"/>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4C3AA55-06BB-112A-C2EE-FFC1E23DCC20}"/>
              </a:ext>
            </a:extLst>
          </p:cNvPr>
          <p:cNvSpPr txBox="1"/>
          <p:nvPr/>
        </p:nvSpPr>
        <p:spPr>
          <a:xfrm>
            <a:off x="546883" y="784273"/>
            <a:ext cx="1371600" cy="320040"/>
          </a:xfrm>
          <a:prstGeom prst="rect">
            <a:avLst/>
          </a:prstGeom>
          <a:noFill/>
        </p:spPr>
        <p:txBody>
          <a:bodyPr wrap="square">
            <a:spAutoFit/>
          </a:bodyPr>
          <a:lstStyle/>
          <a:p>
            <a:pPr algn="l">
              <a:defRPr sz="1100" b="1">
                <a:solidFill>
                  <a:srgbClr val="007ACC"/>
                </a:solidFill>
                <a:latin typeface="Segoe UI"/>
              </a:defRPr>
            </a:pPr>
            <a:r>
              <a:t>Method</a:t>
            </a:r>
          </a:p>
        </p:txBody>
      </p:sp>
      <p:sp>
        <p:nvSpPr>
          <p:cNvPr id="6" name="TextBox 5">
            <a:extLst>
              <a:ext uri="{FF2B5EF4-FFF2-40B4-BE49-F238E27FC236}">
                <a16:creationId xmlns:a16="http://schemas.microsoft.com/office/drawing/2014/main" id="{894D31AF-86F3-5ABF-4D7B-51E29951B2C7}"/>
              </a:ext>
            </a:extLst>
          </p:cNvPr>
          <p:cNvSpPr txBox="1"/>
          <p:nvPr/>
        </p:nvSpPr>
        <p:spPr>
          <a:xfrm>
            <a:off x="2101363" y="784273"/>
            <a:ext cx="3657600" cy="320040"/>
          </a:xfrm>
          <a:prstGeom prst="rect">
            <a:avLst/>
          </a:prstGeom>
          <a:noFill/>
        </p:spPr>
        <p:txBody>
          <a:bodyPr wrap="square">
            <a:spAutoFit/>
          </a:bodyPr>
          <a:lstStyle/>
          <a:p>
            <a:pPr algn="l">
              <a:defRPr sz="1200" b="1">
                <a:solidFill>
                  <a:srgbClr val="007ACC"/>
                </a:solidFill>
                <a:latin typeface="Segoe UI"/>
              </a:defRPr>
            </a:pPr>
            <a:r>
              <a:t>Endpoint</a:t>
            </a:r>
          </a:p>
        </p:txBody>
      </p:sp>
      <p:sp>
        <p:nvSpPr>
          <p:cNvPr id="7" name="TextBox 6">
            <a:extLst>
              <a:ext uri="{FF2B5EF4-FFF2-40B4-BE49-F238E27FC236}">
                <a16:creationId xmlns:a16="http://schemas.microsoft.com/office/drawing/2014/main" id="{22293610-819B-C51C-87EB-067231D75829}"/>
              </a:ext>
            </a:extLst>
          </p:cNvPr>
          <p:cNvSpPr txBox="1"/>
          <p:nvPr/>
        </p:nvSpPr>
        <p:spPr>
          <a:xfrm>
            <a:off x="6033283" y="784273"/>
            <a:ext cx="4572000" cy="320040"/>
          </a:xfrm>
          <a:prstGeom prst="rect">
            <a:avLst/>
          </a:prstGeom>
          <a:noFill/>
        </p:spPr>
        <p:txBody>
          <a:bodyPr wrap="square">
            <a:spAutoFit/>
          </a:bodyPr>
          <a:lstStyle/>
          <a:p>
            <a:pPr algn="l">
              <a:defRPr sz="1200" b="1">
                <a:solidFill>
                  <a:srgbClr val="007ACC"/>
                </a:solidFill>
                <a:latin typeface="Segoe UI"/>
              </a:defRPr>
            </a:pPr>
            <a:r>
              <a:t>Description</a:t>
            </a:r>
          </a:p>
        </p:txBody>
      </p:sp>
      <p:sp>
        <p:nvSpPr>
          <p:cNvPr id="8" name="TextBox 7">
            <a:extLst>
              <a:ext uri="{FF2B5EF4-FFF2-40B4-BE49-F238E27FC236}">
                <a16:creationId xmlns:a16="http://schemas.microsoft.com/office/drawing/2014/main" id="{8FE1C6B4-FDA9-F8E6-1AE2-ABB060699FCC}"/>
              </a:ext>
            </a:extLst>
          </p:cNvPr>
          <p:cNvSpPr txBox="1"/>
          <p:nvPr/>
        </p:nvSpPr>
        <p:spPr>
          <a:xfrm>
            <a:off x="546883" y="1223185"/>
            <a:ext cx="1371600" cy="320040"/>
          </a:xfrm>
          <a:prstGeom prst="rect">
            <a:avLst/>
          </a:prstGeom>
          <a:noFill/>
        </p:spPr>
        <p:txBody>
          <a:bodyPr wrap="square">
            <a:spAutoFit/>
          </a:bodyPr>
          <a:lstStyle/>
          <a:p>
            <a:pPr algn="l">
              <a:defRPr sz="1200" b="1">
                <a:solidFill>
                  <a:srgbClr val="007ACC"/>
                </a:solidFill>
                <a:latin typeface="Segoe UI"/>
              </a:defRPr>
            </a:pPr>
            <a:r>
              <a:t>GET</a:t>
            </a:r>
          </a:p>
        </p:txBody>
      </p:sp>
      <p:sp>
        <p:nvSpPr>
          <p:cNvPr id="9" name="TextBox 8">
            <a:extLst>
              <a:ext uri="{FF2B5EF4-FFF2-40B4-BE49-F238E27FC236}">
                <a16:creationId xmlns:a16="http://schemas.microsoft.com/office/drawing/2014/main" id="{88576FD7-8C3E-72A0-3F42-CBC366B89C45}"/>
              </a:ext>
            </a:extLst>
          </p:cNvPr>
          <p:cNvSpPr txBox="1"/>
          <p:nvPr/>
        </p:nvSpPr>
        <p:spPr>
          <a:xfrm>
            <a:off x="2101363" y="1223185"/>
            <a:ext cx="3657600" cy="320040"/>
          </a:xfrm>
          <a:prstGeom prst="rect">
            <a:avLst/>
          </a:prstGeom>
          <a:noFill/>
        </p:spPr>
        <p:txBody>
          <a:bodyPr wrap="square">
            <a:spAutoFit/>
          </a:bodyPr>
          <a:lstStyle/>
          <a:p>
            <a:pPr algn="l">
              <a:defRPr sz="1200" b="0">
                <a:solidFill>
                  <a:srgbClr val="1A1A2E"/>
                </a:solidFill>
                <a:latin typeface="Consolas"/>
              </a:defRPr>
            </a:pPr>
            <a:r>
              <a:t>/api/status</a:t>
            </a:r>
          </a:p>
        </p:txBody>
      </p:sp>
      <p:sp>
        <p:nvSpPr>
          <p:cNvPr id="10" name="TextBox 9">
            <a:extLst>
              <a:ext uri="{FF2B5EF4-FFF2-40B4-BE49-F238E27FC236}">
                <a16:creationId xmlns:a16="http://schemas.microsoft.com/office/drawing/2014/main" id="{FB9FF2D9-A18E-89EA-ECC7-79604B0729D3}"/>
              </a:ext>
            </a:extLst>
          </p:cNvPr>
          <p:cNvSpPr txBox="1"/>
          <p:nvPr/>
        </p:nvSpPr>
        <p:spPr>
          <a:xfrm>
            <a:off x="6033283" y="1223185"/>
            <a:ext cx="4572000" cy="320040"/>
          </a:xfrm>
          <a:prstGeom prst="rect">
            <a:avLst/>
          </a:prstGeom>
          <a:noFill/>
        </p:spPr>
        <p:txBody>
          <a:bodyPr wrap="square">
            <a:spAutoFit/>
          </a:bodyPr>
          <a:lstStyle/>
          <a:p>
            <a:pPr algn="l">
              <a:defRPr sz="1200" b="0">
                <a:solidFill>
                  <a:srgbClr val="555E70"/>
                </a:solidFill>
                <a:latin typeface="Segoe UI"/>
              </a:defRPr>
            </a:pPr>
            <a:r>
              <a:t>System info + baseline status</a:t>
            </a:r>
          </a:p>
        </p:txBody>
      </p:sp>
      <p:sp>
        <p:nvSpPr>
          <p:cNvPr id="11" name="Rectangle 10">
            <a:extLst>
              <a:ext uri="{FF2B5EF4-FFF2-40B4-BE49-F238E27FC236}">
                <a16:creationId xmlns:a16="http://schemas.microsoft.com/office/drawing/2014/main" id="{8A1D7A0C-1C25-5765-EDFB-8A55B73BFE2A}"/>
              </a:ext>
            </a:extLst>
          </p:cNvPr>
          <p:cNvSpPr/>
          <p:nvPr/>
        </p:nvSpPr>
        <p:spPr>
          <a:xfrm>
            <a:off x="546883" y="1607233"/>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ABC8A6A4-ABC1-DFAE-2FC0-7B644A21B059}"/>
              </a:ext>
            </a:extLst>
          </p:cNvPr>
          <p:cNvSpPr txBox="1"/>
          <p:nvPr/>
        </p:nvSpPr>
        <p:spPr>
          <a:xfrm>
            <a:off x="546883" y="1662096"/>
            <a:ext cx="1371600" cy="320040"/>
          </a:xfrm>
          <a:prstGeom prst="rect">
            <a:avLst/>
          </a:prstGeom>
          <a:noFill/>
        </p:spPr>
        <p:txBody>
          <a:bodyPr wrap="square">
            <a:spAutoFit/>
          </a:bodyPr>
          <a:lstStyle/>
          <a:p>
            <a:pPr algn="l">
              <a:defRPr sz="1200" b="1">
                <a:solidFill>
                  <a:srgbClr val="007ACC"/>
                </a:solidFill>
                <a:latin typeface="Segoe UI"/>
              </a:defRPr>
            </a:pPr>
            <a:r>
              <a:t>GET</a:t>
            </a:r>
          </a:p>
        </p:txBody>
      </p:sp>
      <p:sp>
        <p:nvSpPr>
          <p:cNvPr id="13" name="TextBox 12">
            <a:extLst>
              <a:ext uri="{FF2B5EF4-FFF2-40B4-BE49-F238E27FC236}">
                <a16:creationId xmlns:a16="http://schemas.microsoft.com/office/drawing/2014/main" id="{D6BACE0D-8F04-0AB3-236F-16C3CFC5535F}"/>
              </a:ext>
            </a:extLst>
          </p:cNvPr>
          <p:cNvSpPr txBox="1"/>
          <p:nvPr/>
        </p:nvSpPr>
        <p:spPr>
          <a:xfrm>
            <a:off x="2101363" y="1662096"/>
            <a:ext cx="3657600" cy="320040"/>
          </a:xfrm>
          <a:prstGeom prst="rect">
            <a:avLst/>
          </a:prstGeom>
          <a:noFill/>
        </p:spPr>
        <p:txBody>
          <a:bodyPr wrap="square">
            <a:spAutoFit/>
          </a:bodyPr>
          <a:lstStyle/>
          <a:p>
            <a:pPr algn="l">
              <a:defRPr sz="1200" b="0">
                <a:solidFill>
                  <a:srgbClr val="1A1A2E"/>
                </a:solidFill>
                <a:latin typeface="Consolas"/>
              </a:defRPr>
            </a:pPr>
            <a:r>
              <a:t>/api/files</a:t>
            </a:r>
          </a:p>
        </p:txBody>
      </p:sp>
      <p:sp>
        <p:nvSpPr>
          <p:cNvPr id="14" name="TextBox 13">
            <a:extLst>
              <a:ext uri="{FF2B5EF4-FFF2-40B4-BE49-F238E27FC236}">
                <a16:creationId xmlns:a16="http://schemas.microsoft.com/office/drawing/2014/main" id="{C1835C53-B024-55FA-99ED-9DE8CF7F4F8A}"/>
              </a:ext>
            </a:extLst>
          </p:cNvPr>
          <p:cNvSpPr txBox="1"/>
          <p:nvPr/>
        </p:nvSpPr>
        <p:spPr>
          <a:xfrm>
            <a:off x="6033283" y="1662096"/>
            <a:ext cx="4572000" cy="320040"/>
          </a:xfrm>
          <a:prstGeom prst="rect">
            <a:avLst/>
          </a:prstGeom>
          <a:noFill/>
        </p:spPr>
        <p:txBody>
          <a:bodyPr wrap="square">
            <a:spAutoFit/>
          </a:bodyPr>
          <a:lstStyle/>
          <a:p>
            <a:pPr algn="l">
              <a:defRPr sz="1200" b="0">
                <a:solidFill>
                  <a:srgbClr val="555E70"/>
                </a:solidFill>
                <a:latin typeface="Segoe UI"/>
              </a:defRPr>
            </a:pPr>
            <a:r>
              <a:t>List monitored files with metadata</a:t>
            </a:r>
          </a:p>
        </p:txBody>
      </p:sp>
      <p:sp>
        <p:nvSpPr>
          <p:cNvPr id="15" name="Rectangle 14">
            <a:extLst>
              <a:ext uri="{FF2B5EF4-FFF2-40B4-BE49-F238E27FC236}">
                <a16:creationId xmlns:a16="http://schemas.microsoft.com/office/drawing/2014/main" id="{9931AF46-04AB-4E1A-10BB-0F5390B46F5F}"/>
              </a:ext>
            </a:extLst>
          </p:cNvPr>
          <p:cNvSpPr/>
          <p:nvPr/>
        </p:nvSpPr>
        <p:spPr>
          <a:xfrm>
            <a:off x="546883" y="2046144"/>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268FBB15-C766-F728-5391-5C3F47CCAF17}"/>
              </a:ext>
            </a:extLst>
          </p:cNvPr>
          <p:cNvSpPr txBox="1"/>
          <p:nvPr/>
        </p:nvSpPr>
        <p:spPr>
          <a:xfrm>
            <a:off x="546883" y="2101009"/>
            <a:ext cx="1371600" cy="320040"/>
          </a:xfrm>
          <a:prstGeom prst="rect">
            <a:avLst/>
          </a:prstGeom>
          <a:noFill/>
        </p:spPr>
        <p:txBody>
          <a:bodyPr wrap="square">
            <a:spAutoFit/>
          </a:bodyPr>
          <a:lstStyle/>
          <a:p>
            <a:pPr algn="l">
              <a:defRPr sz="1200" b="1">
                <a:solidFill>
                  <a:srgbClr val="008A4E"/>
                </a:solidFill>
                <a:latin typeface="Segoe UI"/>
              </a:defRPr>
            </a:pPr>
            <a:r>
              <a:t>POST</a:t>
            </a:r>
          </a:p>
        </p:txBody>
      </p:sp>
      <p:sp>
        <p:nvSpPr>
          <p:cNvPr id="17" name="TextBox 16">
            <a:extLst>
              <a:ext uri="{FF2B5EF4-FFF2-40B4-BE49-F238E27FC236}">
                <a16:creationId xmlns:a16="http://schemas.microsoft.com/office/drawing/2014/main" id="{3D751537-175F-5F7F-6942-97C87C15E06C}"/>
              </a:ext>
            </a:extLst>
          </p:cNvPr>
          <p:cNvSpPr txBox="1"/>
          <p:nvPr/>
        </p:nvSpPr>
        <p:spPr>
          <a:xfrm>
            <a:off x="2101363" y="2101009"/>
            <a:ext cx="3657600" cy="320040"/>
          </a:xfrm>
          <a:prstGeom prst="rect">
            <a:avLst/>
          </a:prstGeom>
          <a:noFill/>
        </p:spPr>
        <p:txBody>
          <a:bodyPr wrap="square">
            <a:spAutoFit/>
          </a:bodyPr>
          <a:lstStyle/>
          <a:p>
            <a:pPr algn="l">
              <a:defRPr sz="1200" b="0">
                <a:solidFill>
                  <a:srgbClr val="1A1A2E"/>
                </a:solidFill>
                <a:latin typeface="Consolas"/>
              </a:defRPr>
            </a:pPr>
            <a:r>
              <a:t>/api/baseline/create</a:t>
            </a:r>
          </a:p>
        </p:txBody>
      </p:sp>
      <p:sp>
        <p:nvSpPr>
          <p:cNvPr id="18" name="TextBox 17">
            <a:extLst>
              <a:ext uri="{FF2B5EF4-FFF2-40B4-BE49-F238E27FC236}">
                <a16:creationId xmlns:a16="http://schemas.microsoft.com/office/drawing/2014/main" id="{5CF76873-1338-C2C3-18A6-E6EEA97666ED}"/>
              </a:ext>
            </a:extLst>
          </p:cNvPr>
          <p:cNvSpPr txBox="1"/>
          <p:nvPr/>
        </p:nvSpPr>
        <p:spPr>
          <a:xfrm>
            <a:off x="6033283" y="2101009"/>
            <a:ext cx="4572000" cy="320040"/>
          </a:xfrm>
          <a:prstGeom prst="rect">
            <a:avLst/>
          </a:prstGeom>
          <a:noFill/>
        </p:spPr>
        <p:txBody>
          <a:bodyPr wrap="square">
            <a:spAutoFit/>
          </a:bodyPr>
          <a:lstStyle/>
          <a:p>
            <a:pPr algn="l">
              <a:defRPr sz="1200" b="0">
                <a:solidFill>
                  <a:srgbClr val="555E70"/>
                </a:solidFill>
                <a:latin typeface="Segoe UI"/>
              </a:defRPr>
            </a:pPr>
            <a:r>
              <a:t>Create trusted hash baseline</a:t>
            </a:r>
          </a:p>
        </p:txBody>
      </p:sp>
      <p:sp>
        <p:nvSpPr>
          <p:cNvPr id="19" name="Rectangle 18">
            <a:extLst>
              <a:ext uri="{FF2B5EF4-FFF2-40B4-BE49-F238E27FC236}">
                <a16:creationId xmlns:a16="http://schemas.microsoft.com/office/drawing/2014/main" id="{31CA2F7D-DA48-2F83-6A1B-D0ECB6C95AFC}"/>
              </a:ext>
            </a:extLst>
          </p:cNvPr>
          <p:cNvSpPr/>
          <p:nvPr/>
        </p:nvSpPr>
        <p:spPr>
          <a:xfrm>
            <a:off x="546883" y="2485057"/>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50199E66-BD9E-AE7B-4EB4-907C1BD95AC7}"/>
              </a:ext>
            </a:extLst>
          </p:cNvPr>
          <p:cNvSpPr txBox="1"/>
          <p:nvPr/>
        </p:nvSpPr>
        <p:spPr>
          <a:xfrm>
            <a:off x="546883" y="2539921"/>
            <a:ext cx="1371600" cy="320040"/>
          </a:xfrm>
          <a:prstGeom prst="rect">
            <a:avLst/>
          </a:prstGeom>
          <a:noFill/>
        </p:spPr>
        <p:txBody>
          <a:bodyPr wrap="square">
            <a:spAutoFit/>
          </a:bodyPr>
          <a:lstStyle/>
          <a:p>
            <a:pPr algn="l">
              <a:defRPr sz="1200" b="1">
                <a:solidFill>
                  <a:srgbClr val="008A4E"/>
                </a:solidFill>
                <a:latin typeface="Segoe UI"/>
              </a:defRPr>
            </a:pPr>
            <a:r>
              <a:t>POST</a:t>
            </a:r>
          </a:p>
        </p:txBody>
      </p:sp>
      <p:sp>
        <p:nvSpPr>
          <p:cNvPr id="51" name="TextBox 50">
            <a:extLst>
              <a:ext uri="{FF2B5EF4-FFF2-40B4-BE49-F238E27FC236}">
                <a16:creationId xmlns:a16="http://schemas.microsoft.com/office/drawing/2014/main" id="{E321F0F7-3C48-87B5-49CB-E4689811536E}"/>
              </a:ext>
            </a:extLst>
          </p:cNvPr>
          <p:cNvSpPr txBox="1"/>
          <p:nvPr/>
        </p:nvSpPr>
        <p:spPr>
          <a:xfrm>
            <a:off x="2101363" y="2539921"/>
            <a:ext cx="3657600" cy="320040"/>
          </a:xfrm>
          <a:prstGeom prst="rect">
            <a:avLst/>
          </a:prstGeom>
          <a:noFill/>
        </p:spPr>
        <p:txBody>
          <a:bodyPr wrap="square">
            <a:spAutoFit/>
          </a:bodyPr>
          <a:lstStyle/>
          <a:p>
            <a:pPr algn="l">
              <a:defRPr sz="1200" b="0">
                <a:solidFill>
                  <a:srgbClr val="1A1A2E"/>
                </a:solidFill>
                <a:latin typeface="Consolas"/>
              </a:defRPr>
            </a:pPr>
            <a:r>
              <a:t>/api/scan</a:t>
            </a:r>
          </a:p>
        </p:txBody>
      </p:sp>
      <p:sp>
        <p:nvSpPr>
          <p:cNvPr id="52" name="TextBox 51">
            <a:extLst>
              <a:ext uri="{FF2B5EF4-FFF2-40B4-BE49-F238E27FC236}">
                <a16:creationId xmlns:a16="http://schemas.microsoft.com/office/drawing/2014/main" id="{223549B0-BB2D-6A1F-0648-44AFA4A05442}"/>
              </a:ext>
            </a:extLst>
          </p:cNvPr>
          <p:cNvSpPr txBox="1"/>
          <p:nvPr/>
        </p:nvSpPr>
        <p:spPr>
          <a:xfrm>
            <a:off x="6033283" y="2539921"/>
            <a:ext cx="4572000" cy="320040"/>
          </a:xfrm>
          <a:prstGeom prst="rect">
            <a:avLst/>
          </a:prstGeom>
          <a:noFill/>
        </p:spPr>
        <p:txBody>
          <a:bodyPr wrap="square">
            <a:spAutoFit/>
          </a:bodyPr>
          <a:lstStyle/>
          <a:p>
            <a:pPr algn="l">
              <a:defRPr sz="1200" b="0">
                <a:solidFill>
                  <a:srgbClr val="555E70"/>
                </a:solidFill>
                <a:latin typeface="Segoe UI"/>
              </a:defRPr>
            </a:pPr>
            <a:r>
              <a:t>Run integrity scan vs baseline</a:t>
            </a:r>
          </a:p>
        </p:txBody>
      </p:sp>
      <p:sp>
        <p:nvSpPr>
          <p:cNvPr id="53" name="Rectangle 52">
            <a:extLst>
              <a:ext uri="{FF2B5EF4-FFF2-40B4-BE49-F238E27FC236}">
                <a16:creationId xmlns:a16="http://schemas.microsoft.com/office/drawing/2014/main" id="{E3A34AEF-3CB0-2AA1-8C6C-4055FC9939E6}"/>
              </a:ext>
            </a:extLst>
          </p:cNvPr>
          <p:cNvSpPr/>
          <p:nvPr/>
        </p:nvSpPr>
        <p:spPr>
          <a:xfrm>
            <a:off x="546883" y="2923968"/>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a:extLst>
              <a:ext uri="{FF2B5EF4-FFF2-40B4-BE49-F238E27FC236}">
                <a16:creationId xmlns:a16="http://schemas.microsoft.com/office/drawing/2014/main" id="{37F0428C-F57E-7B77-507E-90A556157D97}"/>
              </a:ext>
            </a:extLst>
          </p:cNvPr>
          <p:cNvSpPr txBox="1"/>
          <p:nvPr/>
        </p:nvSpPr>
        <p:spPr>
          <a:xfrm>
            <a:off x="546883" y="2978833"/>
            <a:ext cx="1371600" cy="320040"/>
          </a:xfrm>
          <a:prstGeom prst="rect">
            <a:avLst/>
          </a:prstGeom>
          <a:noFill/>
        </p:spPr>
        <p:txBody>
          <a:bodyPr wrap="square">
            <a:spAutoFit/>
          </a:bodyPr>
          <a:lstStyle/>
          <a:p>
            <a:pPr algn="l">
              <a:defRPr sz="1200" b="1">
                <a:solidFill>
                  <a:srgbClr val="007ACC"/>
                </a:solidFill>
                <a:latin typeface="Segoe UI"/>
              </a:defRPr>
            </a:pPr>
            <a:r>
              <a:t>GET</a:t>
            </a:r>
          </a:p>
        </p:txBody>
      </p:sp>
      <p:sp>
        <p:nvSpPr>
          <p:cNvPr id="55" name="TextBox 54">
            <a:extLst>
              <a:ext uri="{FF2B5EF4-FFF2-40B4-BE49-F238E27FC236}">
                <a16:creationId xmlns:a16="http://schemas.microsoft.com/office/drawing/2014/main" id="{4AF39A95-C7B9-55BB-3211-2378D4CB7780}"/>
              </a:ext>
            </a:extLst>
          </p:cNvPr>
          <p:cNvSpPr txBox="1"/>
          <p:nvPr/>
        </p:nvSpPr>
        <p:spPr>
          <a:xfrm>
            <a:off x="2101363" y="2978833"/>
            <a:ext cx="3657600" cy="320040"/>
          </a:xfrm>
          <a:prstGeom prst="rect">
            <a:avLst/>
          </a:prstGeom>
          <a:noFill/>
        </p:spPr>
        <p:txBody>
          <a:bodyPr wrap="square">
            <a:spAutoFit/>
          </a:bodyPr>
          <a:lstStyle/>
          <a:p>
            <a:pPr algn="l">
              <a:defRPr sz="1200" b="0">
                <a:solidFill>
                  <a:srgbClr val="1A1A2E"/>
                </a:solidFill>
                <a:latin typeface="Consolas"/>
              </a:defRPr>
            </a:pPr>
            <a:r>
              <a:t>/api/alerts</a:t>
            </a:r>
          </a:p>
        </p:txBody>
      </p:sp>
      <p:sp>
        <p:nvSpPr>
          <p:cNvPr id="56" name="TextBox 55">
            <a:extLst>
              <a:ext uri="{FF2B5EF4-FFF2-40B4-BE49-F238E27FC236}">
                <a16:creationId xmlns:a16="http://schemas.microsoft.com/office/drawing/2014/main" id="{9DCF2645-BAC5-0F12-BE0F-66D5B9A4A217}"/>
              </a:ext>
            </a:extLst>
          </p:cNvPr>
          <p:cNvSpPr txBox="1"/>
          <p:nvPr/>
        </p:nvSpPr>
        <p:spPr>
          <a:xfrm>
            <a:off x="6033283" y="2978833"/>
            <a:ext cx="4572000" cy="320040"/>
          </a:xfrm>
          <a:prstGeom prst="rect">
            <a:avLst/>
          </a:prstGeom>
          <a:noFill/>
        </p:spPr>
        <p:txBody>
          <a:bodyPr wrap="square">
            <a:spAutoFit/>
          </a:bodyPr>
          <a:lstStyle/>
          <a:p>
            <a:pPr algn="l">
              <a:defRPr sz="1200" b="0">
                <a:solidFill>
                  <a:srgbClr val="555E70"/>
                </a:solidFill>
                <a:latin typeface="Segoe UI"/>
              </a:defRPr>
            </a:pPr>
            <a:r>
              <a:t>Get all security alerts</a:t>
            </a:r>
          </a:p>
        </p:txBody>
      </p:sp>
      <p:sp>
        <p:nvSpPr>
          <p:cNvPr id="57" name="Rectangle 56">
            <a:extLst>
              <a:ext uri="{FF2B5EF4-FFF2-40B4-BE49-F238E27FC236}">
                <a16:creationId xmlns:a16="http://schemas.microsoft.com/office/drawing/2014/main" id="{906CA7EB-8499-5688-1134-8EDE41D82FFE}"/>
              </a:ext>
            </a:extLst>
          </p:cNvPr>
          <p:cNvSpPr/>
          <p:nvPr/>
        </p:nvSpPr>
        <p:spPr>
          <a:xfrm>
            <a:off x="546883" y="3362881"/>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a:extLst>
              <a:ext uri="{FF2B5EF4-FFF2-40B4-BE49-F238E27FC236}">
                <a16:creationId xmlns:a16="http://schemas.microsoft.com/office/drawing/2014/main" id="{6817F87E-B0CF-4B22-306B-08BACF157740}"/>
              </a:ext>
            </a:extLst>
          </p:cNvPr>
          <p:cNvSpPr txBox="1"/>
          <p:nvPr/>
        </p:nvSpPr>
        <p:spPr>
          <a:xfrm>
            <a:off x="546883" y="3417744"/>
            <a:ext cx="1371600" cy="320040"/>
          </a:xfrm>
          <a:prstGeom prst="rect">
            <a:avLst/>
          </a:prstGeom>
          <a:noFill/>
        </p:spPr>
        <p:txBody>
          <a:bodyPr wrap="square">
            <a:spAutoFit/>
          </a:bodyPr>
          <a:lstStyle/>
          <a:p>
            <a:pPr algn="l">
              <a:defRPr sz="1200" b="1">
                <a:solidFill>
                  <a:srgbClr val="008A4E"/>
                </a:solidFill>
                <a:latin typeface="Segoe UI"/>
              </a:defRPr>
            </a:pPr>
            <a:r>
              <a:t>POST</a:t>
            </a:r>
          </a:p>
        </p:txBody>
      </p:sp>
      <p:sp>
        <p:nvSpPr>
          <p:cNvPr id="59" name="TextBox 58">
            <a:extLst>
              <a:ext uri="{FF2B5EF4-FFF2-40B4-BE49-F238E27FC236}">
                <a16:creationId xmlns:a16="http://schemas.microsoft.com/office/drawing/2014/main" id="{B43CEF34-FA88-5C23-4FF3-D666BF016BEA}"/>
              </a:ext>
            </a:extLst>
          </p:cNvPr>
          <p:cNvSpPr txBox="1"/>
          <p:nvPr/>
        </p:nvSpPr>
        <p:spPr>
          <a:xfrm>
            <a:off x="2101363" y="3417744"/>
            <a:ext cx="3657600" cy="320040"/>
          </a:xfrm>
          <a:prstGeom prst="rect">
            <a:avLst/>
          </a:prstGeom>
          <a:noFill/>
        </p:spPr>
        <p:txBody>
          <a:bodyPr wrap="square">
            <a:spAutoFit/>
          </a:bodyPr>
          <a:lstStyle/>
          <a:p>
            <a:pPr algn="l">
              <a:defRPr sz="1200" b="0">
                <a:solidFill>
                  <a:srgbClr val="1A1A2E"/>
                </a:solidFill>
                <a:latin typeface="Consolas"/>
              </a:defRPr>
            </a:pPr>
            <a:r>
              <a:t>/api/alerts/clear</a:t>
            </a:r>
          </a:p>
        </p:txBody>
      </p:sp>
      <p:sp>
        <p:nvSpPr>
          <p:cNvPr id="60" name="TextBox 59">
            <a:extLst>
              <a:ext uri="{FF2B5EF4-FFF2-40B4-BE49-F238E27FC236}">
                <a16:creationId xmlns:a16="http://schemas.microsoft.com/office/drawing/2014/main" id="{5080164B-6DEC-0F4E-C15D-5F9CAF237525}"/>
              </a:ext>
            </a:extLst>
          </p:cNvPr>
          <p:cNvSpPr txBox="1"/>
          <p:nvPr/>
        </p:nvSpPr>
        <p:spPr>
          <a:xfrm>
            <a:off x="6033283" y="3417744"/>
            <a:ext cx="4572000" cy="320040"/>
          </a:xfrm>
          <a:prstGeom prst="rect">
            <a:avLst/>
          </a:prstGeom>
          <a:noFill/>
        </p:spPr>
        <p:txBody>
          <a:bodyPr wrap="square">
            <a:spAutoFit/>
          </a:bodyPr>
          <a:lstStyle/>
          <a:p>
            <a:pPr algn="l">
              <a:defRPr sz="1200" b="0">
                <a:solidFill>
                  <a:srgbClr val="555E70"/>
                </a:solidFill>
                <a:latin typeface="Segoe UI"/>
              </a:defRPr>
            </a:pPr>
            <a:r>
              <a:t>Clear alert history</a:t>
            </a:r>
          </a:p>
        </p:txBody>
      </p:sp>
      <p:sp>
        <p:nvSpPr>
          <p:cNvPr id="61" name="Rectangle 60">
            <a:extLst>
              <a:ext uri="{FF2B5EF4-FFF2-40B4-BE49-F238E27FC236}">
                <a16:creationId xmlns:a16="http://schemas.microsoft.com/office/drawing/2014/main" id="{8993FED4-B3A9-7C8B-4BF6-02BBE4BCF15F}"/>
              </a:ext>
            </a:extLst>
          </p:cNvPr>
          <p:cNvSpPr/>
          <p:nvPr/>
        </p:nvSpPr>
        <p:spPr>
          <a:xfrm>
            <a:off x="546883" y="3801793"/>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a:extLst>
              <a:ext uri="{FF2B5EF4-FFF2-40B4-BE49-F238E27FC236}">
                <a16:creationId xmlns:a16="http://schemas.microsoft.com/office/drawing/2014/main" id="{6DCA210E-831A-7374-BDDC-A884BA2AE0C4}"/>
              </a:ext>
            </a:extLst>
          </p:cNvPr>
          <p:cNvSpPr txBox="1"/>
          <p:nvPr/>
        </p:nvSpPr>
        <p:spPr>
          <a:xfrm>
            <a:off x="546883" y="3856657"/>
            <a:ext cx="1371600" cy="320040"/>
          </a:xfrm>
          <a:prstGeom prst="rect">
            <a:avLst/>
          </a:prstGeom>
          <a:noFill/>
        </p:spPr>
        <p:txBody>
          <a:bodyPr wrap="square">
            <a:spAutoFit/>
          </a:bodyPr>
          <a:lstStyle/>
          <a:p>
            <a:pPr algn="l">
              <a:defRPr sz="1200" b="1">
                <a:solidFill>
                  <a:srgbClr val="008A4E"/>
                </a:solidFill>
                <a:latin typeface="Segoe UI"/>
              </a:defRPr>
            </a:pPr>
            <a:r>
              <a:t>POST</a:t>
            </a:r>
          </a:p>
        </p:txBody>
      </p:sp>
      <p:sp>
        <p:nvSpPr>
          <p:cNvPr id="63" name="TextBox 62">
            <a:extLst>
              <a:ext uri="{FF2B5EF4-FFF2-40B4-BE49-F238E27FC236}">
                <a16:creationId xmlns:a16="http://schemas.microsoft.com/office/drawing/2014/main" id="{A82C8F90-C4B9-9262-D4F4-F1D77D01BFE4}"/>
              </a:ext>
            </a:extLst>
          </p:cNvPr>
          <p:cNvSpPr txBox="1"/>
          <p:nvPr/>
        </p:nvSpPr>
        <p:spPr>
          <a:xfrm>
            <a:off x="2101363" y="3856657"/>
            <a:ext cx="3657600" cy="320040"/>
          </a:xfrm>
          <a:prstGeom prst="rect">
            <a:avLst/>
          </a:prstGeom>
          <a:noFill/>
        </p:spPr>
        <p:txBody>
          <a:bodyPr wrap="square">
            <a:spAutoFit/>
          </a:bodyPr>
          <a:lstStyle/>
          <a:p>
            <a:pPr algn="l">
              <a:defRPr sz="1200" b="0">
                <a:solidFill>
                  <a:srgbClr val="1A1A2E"/>
                </a:solidFill>
                <a:latin typeface="Consolas"/>
              </a:defRPr>
            </a:pPr>
            <a:r>
              <a:t>/api/browse</a:t>
            </a:r>
          </a:p>
        </p:txBody>
      </p:sp>
      <p:sp>
        <p:nvSpPr>
          <p:cNvPr id="64" name="TextBox 63">
            <a:extLst>
              <a:ext uri="{FF2B5EF4-FFF2-40B4-BE49-F238E27FC236}">
                <a16:creationId xmlns:a16="http://schemas.microsoft.com/office/drawing/2014/main" id="{C40875EB-FBC9-EF35-E4CC-1FDF5C12DA2B}"/>
              </a:ext>
            </a:extLst>
          </p:cNvPr>
          <p:cNvSpPr txBox="1"/>
          <p:nvPr/>
        </p:nvSpPr>
        <p:spPr>
          <a:xfrm>
            <a:off x="6033283" y="3856657"/>
            <a:ext cx="4572000" cy="320040"/>
          </a:xfrm>
          <a:prstGeom prst="rect">
            <a:avLst/>
          </a:prstGeom>
          <a:noFill/>
        </p:spPr>
        <p:txBody>
          <a:bodyPr wrap="square">
            <a:spAutoFit/>
          </a:bodyPr>
          <a:lstStyle/>
          <a:p>
            <a:pPr algn="l">
              <a:defRPr sz="1200" b="0">
                <a:solidFill>
                  <a:srgbClr val="555E70"/>
                </a:solidFill>
                <a:latin typeface="Segoe UI"/>
              </a:defRPr>
            </a:pPr>
            <a:r>
              <a:t>Browse directory contents</a:t>
            </a:r>
          </a:p>
        </p:txBody>
      </p:sp>
      <p:sp>
        <p:nvSpPr>
          <p:cNvPr id="65" name="Rectangle 64">
            <a:extLst>
              <a:ext uri="{FF2B5EF4-FFF2-40B4-BE49-F238E27FC236}">
                <a16:creationId xmlns:a16="http://schemas.microsoft.com/office/drawing/2014/main" id="{A82A215D-00C5-FB18-9643-AB3DE29F609A}"/>
              </a:ext>
            </a:extLst>
          </p:cNvPr>
          <p:cNvSpPr/>
          <p:nvPr/>
        </p:nvSpPr>
        <p:spPr>
          <a:xfrm>
            <a:off x="546883" y="4240705"/>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a:extLst>
              <a:ext uri="{FF2B5EF4-FFF2-40B4-BE49-F238E27FC236}">
                <a16:creationId xmlns:a16="http://schemas.microsoft.com/office/drawing/2014/main" id="{BD88ED58-442F-6D5C-062F-55FC7AF06358}"/>
              </a:ext>
            </a:extLst>
          </p:cNvPr>
          <p:cNvSpPr txBox="1"/>
          <p:nvPr/>
        </p:nvSpPr>
        <p:spPr>
          <a:xfrm>
            <a:off x="546883" y="4295569"/>
            <a:ext cx="1371600" cy="320040"/>
          </a:xfrm>
          <a:prstGeom prst="rect">
            <a:avLst/>
          </a:prstGeom>
          <a:noFill/>
        </p:spPr>
        <p:txBody>
          <a:bodyPr wrap="square">
            <a:spAutoFit/>
          </a:bodyPr>
          <a:lstStyle/>
          <a:p>
            <a:pPr algn="l">
              <a:defRPr sz="1200" b="1">
                <a:solidFill>
                  <a:srgbClr val="008A4E"/>
                </a:solidFill>
                <a:latin typeface="Segoe UI"/>
              </a:defRPr>
            </a:pPr>
            <a:r>
              <a:t>POST</a:t>
            </a:r>
          </a:p>
        </p:txBody>
      </p:sp>
      <p:sp>
        <p:nvSpPr>
          <p:cNvPr id="67" name="TextBox 66">
            <a:extLst>
              <a:ext uri="{FF2B5EF4-FFF2-40B4-BE49-F238E27FC236}">
                <a16:creationId xmlns:a16="http://schemas.microsoft.com/office/drawing/2014/main" id="{E0BB822F-66D3-42AE-0C65-B3322EEA5729}"/>
              </a:ext>
            </a:extLst>
          </p:cNvPr>
          <p:cNvSpPr txBox="1"/>
          <p:nvPr/>
        </p:nvSpPr>
        <p:spPr>
          <a:xfrm>
            <a:off x="2101363" y="4295569"/>
            <a:ext cx="3657600" cy="320040"/>
          </a:xfrm>
          <a:prstGeom prst="rect">
            <a:avLst/>
          </a:prstGeom>
          <a:noFill/>
        </p:spPr>
        <p:txBody>
          <a:bodyPr wrap="square">
            <a:spAutoFit/>
          </a:bodyPr>
          <a:lstStyle/>
          <a:p>
            <a:pPr algn="l">
              <a:defRPr sz="1200" b="0">
                <a:solidFill>
                  <a:srgbClr val="1A1A2E"/>
                </a:solidFill>
                <a:latin typeface="Consolas"/>
              </a:defRPr>
            </a:pPr>
            <a:r>
              <a:t>/api/custom-files</a:t>
            </a:r>
          </a:p>
        </p:txBody>
      </p:sp>
      <p:sp>
        <p:nvSpPr>
          <p:cNvPr id="68" name="TextBox 67">
            <a:extLst>
              <a:ext uri="{FF2B5EF4-FFF2-40B4-BE49-F238E27FC236}">
                <a16:creationId xmlns:a16="http://schemas.microsoft.com/office/drawing/2014/main" id="{BE041454-4A3D-7DF5-794B-426C6EA074B0}"/>
              </a:ext>
            </a:extLst>
          </p:cNvPr>
          <p:cNvSpPr txBox="1"/>
          <p:nvPr/>
        </p:nvSpPr>
        <p:spPr>
          <a:xfrm>
            <a:off x="6033283" y="4295569"/>
            <a:ext cx="4572000" cy="320040"/>
          </a:xfrm>
          <a:prstGeom prst="rect">
            <a:avLst/>
          </a:prstGeom>
          <a:noFill/>
        </p:spPr>
        <p:txBody>
          <a:bodyPr wrap="square">
            <a:spAutoFit/>
          </a:bodyPr>
          <a:lstStyle/>
          <a:p>
            <a:pPr algn="l">
              <a:defRPr sz="1200" b="0">
                <a:solidFill>
                  <a:srgbClr val="555E70"/>
                </a:solidFill>
                <a:latin typeface="Segoe UI"/>
              </a:defRPr>
            </a:pPr>
            <a:r>
              <a:t>Hash individual file</a:t>
            </a:r>
          </a:p>
        </p:txBody>
      </p:sp>
      <p:sp>
        <p:nvSpPr>
          <p:cNvPr id="69" name="Rectangle 68">
            <a:extLst>
              <a:ext uri="{FF2B5EF4-FFF2-40B4-BE49-F238E27FC236}">
                <a16:creationId xmlns:a16="http://schemas.microsoft.com/office/drawing/2014/main" id="{616BEBEE-5F3F-F85D-D47D-039AB99C2513}"/>
              </a:ext>
            </a:extLst>
          </p:cNvPr>
          <p:cNvSpPr/>
          <p:nvPr/>
        </p:nvSpPr>
        <p:spPr>
          <a:xfrm>
            <a:off x="546883" y="4679617"/>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a:extLst>
              <a:ext uri="{FF2B5EF4-FFF2-40B4-BE49-F238E27FC236}">
                <a16:creationId xmlns:a16="http://schemas.microsoft.com/office/drawing/2014/main" id="{EC3C78B3-6FFE-5918-A17E-57B387AAE154}"/>
              </a:ext>
            </a:extLst>
          </p:cNvPr>
          <p:cNvSpPr txBox="1"/>
          <p:nvPr/>
        </p:nvSpPr>
        <p:spPr>
          <a:xfrm>
            <a:off x="546883" y="4734481"/>
            <a:ext cx="1371600" cy="320040"/>
          </a:xfrm>
          <a:prstGeom prst="rect">
            <a:avLst/>
          </a:prstGeom>
          <a:noFill/>
        </p:spPr>
        <p:txBody>
          <a:bodyPr wrap="square">
            <a:spAutoFit/>
          </a:bodyPr>
          <a:lstStyle/>
          <a:p>
            <a:pPr algn="l">
              <a:defRPr sz="1200" b="1">
                <a:solidFill>
                  <a:srgbClr val="008A4E"/>
                </a:solidFill>
                <a:latin typeface="Segoe UI"/>
              </a:defRPr>
            </a:pPr>
            <a:r>
              <a:t>POST</a:t>
            </a:r>
          </a:p>
        </p:txBody>
      </p:sp>
      <p:sp>
        <p:nvSpPr>
          <p:cNvPr id="71" name="TextBox 70">
            <a:extLst>
              <a:ext uri="{FF2B5EF4-FFF2-40B4-BE49-F238E27FC236}">
                <a16:creationId xmlns:a16="http://schemas.microsoft.com/office/drawing/2014/main" id="{B5F877E3-1256-710C-F968-F3DC2DF2FE4F}"/>
              </a:ext>
            </a:extLst>
          </p:cNvPr>
          <p:cNvSpPr txBox="1"/>
          <p:nvPr/>
        </p:nvSpPr>
        <p:spPr>
          <a:xfrm>
            <a:off x="2101363" y="4734481"/>
            <a:ext cx="3657600" cy="320040"/>
          </a:xfrm>
          <a:prstGeom prst="rect">
            <a:avLst/>
          </a:prstGeom>
          <a:noFill/>
        </p:spPr>
        <p:txBody>
          <a:bodyPr wrap="square">
            <a:spAutoFit/>
          </a:bodyPr>
          <a:lstStyle/>
          <a:p>
            <a:pPr algn="l">
              <a:defRPr sz="1200" b="0">
                <a:solidFill>
                  <a:srgbClr val="1A1A2E"/>
                </a:solidFill>
                <a:latin typeface="Consolas"/>
              </a:defRPr>
            </a:pPr>
            <a:r>
              <a:t>/api/scan-folder</a:t>
            </a:r>
          </a:p>
        </p:txBody>
      </p:sp>
      <p:sp>
        <p:nvSpPr>
          <p:cNvPr id="72" name="TextBox 71">
            <a:extLst>
              <a:ext uri="{FF2B5EF4-FFF2-40B4-BE49-F238E27FC236}">
                <a16:creationId xmlns:a16="http://schemas.microsoft.com/office/drawing/2014/main" id="{55D073FE-546E-8F69-A956-8FBB7BA6CFE6}"/>
              </a:ext>
            </a:extLst>
          </p:cNvPr>
          <p:cNvSpPr txBox="1"/>
          <p:nvPr/>
        </p:nvSpPr>
        <p:spPr>
          <a:xfrm>
            <a:off x="6033283" y="4734481"/>
            <a:ext cx="4572000" cy="320040"/>
          </a:xfrm>
          <a:prstGeom prst="rect">
            <a:avLst/>
          </a:prstGeom>
          <a:noFill/>
        </p:spPr>
        <p:txBody>
          <a:bodyPr wrap="square">
            <a:spAutoFit/>
          </a:bodyPr>
          <a:lstStyle/>
          <a:p>
            <a:pPr algn="l">
              <a:defRPr sz="1200" b="0">
                <a:solidFill>
                  <a:srgbClr val="555E70"/>
                </a:solidFill>
                <a:latin typeface="Segoe UI"/>
              </a:defRPr>
            </a:pPr>
            <a:r>
              <a:t>Scan folder (recursive option)</a:t>
            </a:r>
          </a:p>
        </p:txBody>
      </p:sp>
      <p:sp>
        <p:nvSpPr>
          <p:cNvPr id="73" name="Rectangle 72">
            <a:extLst>
              <a:ext uri="{FF2B5EF4-FFF2-40B4-BE49-F238E27FC236}">
                <a16:creationId xmlns:a16="http://schemas.microsoft.com/office/drawing/2014/main" id="{BBCD74D4-A400-F410-ECB5-FCD76EB3B006}"/>
              </a:ext>
            </a:extLst>
          </p:cNvPr>
          <p:cNvSpPr/>
          <p:nvPr/>
        </p:nvSpPr>
        <p:spPr>
          <a:xfrm>
            <a:off x="546883" y="5118529"/>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a:extLst>
              <a:ext uri="{FF2B5EF4-FFF2-40B4-BE49-F238E27FC236}">
                <a16:creationId xmlns:a16="http://schemas.microsoft.com/office/drawing/2014/main" id="{93A6CA3B-6B0B-1C9D-5F61-2C362E7A5AFD}"/>
              </a:ext>
            </a:extLst>
          </p:cNvPr>
          <p:cNvSpPr txBox="1"/>
          <p:nvPr/>
        </p:nvSpPr>
        <p:spPr>
          <a:xfrm>
            <a:off x="546883" y="5173393"/>
            <a:ext cx="1371600" cy="320040"/>
          </a:xfrm>
          <a:prstGeom prst="rect">
            <a:avLst/>
          </a:prstGeom>
          <a:noFill/>
        </p:spPr>
        <p:txBody>
          <a:bodyPr wrap="square">
            <a:spAutoFit/>
          </a:bodyPr>
          <a:lstStyle/>
          <a:p>
            <a:pPr algn="l">
              <a:defRPr sz="1200" b="1">
                <a:solidFill>
                  <a:srgbClr val="007ACC"/>
                </a:solidFill>
                <a:latin typeface="Segoe UI"/>
              </a:defRPr>
            </a:pPr>
            <a:r>
              <a:t>GET</a:t>
            </a:r>
          </a:p>
        </p:txBody>
      </p:sp>
      <p:sp>
        <p:nvSpPr>
          <p:cNvPr id="75" name="TextBox 74">
            <a:extLst>
              <a:ext uri="{FF2B5EF4-FFF2-40B4-BE49-F238E27FC236}">
                <a16:creationId xmlns:a16="http://schemas.microsoft.com/office/drawing/2014/main" id="{6106FC8F-D527-4EAA-D191-01E3046400FA}"/>
              </a:ext>
            </a:extLst>
          </p:cNvPr>
          <p:cNvSpPr txBox="1"/>
          <p:nvPr/>
        </p:nvSpPr>
        <p:spPr>
          <a:xfrm>
            <a:off x="2101363" y="5173393"/>
            <a:ext cx="3657600" cy="320040"/>
          </a:xfrm>
          <a:prstGeom prst="rect">
            <a:avLst/>
          </a:prstGeom>
          <a:noFill/>
        </p:spPr>
        <p:txBody>
          <a:bodyPr wrap="square">
            <a:spAutoFit/>
          </a:bodyPr>
          <a:lstStyle/>
          <a:p>
            <a:pPr algn="l">
              <a:defRPr sz="1200" b="0">
                <a:solidFill>
                  <a:srgbClr val="1A1A2E"/>
                </a:solidFill>
                <a:latin typeface="Consolas"/>
              </a:defRPr>
            </a:pPr>
            <a:r>
              <a:t>/api/report</a:t>
            </a:r>
          </a:p>
        </p:txBody>
      </p:sp>
      <p:sp>
        <p:nvSpPr>
          <p:cNvPr id="76" name="TextBox 75">
            <a:extLst>
              <a:ext uri="{FF2B5EF4-FFF2-40B4-BE49-F238E27FC236}">
                <a16:creationId xmlns:a16="http://schemas.microsoft.com/office/drawing/2014/main" id="{06978B55-5796-858F-5E43-1CB022ACD65D}"/>
              </a:ext>
            </a:extLst>
          </p:cNvPr>
          <p:cNvSpPr txBox="1"/>
          <p:nvPr/>
        </p:nvSpPr>
        <p:spPr>
          <a:xfrm>
            <a:off x="6033283" y="5173393"/>
            <a:ext cx="4572000" cy="320040"/>
          </a:xfrm>
          <a:prstGeom prst="rect">
            <a:avLst/>
          </a:prstGeom>
          <a:noFill/>
        </p:spPr>
        <p:txBody>
          <a:bodyPr wrap="square">
            <a:spAutoFit/>
          </a:bodyPr>
          <a:lstStyle/>
          <a:p>
            <a:pPr algn="l">
              <a:defRPr sz="1200" b="0">
                <a:solidFill>
                  <a:srgbClr val="555E70"/>
                </a:solidFill>
                <a:latin typeface="Segoe UI"/>
              </a:defRPr>
            </a:pPr>
            <a:r>
              <a:t>Generate security report</a:t>
            </a:r>
          </a:p>
        </p:txBody>
      </p:sp>
      <p:sp>
        <p:nvSpPr>
          <p:cNvPr id="77" name="Rectangle 76">
            <a:extLst>
              <a:ext uri="{FF2B5EF4-FFF2-40B4-BE49-F238E27FC236}">
                <a16:creationId xmlns:a16="http://schemas.microsoft.com/office/drawing/2014/main" id="{B383A95E-EA3D-843F-3C70-CC9C77D79561}"/>
              </a:ext>
            </a:extLst>
          </p:cNvPr>
          <p:cNvSpPr/>
          <p:nvPr/>
        </p:nvSpPr>
        <p:spPr>
          <a:xfrm>
            <a:off x="546883" y="5557441"/>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a:extLst>
              <a:ext uri="{FF2B5EF4-FFF2-40B4-BE49-F238E27FC236}">
                <a16:creationId xmlns:a16="http://schemas.microsoft.com/office/drawing/2014/main" id="{36F8F19B-FA3B-D708-1FEE-9E1D8D2BD82E}"/>
              </a:ext>
            </a:extLst>
          </p:cNvPr>
          <p:cNvSpPr txBox="1"/>
          <p:nvPr/>
        </p:nvSpPr>
        <p:spPr>
          <a:xfrm>
            <a:off x="546883" y="5612304"/>
            <a:ext cx="1371600" cy="320040"/>
          </a:xfrm>
          <a:prstGeom prst="rect">
            <a:avLst/>
          </a:prstGeom>
          <a:noFill/>
        </p:spPr>
        <p:txBody>
          <a:bodyPr wrap="square">
            <a:spAutoFit/>
          </a:bodyPr>
          <a:lstStyle/>
          <a:p>
            <a:pPr algn="l">
              <a:defRPr sz="1200" b="1">
                <a:solidFill>
                  <a:srgbClr val="007ACC"/>
                </a:solidFill>
                <a:latin typeface="Segoe UI"/>
              </a:defRPr>
            </a:pPr>
            <a:r>
              <a:t>GET</a:t>
            </a:r>
          </a:p>
        </p:txBody>
      </p:sp>
      <p:sp>
        <p:nvSpPr>
          <p:cNvPr id="79" name="TextBox 78">
            <a:extLst>
              <a:ext uri="{FF2B5EF4-FFF2-40B4-BE49-F238E27FC236}">
                <a16:creationId xmlns:a16="http://schemas.microsoft.com/office/drawing/2014/main" id="{64FB53D4-CA34-9D0D-5494-7A70A9E65930}"/>
              </a:ext>
            </a:extLst>
          </p:cNvPr>
          <p:cNvSpPr txBox="1"/>
          <p:nvPr/>
        </p:nvSpPr>
        <p:spPr>
          <a:xfrm>
            <a:off x="2101363" y="5612304"/>
            <a:ext cx="3657600" cy="320040"/>
          </a:xfrm>
          <a:prstGeom prst="rect">
            <a:avLst/>
          </a:prstGeom>
          <a:noFill/>
        </p:spPr>
        <p:txBody>
          <a:bodyPr wrap="square">
            <a:spAutoFit/>
          </a:bodyPr>
          <a:lstStyle/>
          <a:p>
            <a:pPr algn="l">
              <a:defRPr sz="1200" b="0">
                <a:solidFill>
                  <a:srgbClr val="1A1A2E"/>
                </a:solidFill>
                <a:latin typeface="Consolas"/>
              </a:defRPr>
            </a:pPr>
            <a:r>
              <a:t>/api/history</a:t>
            </a:r>
          </a:p>
        </p:txBody>
      </p:sp>
      <p:sp>
        <p:nvSpPr>
          <p:cNvPr id="80" name="TextBox 79">
            <a:extLst>
              <a:ext uri="{FF2B5EF4-FFF2-40B4-BE49-F238E27FC236}">
                <a16:creationId xmlns:a16="http://schemas.microsoft.com/office/drawing/2014/main" id="{CB22C714-0F4C-CE87-0B36-946D22D29905}"/>
              </a:ext>
            </a:extLst>
          </p:cNvPr>
          <p:cNvSpPr txBox="1"/>
          <p:nvPr/>
        </p:nvSpPr>
        <p:spPr>
          <a:xfrm>
            <a:off x="6033283" y="5612304"/>
            <a:ext cx="4572000" cy="320040"/>
          </a:xfrm>
          <a:prstGeom prst="rect">
            <a:avLst/>
          </a:prstGeom>
          <a:noFill/>
        </p:spPr>
        <p:txBody>
          <a:bodyPr wrap="square">
            <a:spAutoFit/>
          </a:bodyPr>
          <a:lstStyle/>
          <a:p>
            <a:pPr algn="l">
              <a:defRPr sz="1200" b="0">
                <a:solidFill>
                  <a:srgbClr val="555E70"/>
                </a:solidFill>
                <a:latin typeface="Segoe UI"/>
              </a:defRPr>
            </a:pPr>
            <a:r>
              <a:t>Get all scan history</a:t>
            </a:r>
          </a:p>
        </p:txBody>
      </p:sp>
      <p:sp>
        <p:nvSpPr>
          <p:cNvPr id="81" name="Rectangle 80">
            <a:extLst>
              <a:ext uri="{FF2B5EF4-FFF2-40B4-BE49-F238E27FC236}">
                <a16:creationId xmlns:a16="http://schemas.microsoft.com/office/drawing/2014/main" id="{51410BE4-D9D8-01F2-28D3-21270300DF33}"/>
              </a:ext>
            </a:extLst>
          </p:cNvPr>
          <p:cNvSpPr/>
          <p:nvPr/>
        </p:nvSpPr>
        <p:spPr>
          <a:xfrm>
            <a:off x="546883" y="5996352"/>
            <a:ext cx="10789920" cy="9144"/>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525665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99C11-17BB-10DA-08F2-4D92540F53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BDE913-B6F4-DC68-C40A-E21D29F2A3FE}"/>
              </a:ext>
            </a:extLst>
          </p:cNvPr>
          <p:cNvSpPr>
            <a:spLocks noGrp="1"/>
          </p:cNvSpPr>
          <p:nvPr>
            <p:ph type="title"/>
          </p:nvPr>
        </p:nvSpPr>
        <p:spPr>
          <a:xfrm>
            <a:off x="538207" y="152507"/>
            <a:ext cx="10834234" cy="612775"/>
          </a:xfrm>
        </p:spPr>
        <p:txBody>
          <a:bodyPr>
            <a:normAutofit/>
          </a:bodyPr>
          <a:lstStyle/>
          <a:p>
            <a:r>
              <a:rPr lang="en-IN" dirty="0">
                <a:solidFill>
                  <a:schemeClr val="accent1"/>
                </a:solidFill>
              </a:rPr>
              <a:t>References</a:t>
            </a:r>
            <a:endParaRPr lang="en-US" dirty="0">
              <a:solidFill>
                <a:schemeClr val="accent1"/>
              </a:solidFill>
            </a:endParaRPr>
          </a:p>
        </p:txBody>
      </p:sp>
      <p:sp>
        <p:nvSpPr>
          <p:cNvPr id="2" name="Rectangle 1">
            <a:extLst>
              <a:ext uri="{FF2B5EF4-FFF2-40B4-BE49-F238E27FC236}">
                <a16:creationId xmlns:a16="http://schemas.microsoft.com/office/drawing/2014/main" id="{30AEF212-86AE-FA51-71D3-99CB584F59E4}"/>
              </a:ext>
            </a:extLst>
          </p:cNvPr>
          <p:cNvSpPr/>
          <p:nvPr/>
        </p:nvSpPr>
        <p:spPr>
          <a:xfrm>
            <a:off x="538207" y="684040"/>
            <a:ext cx="10515600" cy="18288"/>
          </a:xfrm>
          <a:prstGeom prst="rect">
            <a:avLst/>
          </a:prstGeom>
          <a:solidFill>
            <a:srgbClr val="DDD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9B77ED1-0125-129E-9892-6D6EBD561C9A}"/>
              </a:ext>
            </a:extLst>
          </p:cNvPr>
          <p:cNvSpPr txBox="1"/>
          <p:nvPr/>
        </p:nvSpPr>
        <p:spPr>
          <a:xfrm>
            <a:off x="527534" y="942539"/>
            <a:ext cx="10058400" cy="365760"/>
          </a:xfrm>
          <a:prstGeom prst="rect">
            <a:avLst/>
          </a:prstGeom>
          <a:noFill/>
        </p:spPr>
        <p:txBody>
          <a:bodyPr wrap="square">
            <a:spAutoFit/>
          </a:bodyPr>
          <a:lstStyle/>
          <a:p>
            <a:pPr algn="l">
              <a:defRPr sz="1300" b="0">
                <a:solidFill>
                  <a:srgbClr val="555E70"/>
                </a:solidFill>
                <a:latin typeface="Segoe UI"/>
              </a:defRPr>
            </a:pPr>
            <a:r>
              <a:t>[1]  OSSEC Syscheck Documentation — ossec.net</a:t>
            </a:r>
          </a:p>
        </p:txBody>
      </p:sp>
      <p:sp>
        <p:nvSpPr>
          <p:cNvPr id="21" name="TextBox 20">
            <a:extLst>
              <a:ext uri="{FF2B5EF4-FFF2-40B4-BE49-F238E27FC236}">
                <a16:creationId xmlns:a16="http://schemas.microsoft.com/office/drawing/2014/main" id="{D708C8B7-EFA0-6B82-4AF8-47CE34305FCB}"/>
              </a:ext>
            </a:extLst>
          </p:cNvPr>
          <p:cNvSpPr txBox="1"/>
          <p:nvPr/>
        </p:nvSpPr>
        <p:spPr>
          <a:xfrm>
            <a:off x="527534" y="1399739"/>
            <a:ext cx="10058400" cy="365760"/>
          </a:xfrm>
          <a:prstGeom prst="rect">
            <a:avLst/>
          </a:prstGeom>
          <a:noFill/>
        </p:spPr>
        <p:txBody>
          <a:bodyPr wrap="square">
            <a:spAutoFit/>
          </a:bodyPr>
          <a:lstStyle/>
          <a:p>
            <a:pPr algn="l">
              <a:defRPr sz="1300" b="0">
                <a:solidFill>
                  <a:srgbClr val="555E70"/>
                </a:solidFill>
                <a:latin typeface="Segoe UI"/>
              </a:defRPr>
            </a:pPr>
            <a:r>
              <a:t>[2]  AccuKnox — Top FIM Tools 2025 — accuknox.com</a:t>
            </a:r>
          </a:p>
        </p:txBody>
      </p:sp>
      <p:sp>
        <p:nvSpPr>
          <p:cNvPr id="22" name="TextBox 21">
            <a:extLst>
              <a:ext uri="{FF2B5EF4-FFF2-40B4-BE49-F238E27FC236}">
                <a16:creationId xmlns:a16="http://schemas.microsoft.com/office/drawing/2014/main" id="{5B1F9C55-6FB6-2F9D-5F05-2FD2AA16400E}"/>
              </a:ext>
            </a:extLst>
          </p:cNvPr>
          <p:cNvSpPr txBox="1"/>
          <p:nvPr/>
        </p:nvSpPr>
        <p:spPr>
          <a:xfrm>
            <a:off x="527534" y="1856939"/>
            <a:ext cx="10058400" cy="365760"/>
          </a:xfrm>
          <a:prstGeom prst="rect">
            <a:avLst/>
          </a:prstGeom>
          <a:noFill/>
        </p:spPr>
        <p:txBody>
          <a:bodyPr wrap="square">
            <a:spAutoFit/>
          </a:bodyPr>
          <a:lstStyle/>
          <a:p>
            <a:pPr algn="l">
              <a:defRPr sz="1300" b="0">
                <a:solidFill>
                  <a:srgbClr val="555E70"/>
                </a:solidFill>
                <a:latin typeface="Segoe UI"/>
              </a:defRPr>
            </a:pPr>
            <a:r>
              <a:t>[3]  Comparitech — Best FIM Tools — comparitech.com</a:t>
            </a:r>
          </a:p>
        </p:txBody>
      </p:sp>
      <p:sp>
        <p:nvSpPr>
          <p:cNvPr id="23" name="TextBox 22">
            <a:extLst>
              <a:ext uri="{FF2B5EF4-FFF2-40B4-BE49-F238E27FC236}">
                <a16:creationId xmlns:a16="http://schemas.microsoft.com/office/drawing/2014/main" id="{7B6BBB4B-593D-DF53-BDF6-E4858F125094}"/>
              </a:ext>
            </a:extLst>
          </p:cNvPr>
          <p:cNvSpPr txBox="1"/>
          <p:nvPr/>
        </p:nvSpPr>
        <p:spPr>
          <a:xfrm>
            <a:off x="527534" y="2314139"/>
            <a:ext cx="10058400" cy="365760"/>
          </a:xfrm>
          <a:prstGeom prst="rect">
            <a:avLst/>
          </a:prstGeom>
          <a:noFill/>
        </p:spPr>
        <p:txBody>
          <a:bodyPr wrap="square">
            <a:spAutoFit/>
          </a:bodyPr>
          <a:lstStyle/>
          <a:p>
            <a:pPr algn="l">
              <a:defRPr sz="1300" b="0">
                <a:solidFill>
                  <a:srgbClr val="555E70"/>
                </a:solidFill>
                <a:latin typeface="Segoe UI"/>
              </a:defRPr>
            </a:pPr>
            <a:r>
              <a:t>[4]  SolarWinds — FIM Software — solarwinds.com</a:t>
            </a:r>
          </a:p>
        </p:txBody>
      </p:sp>
      <p:sp>
        <p:nvSpPr>
          <p:cNvPr id="24" name="TextBox 23">
            <a:extLst>
              <a:ext uri="{FF2B5EF4-FFF2-40B4-BE49-F238E27FC236}">
                <a16:creationId xmlns:a16="http://schemas.microsoft.com/office/drawing/2014/main" id="{ABB9A4BB-28E6-DCBA-039B-A8F48583A95B}"/>
              </a:ext>
            </a:extLst>
          </p:cNvPr>
          <p:cNvSpPr txBox="1"/>
          <p:nvPr/>
        </p:nvSpPr>
        <p:spPr>
          <a:xfrm>
            <a:off x="527534" y="2771339"/>
            <a:ext cx="10058400" cy="365760"/>
          </a:xfrm>
          <a:prstGeom prst="rect">
            <a:avLst/>
          </a:prstGeom>
          <a:noFill/>
        </p:spPr>
        <p:txBody>
          <a:bodyPr wrap="square">
            <a:spAutoFit/>
          </a:bodyPr>
          <a:lstStyle/>
          <a:p>
            <a:pPr algn="l">
              <a:defRPr sz="1300" b="0">
                <a:solidFill>
                  <a:srgbClr val="555E70"/>
                </a:solidFill>
                <a:latin typeface="Segoe UI"/>
              </a:defRPr>
            </a:pPr>
            <a:r>
              <a:t>[5]  WafaTech — Mastering AIDE — wafatech.sa</a:t>
            </a:r>
          </a:p>
        </p:txBody>
      </p:sp>
      <p:sp>
        <p:nvSpPr>
          <p:cNvPr id="25" name="TextBox 24">
            <a:extLst>
              <a:ext uri="{FF2B5EF4-FFF2-40B4-BE49-F238E27FC236}">
                <a16:creationId xmlns:a16="http://schemas.microsoft.com/office/drawing/2014/main" id="{F98A1FB9-DB89-3C5E-E766-F601057D24B4}"/>
              </a:ext>
            </a:extLst>
          </p:cNvPr>
          <p:cNvSpPr txBox="1"/>
          <p:nvPr/>
        </p:nvSpPr>
        <p:spPr>
          <a:xfrm>
            <a:off x="527534" y="3228539"/>
            <a:ext cx="10058400" cy="365760"/>
          </a:xfrm>
          <a:prstGeom prst="rect">
            <a:avLst/>
          </a:prstGeom>
          <a:noFill/>
        </p:spPr>
        <p:txBody>
          <a:bodyPr wrap="square">
            <a:spAutoFit/>
          </a:bodyPr>
          <a:lstStyle/>
          <a:p>
            <a:pPr algn="l">
              <a:defRPr sz="1300" b="0">
                <a:solidFill>
                  <a:srgbClr val="555E70"/>
                </a:solidFill>
                <a:latin typeface="Segoe UI"/>
              </a:defRPr>
            </a:pPr>
            <a:r>
              <a:t>[6]  OSSEC GitHub — Hash Discussion — github.com/ossec</a:t>
            </a:r>
          </a:p>
        </p:txBody>
      </p:sp>
      <p:sp>
        <p:nvSpPr>
          <p:cNvPr id="26" name="TextBox 25">
            <a:extLst>
              <a:ext uri="{FF2B5EF4-FFF2-40B4-BE49-F238E27FC236}">
                <a16:creationId xmlns:a16="http://schemas.microsoft.com/office/drawing/2014/main" id="{94C6D14A-B5AE-A426-35EC-D196A635D54B}"/>
              </a:ext>
            </a:extLst>
          </p:cNvPr>
          <p:cNvSpPr txBox="1"/>
          <p:nvPr/>
        </p:nvSpPr>
        <p:spPr>
          <a:xfrm>
            <a:off x="527534" y="3685739"/>
            <a:ext cx="10058400" cy="365760"/>
          </a:xfrm>
          <a:prstGeom prst="rect">
            <a:avLst/>
          </a:prstGeom>
          <a:noFill/>
        </p:spPr>
        <p:txBody>
          <a:bodyPr wrap="square">
            <a:spAutoFit/>
          </a:bodyPr>
          <a:lstStyle/>
          <a:p>
            <a:pPr algn="l">
              <a:defRPr sz="1300" b="0">
                <a:solidFill>
                  <a:srgbClr val="555E70"/>
                </a:solidFill>
                <a:latin typeface="Segoe UI"/>
              </a:defRPr>
            </a:pPr>
            <a:r>
              <a:t>[7]  MojoAuth — MD5 vs SHA-256 — mojoauth.com</a:t>
            </a:r>
          </a:p>
        </p:txBody>
      </p:sp>
      <p:sp>
        <p:nvSpPr>
          <p:cNvPr id="27" name="TextBox 26">
            <a:extLst>
              <a:ext uri="{FF2B5EF4-FFF2-40B4-BE49-F238E27FC236}">
                <a16:creationId xmlns:a16="http://schemas.microsoft.com/office/drawing/2014/main" id="{73C405C8-24D1-CFC7-218E-3D8E4CA18596}"/>
              </a:ext>
            </a:extLst>
          </p:cNvPr>
          <p:cNvSpPr txBox="1"/>
          <p:nvPr/>
        </p:nvSpPr>
        <p:spPr>
          <a:xfrm>
            <a:off x="527534" y="4142939"/>
            <a:ext cx="10058400" cy="365760"/>
          </a:xfrm>
          <a:prstGeom prst="rect">
            <a:avLst/>
          </a:prstGeom>
          <a:noFill/>
        </p:spPr>
        <p:txBody>
          <a:bodyPr wrap="square">
            <a:spAutoFit/>
          </a:bodyPr>
          <a:lstStyle/>
          <a:p>
            <a:pPr algn="l">
              <a:defRPr sz="1300" b="0">
                <a:solidFill>
                  <a:srgbClr val="555E70"/>
                </a:solidFill>
                <a:latin typeface="Segoe UI"/>
              </a:defRPr>
            </a:pPr>
            <a:r>
              <a:t>[8]  DNSstuff — FIM for Enterprises — dnsstuff.com</a:t>
            </a:r>
          </a:p>
        </p:txBody>
      </p:sp>
      <p:sp>
        <p:nvSpPr>
          <p:cNvPr id="28" name="TextBox 27">
            <a:extLst>
              <a:ext uri="{FF2B5EF4-FFF2-40B4-BE49-F238E27FC236}">
                <a16:creationId xmlns:a16="http://schemas.microsoft.com/office/drawing/2014/main" id="{4F9E988F-7650-DB76-3B66-52365E40639D}"/>
              </a:ext>
            </a:extLst>
          </p:cNvPr>
          <p:cNvSpPr txBox="1"/>
          <p:nvPr/>
        </p:nvSpPr>
        <p:spPr>
          <a:xfrm>
            <a:off x="527534" y="4600139"/>
            <a:ext cx="10058400" cy="365760"/>
          </a:xfrm>
          <a:prstGeom prst="rect">
            <a:avLst/>
          </a:prstGeom>
          <a:noFill/>
        </p:spPr>
        <p:txBody>
          <a:bodyPr wrap="square">
            <a:spAutoFit/>
          </a:bodyPr>
          <a:lstStyle/>
          <a:p>
            <a:pPr algn="l">
              <a:defRPr sz="1300" b="0">
                <a:solidFill>
                  <a:srgbClr val="555E70"/>
                </a:solidFill>
                <a:latin typeface="Segoe UI"/>
              </a:defRPr>
            </a:pPr>
            <a:r>
              <a:t>[9]  TrustRadius — FIM Reviews — trustradius.com</a:t>
            </a:r>
          </a:p>
        </p:txBody>
      </p:sp>
      <p:sp>
        <p:nvSpPr>
          <p:cNvPr id="29" name="TextBox 28">
            <a:extLst>
              <a:ext uri="{FF2B5EF4-FFF2-40B4-BE49-F238E27FC236}">
                <a16:creationId xmlns:a16="http://schemas.microsoft.com/office/drawing/2014/main" id="{9567E906-247D-214E-D496-4600710839A8}"/>
              </a:ext>
            </a:extLst>
          </p:cNvPr>
          <p:cNvSpPr txBox="1"/>
          <p:nvPr/>
        </p:nvSpPr>
        <p:spPr>
          <a:xfrm>
            <a:off x="527534" y="5057339"/>
            <a:ext cx="10058400" cy="365760"/>
          </a:xfrm>
          <a:prstGeom prst="rect">
            <a:avLst/>
          </a:prstGeom>
          <a:noFill/>
        </p:spPr>
        <p:txBody>
          <a:bodyPr wrap="square">
            <a:spAutoFit/>
          </a:bodyPr>
          <a:lstStyle/>
          <a:p>
            <a:pPr algn="l">
              <a:defRPr sz="1300" b="0">
                <a:solidFill>
                  <a:srgbClr val="555E70"/>
                </a:solidFill>
                <a:latin typeface="Segoe UI"/>
              </a:defRPr>
            </a:pPr>
            <a:r>
              <a:t>[10] PCI DSS v4.0 Requirement 11.5 — pcisecuritystandards.org</a:t>
            </a:r>
          </a:p>
        </p:txBody>
      </p:sp>
    </p:spTree>
    <p:extLst>
      <p:ext uri="{BB962C8B-B14F-4D97-AF65-F5344CB8AC3E}">
        <p14:creationId xmlns:p14="http://schemas.microsoft.com/office/powerpoint/2010/main" val="2675508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140E22D-AC5C-F97A-F2D2-1173DA81F601}"/>
              </a:ext>
            </a:extLst>
          </p:cNvPr>
          <p:cNvSpPr txBox="1"/>
          <p:nvPr/>
        </p:nvSpPr>
        <p:spPr>
          <a:xfrm>
            <a:off x="3042871" y="1076209"/>
            <a:ext cx="6106258" cy="1323439"/>
          </a:xfrm>
          <a:prstGeom prst="rect">
            <a:avLst/>
          </a:prstGeom>
          <a:noFill/>
        </p:spPr>
        <p:txBody>
          <a:bodyPr wrap="square">
            <a:spAutoFit/>
          </a:bodyPr>
          <a:lstStyle/>
          <a:p>
            <a:pPr algn="ctr">
              <a:defRPr sz="6000" b="0">
                <a:solidFill>
                  <a:srgbClr val="1A1A2E"/>
                </a:solidFill>
                <a:latin typeface="Segoe UI"/>
              </a:defRPr>
            </a:pPr>
            <a:r>
              <a:rPr lang="en-IN" sz="8000" dirty="0"/>
              <a:t>🛡️</a:t>
            </a:r>
          </a:p>
        </p:txBody>
      </p:sp>
      <p:sp>
        <p:nvSpPr>
          <p:cNvPr id="7" name="TextBox 6">
            <a:extLst>
              <a:ext uri="{FF2B5EF4-FFF2-40B4-BE49-F238E27FC236}">
                <a16:creationId xmlns:a16="http://schemas.microsoft.com/office/drawing/2014/main" id="{654AFF17-A723-FC51-664C-989F6BA302A8}"/>
              </a:ext>
            </a:extLst>
          </p:cNvPr>
          <p:cNvSpPr txBox="1"/>
          <p:nvPr/>
        </p:nvSpPr>
        <p:spPr>
          <a:xfrm>
            <a:off x="15240" y="2399648"/>
            <a:ext cx="12161520" cy="769441"/>
          </a:xfrm>
          <a:prstGeom prst="rect">
            <a:avLst/>
          </a:prstGeom>
          <a:noFill/>
        </p:spPr>
        <p:txBody>
          <a:bodyPr wrap="square">
            <a:spAutoFit/>
          </a:bodyPr>
          <a:lstStyle/>
          <a:p>
            <a:pPr algn="ctr">
              <a:defRPr sz="4400" b="1">
                <a:solidFill>
                  <a:srgbClr val="007ACC"/>
                </a:solidFill>
                <a:latin typeface="Segoe UI"/>
              </a:defRPr>
            </a:pPr>
            <a:r>
              <a:rPr dirty="0">
                <a:solidFill>
                  <a:schemeClr val="bg2"/>
                </a:solidFill>
              </a:rPr>
              <a:t>Thank You!</a:t>
            </a:r>
          </a:p>
        </p:txBody>
      </p:sp>
      <p:sp>
        <p:nvSpPr>
          <p:cNvPr id="8" name="TextBox 7">
            <a:extLst>
              <a:ext uri="{FF2B5EF4-FFF2-40B4-BE49-F238E27FC236}">
                <a16:creationId xmlns:a16="http://schemas.microsoft.com/office/drawing/2014/main" id="{3513729C-A4D1-FB9F-19AB-06BC8450923C}"/>
              </a:ext>
            </a:extLst>
          </p:cNvPr>
          <p:cNvSpPr txBox="1"/>
          <p:nvPr/>
        </p:nvSpPr>
        <p:spPr>
          <a:xfrm>
            <a:off x="0" y="3108960"/>
            <a:ext cx="12161520" cy="400110"/>
          </a:xfrm>
          <a:prstGeom prst="rect">
            <a:avLst/>
          </a:prstGeom>
          <a:noFill/>
        </p:spPr>
        <p:txBody>
          <a:bodyPr wrap="square">
            <a:spAutoFit/>
          </a:bodyPr>
          <a:lstStyle/>
          <a:p>
            <a:pPr algn="ctr">
              <a:defRPr sz="2000" b="0">
                <a:solidFill>
                  <a:srgbClr val="555E70"/>
                </a:solidFill>
                <a:latin typeface="Segoe UI"/>
              </a:defRPr>
            </a:pPr>
            <a:r>
              <a:rPr dirty="0">
                <a:solidFill>
                  <a:schemeClr val="bg1">
                    <a:lumMod val="75000"/>
                  </a:schemeClr>
                </a:solidFill>
              </a:rPr>
              <a:t>File Integrity Guardian v1.0</a:t>
            </a:r>
          </a:p>
        </p:txBody>
      </p:sp>
      <p:sp>
        <p:nvSpPr>
          <p:cNvPr id="9" name="TextBox 8">
            <a:extLst>
              <a:ext uri="{FF2B5EF4-FFF2-40B4-BE49-F238E27FC236}">
                <a16:creationId xmlns:a16="http://schemas.microsoft.com/office/drawing/2014/main" id="{2D9A9ED7-1A0E-78C4-7DD0-84E1001F2B33}"/>
              </a:ext>
            </a:extLst>
          </p:cNvPr>
          <p:cNvSpPr txBox="1"/>
          <p:nvPr/>
        </p:nvSpPr>
        <p:spPr>
          <a:xfrm>
            <a:off x="30480" y="3540207"/>
            <a:ext cx="12161520" cy="307777"/>
          </a:xfrm>
          <a:prstGeom prst="rect">
            <a:avLst/>
          </a:prstGeom>
          <a:noFill/>
        </p:spPr>
        <p:txBody>
          <a:bodyPr wrap="square">
            <a:spAutoFit/>
          </a:bodyPr>
          <a:lstStyle/>
          <a:p>
            <a:pPr algn="ctr">
              <a:defRPr sz="1400" b="0">
                <a:solidFill>
                  <a:srgbClr val="8890A0"/>
                </a:solidFill>
                <a:latin typeface="Segoe UI"/>
              </a:defRPr>
            </a:pPr>
            <a:r>
              <a:rPr dirty="0">
                <a:solidFill>
                  <a:schemeClr val="bg1">
                    <a:lumMod val="75000"/>
                  </a:schemeClr>
                </a:solidFill>
              </a:rPr>
              <a:t>Full-Stack FIM Tool  •  Python + React  •  SHA-256 / MD5</a:t>
            </a:r>
          </a:p>
        </p:txBody>
      </p:sp>
      <p:sp>
        <p:nvSpPr>
          <p:cNvPr id="10" name="TextBox 9">
            <a:extLst>
              <a:ext uri="{FF2B5EF4-FFF2-40B4-BE49-F238E27FC236}">
                <a16:creationId xmlns:a16="http://schemas.microsoft.com/office/drawing/2014/main" id="{C134D560-CD04-956C-A7C1-13F75A105CEB}"/>
              </a:ext>
            </a:extLst>
          </p:cNvPr>
          <p:cNvSpPr txBox="1"/>
          <p:nvPr/>
        </p:nvSpPr>
        <p:spPr>
          <a:xfrm>
            <a:off x="-131884" y="3879828"/>
            <a:ext cx="12161520" cy="338554"/>
          </a:xfrm>
          <a:prstGeom prst="rect">
            <a:avLst/>
          </a:prstGeom>
          <a:noFill/>
        </p:spPr>
        <p:txBody>
          <a:bodyPr wrap="square">
            <a:spAutoFit/>
          </a:bodyPr>
          <a:lstStyle/>
          <a:p>
            <a:pPr algn="ctr">
              <a:defRPr sz="1600" b="0">
                <a:solidFill>
                  <a:srgbClr val="1A1A2E"/>
                </a:solidFill>
                <a:latin typeface="Segoe UI"/>
              </a:defRPr>
            </a:pPr>
            <a:r>
              <a:rPr dirty="0">
                <a:solidFill>
                  <a:schemeClr val="bg1">
                    <a:lumMod val="95000"/>
                  </a:schemeClr>
                </a:solidFill>
              </a:rPr>
              <a:t>Built by Gaurav K</a:t>
            </a:r>
            <a:r>
              <a:rPr lang="en-US" dirty="0">
                <a:solidFill>
                  <a:schemeClr val="bg1">
                    <a:lumMod val="95000"/>
                  </a:schemeClr>
                </a:solidFill>
              </a:rPr>
              <a:t>alsait</a:t>
            </a:r>
            <a:endParaRPr dirty="0">
              <a:solidFill>
                <a:schemeClr val="bg1">
                  <a:lumMod val="95000"/>
                </a:schemeClr>
              </a:solidFill>
            </a:endParaRPr>
          </a:p>
        </p:txBody>
      </p:sp>
      <p:sp>
        <p:nvSpPr>
          <p:cNvPr id="11" name="Rounded Rectangle 6">
            <a:extLst>
              <a:ext uri="{FF2B5EF4-FFF2-40B4-BE49-F238E27FC236}">
                <a16:creationId xmlns:a16="http://schemas.microsoft.com/office/drawing/2014/main" id="{2548682F-66AE-9CF5-F467-E371E2B7D1AB}"/>
              </a:ext>
            </a:extLst>
          </p:cNvPr>
          <p:cNvSpPr/>
          <p:nvPr/>
        </p:nvSpPr>
        <p:spPr>
          <a:xfrm>
            <a:off x="3596055" y="5137780"/>
            <a:ext cx="4846320" cy="914400"/>
          </a:xfrm>
          <a:prstGeom prst="roundRect">
            <a:avLst/>
          </a:prstGeom>
          <a:noFill/>
          <a:ln w="19050">
            <a:solidFill>
              <a:srgbClr val="007ACC"/>
            </a:solidFill>
          </a:ln>
          <a:effectLst>
            <a:outerShdw blurRad="50800" dist="38100" algn="l" rotWithShape="0">
              <a:prstClr val="black">
                <a:alpha val="40000"/>
              </a:prstClr>
            </a:outerShdw>
          </a:effectLst>
          <a:scene3d>
            <a:camera prst="perspectiveRelaxedModerately"/>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0F137E47-CDE9-CE36-0AC8-921CBF66A2AA}"/>
              </a:ext>
            </a:extLst>
          </p:cNvPr>
          <p:cNvSpPr txBox="1"/>
          <p:nvPr/>
        </p:nvSpPr>
        <p:spPr>
          <a:xfrm>
            <a:off x="3525716" y="5242823"/>
            <a:ext cx="4846320" cy="338554"/>
          </a:xfrm>
          <a:prstGeom prst="rect">
            <a:avLst/>
          </a:prstGeom>
          <a:noFill/>
        </p:spPr>
        <p:txBody>
          <a:bodyPr wrap="square">
            <a:spAutoFit/>
          </a:bodyPr>
          <a:lstStyle/>
          <a:p>
            <a:pPr algn="ctr">
              <a:defRPr sz="1600" b="1">
                <a:solidFill>
                  <a:srgbClr val="007ACC"/>
                </a:solidFill>
                <a:latin typeface="Segoe UI"/>
              </a:defRPr>
            </a:pPr>
            <a:r>
              <a:rPr dirty="0">
                <a:solidFill>
                  <a:schemeClr val="accent4">
                    <a:lumMod val="40000"/>
                    <a:lumOff val="60000"/>
                  </a:schemeClr>
                </a:solidFill>
              </a:rPr>
              <a:t>Questions &amp; Discussion</a:t>
            </a:r>
          </a:p>
        </p:txBody>
      </p:sp>
      <p:sp>
        <p:nvSpPr>
          <p:cNvPr id="13" name="TextBox 12">
            <a:extLst>
              <a:ext uri="{FF2B5EF4-FFF2-40B4-BE49-F238E27FC236}">
                <a16:creationId xmlns:a16="http://schemas.microsoft.com/office/drawing/2014/main" id="{E6B336E4-53E7-AFC4-6ED5-3BF7F32D3E66}"/>
              </a:ext>
            </a:extLst>
          </p:cNvPr>
          <p:cNvSpPr txBox="1"/>
          <p:nvPr/>
        </p:nvSpPr>
        <p:spPr>
          <a:xfrm>
            <a:off x="3525716" y="5644631"/>
            <a:ext cx="4846320" cy="274320"/>
          </a:xfrm>
          <a:prstGeom prst="rect">
            <a:avLst/>
          </a:prstGeom>
          <a:noFill/>
        </p:spPr>
        <p:txBody>
          <a:bodyPr wrap="square">
            <a:spAutoFit/>
          </a:bodyPr>
          <a:lstStyle/>
          <a:p>
            <a:pPr algn="ctr">
              <a:defRPr sz="1200" b="0">
                <a:solidFill>
                  <a:srgbClr val="555E70"/>
                </a:solidFill>
                <a:latin typeface="Segoe UI"/>
              </a:defRPr>
            </a:pPr>
            <a:r>
              <a:rPr lang="en-IN" dirty="0">
                <a:solidFill>
                  <a:schemeClr val="accent4"/>
                </a:solidFill>
              </a:rPr>
              <a:t>github.com/</a:t>
            </a:r>
            <a:r>
              <a:rPr lang="en-IN" dirty="0" err="1">
                <a:solidFill>
                  <a:schemeClr val="accent4"/>
                </a:solidFill>
              </a:rPr>
              <a:t>gaurav-kalsait</a:t>
            </a:r>
            <a:r>
              <a:rPr lang="en-IN" dirty="0">
                <a:solidFill>
                  <a:schemeClr val="accent4"/>
                </a:solidFill>
              </a:rPr>
              <a:t>/file-integrity-guardian</a:t>
            </a: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7847</TotalTime>
  <Words>1787</Words>
  <Application>Microsoft Office PowerPoint</Application>
  <PresentationFormat>Widescreen</PresentationFormat>
  <Paragraphs>401</Paragraphs>
  <Slides>30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Segoe UI</vt:lpstr>
      <vt:lpstr>BIA Template</vt:lpstr>
      <vt:lpstr>PowerPoint Presentation</vt:lpstr>
      <vt:lpstr>Agenda</vt:lpstr>
      <vt:lpstr>Abstract</vt:lpstr>
      <vt:lpstr>Problem Statement</vt:lpstr>
      <vt:lpstr>What is File Integrity Monitoring ?</vt:lpstr>
      <vt:lpstr>Why FIM Matters</vt:lpstr>
      <vt:lpstr>Research : Industry FIM Tools Landscape</vt:lpstr>
      <vt:lpstr>Technology Stack Comparison</vt:lpstr>
      <vt:lpstr>Hashing Algorithms</vt:lpstr>
      <vt:lpstr>PowerPoint Presentation</vt:lpstr>
      <vt:lpstr>Impact Analysis: Attack Targets</vt:lpstr>
      <vt:lpstr>Business Impact of Undetected Tampering</vt:lpstr>
      <vt:lpstr>System Architecture Diagram</vt:lpstr>
      <vt:lpstr>Data Flow Diagram</vt:lpstr>
      <vt:lpstr>Demo: Dashboard — System Overview </vt:lpstr>
      <vt:lpstr>Demo: Dashboard — Auto-Scan Scheduler</vt:lpstr>
      <vt:lpstr>Demo: Files Tab — Monitored Files Table</vt:lpstr>
      <vt:lpstr>Demo: Files Tab — Hash Comparison Detail</vt:lpstr>
      <vt:lpstr>Demo: Custom Scan — File Browser Popup</vt:lpstr>
      <vt:lpstr>Demo: Alerts Tab — Security Alert Feed</vt:lpstr>
      <vt:lpstr>Recommendations: Preventive</vt:lpstr>
      <vt:lpstr>Recommendations: Detective</vt:lpstr>
      <vt:lpstr>Recommendations: Response</vt:lpstr>
      <vt:lpstr>Proof of Concept</vt:lpstr>
      <vt:lpstr>Tools &amp; Technologies</vt:lpstr>
      <vt:lpstr>Challenges &amp; Learnings</vt:lpstr>
      <vt:lpstr>Future Enhancements</vt:lpstr>
      <vt:lpstr>REST API Endpoints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Gaurav Kalsait</cp:lastModifiedBy>
  <cp:revision>2259</cp:revision>
  <dcterms:created xsi:type="dcterms:W3CDTF">2020-12-23T13:36:00Z</dcterms:created>
  <dcterms:modified xsi:type="dcterms:W3CDTF">2026-03-25T04:48:17Z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